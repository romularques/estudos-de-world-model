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ulo Marques" userId="aba3004fb207da0a" providerId="LiveId" clId="{59D05204-C98F-40C7-9C3A-68550271405B}"/>
    <pc:docChg chg="custSel modSld">
      <pc:chgData name="Romulo Marques" userId="aba3004fb207da0a" providerId="LiveId" clId="{59D05204-C98F-40C7-9C3A-68550271405B}" dt="2026-09-02T19:16:49.422" v="61" actId="729"/>
      <pc:docMkLst>
        <pc:docMk/>
      </pc:docMkLst>
      <pc:sldChg chg="mod modShow">
        <pc:chgData name="Romulo Marques" userId="aba3004fb207da0a" providerId="LiveId" clId="{59D05204-C98F-40C7-9C3A-68550271405B}" dt="2026-09-02T19:10:53.778" v="0" actId="729"/>
        <pc:sldMkLst>
          <pc:docMk/>
          <pc:sldMk cId="2109278066" sldId="259"/>
        </pc:sldMkLst>
      </pc:sldChg>
      <pc:sldChg chg="modSp mod">
        <pc:chgData name="Romulo Marques" userId="aba3004fb207da0a" providerId="LiveId" clId="{59D05204-C98F-40C7-9C3A-68550271405B}" dt="2026-09-02T19:11:07.426" v="2" actId="12788"/>
        <pc:sldMkLst>
          <pc:docMk/>
          <pc:sldMk cId="895112481" sldId="260"/>
        </pc:sldMkLst>
        <pc:spChg chg="mod">
          <ac:chgData name="Romulo Marques" userId="aba3004fb207da0a" providerId="LiveId" clId="{59D05204-C98F-40C7-9C3A-68550271405B}" dt="2026-09-02T19:11:07.426" v="2" actId="12788"/>
          <ac:spMkLst>
            <pc:docMk/>
            <pc:sldMk cId="895112481" sldId="260"/>
            <ac:spMk id="26" creationId="{C64A7D90-847E-48CF-97FC-200D0077EB44}"/>
          </ac:spMkLst>
        </pc:spChg>
      </pc:sldChg>
      <pc:sldChg chg="modSp mod">
        <pc:chgData name="Romulo Marques" userId="aba3004fb207da0a" providerId="LiveId" clId="{59D05204-C98F-40C7-9C3A-68550271405B}" dt="2026-09-02T19:14:59.877" v="49" actId="1037"/>
        <pc:sldMkLst>
          <pc:docMk/>
          <pc:sldMk cId="1095956785" sldId="263"/>
        </pc:sldMkLst>
        <pc:spChg chg="mod">
          <ac:chgData name="Romulo Marques" userId="aba3004fb207da0a" providerId="LiveId" clId="{59D05204-C98F-40C7-9C3A-68550271405B}" dt="2026-09-02T19:14:59.877" v="49" actId="1037"/>
          <ac:spMkLst>
            <pc:docMk/>
            <pc:sldMk cId="1095956785" sldId="263"/>
            <ac:spMk id="24" creationId="{C9F4D5D7-C7C3-4D97-9519-30327B1F6E35}"/>
          </ac:spMkLst>
        </pc:spChg>
        <pc:spChg chg="mod">
          <ac:chgData name="Romulo Marques" userId="aba3004fb207da0a" providerId="LiveId" clId="{59D05204-C98F-40C7-9C3A-68550271405B}" dt="2026-09-02T19:14:59.877" v="49" actId="1037"/>
          <ac:spMkLst>
            <pc:docMk/>
            <pc:sldMk cId="1095956785" sldId="263"/>
            <ac:spMk id="25" creationId="{B587349F-8658-4C7A-A554-4DCF079AB160}"/>
          </ac:spMkLst>
        </pc:spChg>
        <pc:spChg chg="mod">
          <ac:chgData name="Romulo Marques" userId="aba3004fb207da0a" providerId="LiveId" clId="{59D05204-C98F-40C7-9C3A-68550271405B}" dt="2026-09-02T19:14:59.877" v="49" actId="1037"/>
          <ac:spMkLst>
            <pc:docMk/>
            <pc:sldMk cId="1095956785" sldId="263"/>
            <ac:spMk id="26" creationId="{FFB55B1A-8621-494C-8528-384DAECD2314}"/>
          </ac:spMkLst>
        </pc:spChg>
        <pc:spChg chg="mod">
          <ac:chgData name="Romulo Marques" userId="aba3004fb207da0a" providerId="LiveId" clId="{59D05204-C98F-40C7-9C3A-68550271405B}" dt="2026-09-02T19:14:59.877" v="49" actId="1037"/>
          <ac:spMkLst>
            <pc:docMk/>
            <pc:sldMk cId="1095956785" sldId="263"/>
            <ac:spMk id="27" creationId="{BF0EBF96-10A7-4780-AC3B-1A5A18A8730E}"/>
          </ac:spMkLst>
        </pc:spChg>
        <pc:spChg chg="mod">
          <ac:chgData name="Romulo Marques" userId="aba3004fb207da0a" providerId="LiveId" clId="{59D05204-C98F-40C7-9C3A-68550271405B}" dt="2026-09-02T19:14:59.877" v="49" actId="1037"/>
          <ac:spMkLst>
            <pc:docMk/>
            <pc:sldMk cId="1095956785" sldId="263"/>
            <ac:spMk id="28" creationId="{64A0B830-731D-4515-9DF5-AC3907A39AB8}"/>
          </ac:spMkLst>
        </pc:spChg>
        <pc:spChg chg="mod">
          <ac:chgData name="Romulo Marques" userId="aba3004fb207da0a" providerId="LiveId" clId="{59D05204-C98F-40C7-9C3A-68550271405B}" dt="2026-09-02T19:14:59.877" v="49" actId="1037"/>
          <ac:spMkLst>
            <pc:docMk/>
            <pc:sldMk cId="1095956785" sldId="263"/>
            <ac:spMk id="29" creationId="{50D702B4-DF0D-4F73-A731-BC7770E57F5E}"/>
          </ac:spMkLst>
        </pc:spChg>
        <pc:spChg chg="mod">
          <ac:chgData name="Romulo Marques" userId="aba3004fb207da0a" providerId="LiveId" clId="{59D05204-C98F-40C7-9C3A-68550271405B}" dt="2026-09-02T19:14:59.877" v="49" actId="1037"/>
          <ac:spMkLst>
            <pc:docMk/>
            <pc:sldMk cId="1095956785" sldId="263"/>
            <ac:spMk id="30" creationId="{0FBD353F-4507-40F7-BB72-BE702DEA4439}"/>
          </ac:spMkLst>
        </pc:spChg>
        <pc:spChg chg="mod">
          <ac:chgData name="Romulo Marques" userId="aba3004fb207da0a" providerId="LiveId" clId="{59D05204-C98F-40C7-9C3A-68550271405B}" dt="2026-09-02T19:14:59.877" v="49" actId="1037"/>
          <ac:spMkLst>
            <pc:docMk/>
            <pc:sldMk cId="1095956785" sldId="263"/>
            <ac:spMk id="32" creationId="{E385EC90-32CA-46DA-8EEB-29D6739F615F}"/>
          </ac:spMkLst>
        </pc:spChg>
        <pc:spChg chg="mod">
          <ac:chgData name="Romulo Marques" userId="aba3004fb207da0a" providerId="LiveId" clId="{59D05204-C98F-40C7-9C3A-68550271405B}" dt="2026-09-02T19:14:59.877" v="49" actId="1037"/>
          <ac:spMkLst>
            <pc:docMk/>
            <pc:sldMk cId="1095956785" sldId="263"/>
            <ac:spMk id="33" creationId="{BCD57A85-C4A3-480E-ADCC-5221C73A6946}"/>
          </ac:spMkLst>
        </pc:spChg>
        <pc:spChg chg="mod">
          <ac:chgData name="Romulo Marques" userId="aba3004fb207da0a" providerId="LiveId" clId="{59D05204-C98F-40C7-9C3A-68550271405B}" dt="2026-09-02T19:14:59.877" v="49" actId="1037"/>
          <ac:spMkLst>
            <pc:docMk/>
            <pc:sldMk cId="1095956785" sldId="263"/>
            <ac:spMk id="35" creationId="{8A465493-28DE-433C-88D5-AB1540A58DFF}"/>
          </ac:spMkLst>
        </pc:spChg>
        <pc:spChg chg="mod">
          <ac:chgData name="Romulo Marques" userId="aba3004fb207da0a" providerId="LiveId" clId="{59D05204-C98F-40C7-9C3A-68550271405B}" dt="2026-09-02T19:14:55.844" v="42" actId="1037"/>
          <ac:spMkLst>
            <pc:docMk/>
            <pc:sldMk cId="1095956785" sldId="263"/>
            <ac:spMk id="36" creationId="{5B8D2545-5752-4AB7-B1CF-69ABEEFF1672}"/>
          </ac:spMkLst>
        </pc:spChg>
      </pc:sldChg>
      <pc:sldChg chg="delSp modSp mod">
        <pc:chgData name="Romulo Marques" userId="aba3004fb207da0a" providerId="LiveId" clId="{59D05204-C98F-40C7-9C3A-68550271405B}" dt="2026-09-02T19:15:34.039" v="58" actId="1076"/>
        <pc:sldMkLst>
          <pc:docMk/>
          <pc:sldMk cId="1282203688" sldId="265"/>
        </pc:sldMkLst>
        <pc:spChg chg="del">
          <ac:chgData name="Romulo Marques" userId="aba3004fb207da0a" providerId="LiveId" clId="{59D05204-C98F-40C7-9C3A-68550271405B}" dt="2026-09-02T19:15:16.398" v="54" actId="478"/>
          <ac:spMkLst>
            <pc:docMk/>
            <pc:sldMk cId="1282203688" sldId="265"/>
            <ac:spMk id="20" creationId="{3CD8CEDA-B964-4F37-AFED-93274D6BDA93}"/>
          </ac:spMkLst>
        </pc:spChg>
        <pc:spChg chg="del mod">
          <ac:chgData name="Romulo Marques" userId="aba3004fb207da0a" providerId="LiveId" clId="{59D05204-C98F-40C7-9C3A-68550271405B}" dt="2026-09-02T19:15:18.558" v="56" actId="478"/>
          <ac:spMkLst>
            <pc:docMk/>
            <pc:sldMk cId="1282203688" sldId="265"/>
            <ac:spMk id="21" creationId="{A9902001-8249-4C73-A3E2-BF4340322724}"/>
          </ac:spMkLst>
        </pc:spChg>
        <pc:spChg chg="del">
          <ac:chgData name="Romulo Marques" userId="aba3004fb207da0a" providerId="LiveId" clId="{59D05204-C98F-40C7-9C3A-68550271405B}" dt="2026-09-02T19:15:21.061" v="57" actId="478"/>
          <ac:spMkLst>
            <pc:docMk/>
            <pc:sldMk cId="1282203688" sldId="265"/>
            <ac:spMk id="22" creationId="{00C7741B-04FD-48F5-ABAE-2018233E9C29}"/>
          </ac:spMkLst>
        </pc:spChg>
        <pc:spChg chg="del">
          <ac:chgData name="Romulo Marques" userId="aba3004fb207da0a" providerId="LiveId" clId="{59D05204-C98F-40C7-9C3A-68550271405B}" dt="2026-09-02T19:15:04.397" v="50" actId="478"/>
          <ac:spMkLst>
            <pc:docMk/>
            <pc:sldMk cId="1282203688" sldId="265"/>
            <ac:spMk id="23" creationId="{5BC2B2D2-C9B1-48F3-B9EE-B0A51100A7FF}"/>
          </ac:spMkLst>
        </pc:spChg>
        <pc:spChg chg="del mod">
          <ac:chgData name="Romulo Marques" userId="aba3004fb207da0a" providerId="LiveId" clId="{59D05204-C98F-40C7-9C3A-68550271405B}" dt="2026-09-02T19:15:07.188" v="52" actId="478"/>
          <ac:spMkLst>
            <pc:docMk/>
            <pc:sldMk cId="1282203688" sldId="265"/>
            <ac:spMk id="24" creationId="{420D566C-A9E1-42E2-8641-42D76939DE11}"/>
          </ac:spMkLst>
        </pc:spChg>
        <pc:spChg chg="del">
          <ac:chgData name="Romulo Marques" userId="aba3004fb207da0a" providerId="LiveId" clId="{59D05204-C98F-40C7-9C3A-68550271405B}" dt="2026-09-02T19:15:08.523" v="53" actId="478"/>
          <ac:spMkLst>
            <pc:docMk/>
            <pc:sldMk cId="1282203688" sldId="265"/>
            <ac:spMk id="25" creationId="{DCE25628-B990-4AD9-8C82-C2508E2951E6}"/>
          </ac:spMkLst>
        </pc:spChg>
        <pc:spChg chg="mod">
          <ac:chgData name="Romulo Marques" userId="aba3004fb207da0a" providerId="LiveId" clId="{59D05204-C98F-40C7-9C3A-68550271405B}" dt="2026-09-02T19:15:34.039" v="58" actId="1076"/>
          <ac:spMkLst>
            <pc:docMk/>
            <pc:sldMk cId="1282203688" sldId="265"/>
            <ac:spMk id="26" creationId="{019BB02C-FA2D-4CF7-AEBA-E6DB8E80DEA8}"/>
          </ac:spMkLst>
        </pc:spChg>
        <pc:spChg chg="mod">
          <ac:chgData name="Romulo Marques" userId="aba3004fb207da0a" providerId="LiveId" clId="{59D05204-C98F-40C7-9C3A-68550271405B}" dt="2026-09-02T19:15:34.039" v="58" actId="1076"/>
          <ac:spMkLst>
            <pc:docMk/>
            <pc:sldMk cId="1282203688" sldId="265"/>
            <ac:spMk id="27" creationId="{ABB16BF4-A92D-4095-9E85-559CDAD7E11C}"/>
          </ac:spMkLst>
        </pc:spChg>
        <pc:spChg chg="mod">
          <ac:chgData name="Romulo Marques" userId="aba3004fb207da0a" providerId="LiveId" clId="{59D05204-C98F-40C7-9C3A-68550271405B}" dt="2026-09-02T19:15:34.039" v="58" actId="1076"/>
          <ac:spMkLst>
            <pc:docMk/>
            <pc:sldMk cId="1282203688" sldId="265"/>
            <ac:spMk id="28" creationId="{893DF0B3-DDFE-4A23-8A1D-062D272B456A}"/>
          </ac:spMkLst>
        </pc:spChg>
      </pc:sldChg>
      <pc:sldChg chg="mod modShow">
        <pc:chgData name="Romulo Marques" userId="aba3004fb207da0a" providerId="LiveId" clId="{59D05204-C98F-40C7-9C3A-68550271405B}" dt="2026-09-02T19:16:34.731" v="59" actId="729"/>
        <pc:sldMkLst>
          <pc:docMk/>
          <pc:sldMk cId="340247682" sldId="266"/>
        </pc:sldMkLst>
      </pc:sldChg>
      <pc:sldChg chg="mod modShow">
        <pc:chgData name="Romulo Marques" userId="aba3004fb207da0a" providerId="LiveId" clId="{59D05204-C98F-40C7-9C3A-68550271405B}" dt="2026-09-02T19:16:47.331" v="60" actId="729"/>
        <pc:sldMkLst>
          <pc:docMk/>
          <pc:sldMk cId="102139324" sldId="267"/>
        </pc:sldMkLst>
      </pc:sldChg>
      <pc:sldChg chg="mod modShow">
        <pc:chgData name="Romulo Marques" userId="aba3004fb207da0a" providerId="LiveId" clId="{59D05204-C98F-40C7-9C3A-68550271405B}" dt="2026-09-02T19:16:49.422" v="61" actId="729"/>
        <pc:sldMkLst>
          <pc:docMk/>
          <pc:sldMk cId="501781535" sldId="268"/>
        </pc:sldMkLst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Baseline EXP‑001</c:v>
          </c:tx>
          <c:spPr>
            <a:solidFill>
              <a:srgbClr val="B8BC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11318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Next-state RMSE
(↓ melhor)</c:v>
              </c:pt>
              <c:pt idx="1">
                <c:v>Reward MAE
(↓ melhor)</c:v>
              </c:pt>
              <c:pt idx="2">
                <c:v>Erro de jornada
(↓ melhor)</c:v>
              </c:pt>
            </c:strLit>
          </c:cat>
          <c:val>
            <c:numLit>
              <c:formatCode>General</c:formatCode>
              <c:ptCount val="3"/>
              <c:pt idx="0">
                <c:v>6.806</c:v>
              </c:pt>
              <c:pt idx="1">
                <c:v>2.8450000000000002</c:v>
              </c:pt>
              <c:pt idx="2">
                <c:v>13.039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D9D-43E8-94C9-8947B2D1F643}"/>
            </c:ext>
          </c:extLst>
        </c:ser>
        <c:ser>
          <c:idx val="1"/>
          <c:order val="1"/>
          <c:tx>
            <c:v>World Model EXP‑005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11318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Next-state RMSE
(↓ melhor)</c:v>
              </c:pt>
              <c:pt idx="1">
                <c:v>Reward MAE
(↓ melhor)</c:v>
              </c:pt>
              <c:pt idx="2">
                <c:v>Erro de jornada
(↓ melhor)</c:v>
              </c:pt>
            </c:strLit>
          </c:cat>
          <c:val>
            <c:numLit>
              <c:formatCode>General</c:formatCode>
              <c:ptCount val="3"/>
              <c:pt idx="0">
                <c:v>6.5960000000000001</c:v>
              </c:pt>
              <c:pt idx="1">
                <c:v>2.4140000000000001</c:v>
              </c:pt>
              <c:pt idx="2">
                <c:v>9.1219999999999999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D9D-43E8-94C9-8947B2D1F64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06772"/>
                </a:solidFill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606772"/>
              </a:solidFill>
            </a:defRPr>
          </a:pPr>
          <a:endParaRPr lang="pt-BR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C:/Users/t-gamer/Documents/Codex/2026-09-01/files-pasted-by-the-user-projeto/insurance-world-model/PROJECT_SPEC.md</a:t>
            </a:r>
          </a:p>
          <a:p>
            <a:r>
              <a:t>- C:/Users/t-gamer/Documents/Codex/2026-09-01/files-pasted-by-the-user-projeto/insurance-world-model/README.md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Mensagem: demonstramos o pipeline, não uma decisão de negócio pronta para produção.</a:t>
            </a:r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C:/Users/t-gamer/Documents/Codex/2026-09-01/files-pasted-by-the-user-projeto/insurance-world-model/PROJECT_SPEC.md</a:t>
            </a:r>
          </a:p>
          <a:p>
            <a:r>
              <a:t>- C:/Users/t-gamer/Documents/Codex/2026-09-01/files-pasted-by-the-user-projeto/insurance-world-model/README.md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Ponto de fala: um world model também é um algoritmo preditivo; ele não substitui automaticamente modelos clássicos. Ele amplia a unidade de análise de um alvo para a dinâmica state + action → next state + reward.</a:t>
            </a:r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C:/Users/t-gamer/Documents/Codex/2026-09-01/files-pasted-by-the-user-projeto/insurance-world-model/PROJECT_SPEC.md</a:t>
            </a:r>
          </a:p>
          <a:p>
            <a:r>
              <a:t>- C:/Users/t-gamer/Documents/Codex/2026-09-01/files-pasted-by-the-user-projeto/insurance-world-model/model/world_model.py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C:/Users/t-gamer/Documents/Codex/2026-09-01/files-pasted-by-the-user-projeto/insurance-world-model/README.md</a:t>
            </a:r>
          </a:p>
          <a:p>
            <a:r>
              <a:t>- Codex task: Criar ambiente sintético de seguros</a:t>
            </a:r>
          </a:p>
          <a:p>
            <a:r>
              <a:t>- Local project status: master, no commits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C:/Users/t-gamer/Documents/Codex/2026-09-01/files-pasted-by-the-user-projeto/insurance-world-model/README.md</a:t>
            </a:r>
          </a:p>
          <a:p>
            <a:r>
              <a:t>- C:/Users/t-gamer/Documents/Codex/2026-09-01/files-pasted-by-the-user-projeto/insurance-world-model/EXPERIMENTS.md</a:t>
            </a:r>
          </a:p>
          <a:p>
            <a:r>
              <a:t>- C:/Users/t-gamer/Documents/Codex/2026-09-01/files-pasted-by-the-user-projeto/insurance-world-model/artifacts/exp-005/run_metadata.json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C:/Users/t-gamer/Documents/Codex/2026-09-01/files-pasted-by-the-user-projeto/insurance-world-model/PROJECT_SPEC.md</a:t>
            </a:r>
          </a:p>
          <a:p>
            <a:r>
              <a:t>- C:/Users/t-gamer/Documents/Codex/2026-09-01/files-pasted-by-the-user-projeto/insurance-world-model/metodologia/preparacao-dataset-modelo.md</a:t>
            </a:r>
          </a:p>
          <a:p>
            <a:r>
              <a:t>- C:/Users/t-gamer/Documents/Codex/2026-09-01/files-pasted-by-the-user-projeto/insurance-world-model/metodologia/treinamento-baseline-mlp.md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 três linhas exibidas são uma seleção de campos das três primeiras linhas reais do dataset sintético. O dataset original possui 32 colunas.</a:t>
            </a:r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C:/Users/t-gamer/Documents/Codex/2026-09-01/files-pasted-by-the-user-projeto/insurance-world-model/artifacts/insurance_trajectories.parquet</a:t>
            </a:r>
          </a:p>
          <a:p>
            <a:r>
              <a:t>- C:/Users/t-gamer/Documents/Codex/2026-09-01/files-pasted-by-the-user-projeto/insurance-world-model/data/dataset.py</a:t>
            </a:r>
          </a:p>
          <a:p>
            <a:r>
              <a:t>- C:/Users/t-gamer/Documents/Codex/2026-09-01/files-pasted-by-the-user-projeto/insurance-world-model/model/encoder.py</a:t>
            </a:r>
          </a:p>
          <a:p>
            <a:r>
              <a:t>- C:/Users/t-gamer/Documents/Codex/2026-09-01/files-pasted-by-the-user-projeto/insurance-world-model/metodologia/preparacao-dataset-modelo.md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C:/Users/t-gamer/Documents/Codex/2026-09-01/files-pasted-by-the-user-projeto/insurance-world-model/model/world_model.py</a:t>
            </a:r>
          </a:p>
          <a:p>
            <a:r>
              <a:t>- C:/Users/t-gamer/Documents/Codex/2026-09-01/files-pasted-by-the-user-projeto/insurance-world-model/model/encoder.py</a:t>
            </a:r>
          </a:p>
          <a:p>
            <a:r>
              <a:t>- C:/Users/t-gamer/Documents/Codex/2026-09-01/files-pasted-by-the-user-projeto/insurance-world-model/simulation/simulator.py</a:t>
            </a:r>
          </a:p>
          <a:p>
            <a:r>
              <a:t>- C:/Users/t-gamer/Documents/Codex/2026-09-01/files-pasted-by-the-user-projeto/insurance-world-model/api/app.py</a:t>
            </a:r>
          </a:p>
          <a:p>
            <a:r>
              <a:t>- C:/Users/t-gamer/Documents/Codex/2026-09-01/files-pasted-by-the-user-projeto/insurance-world-model/requirements.txt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Erro de jornada = 100% − acurácia. Valores calculados diretamente das métricas registradas.</a:t>
            </a:r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C:/Users/t-gamer/Documents/Codex/2026-09-01/files-pasted-by-the-user-projeto/insurance-world-model/artifacts/exp-001/test_metrics.json</a:t>
            </a:r>
          </a:p>
          <a:p>
            <a:r>
              <a:t>- C:/Users/t-gamer/Documents/Codex/2026-09-01/files-pasted-by-the-user-projeto/insurance-world-model/artifacts/exp-005/test_metrics.json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C:/Users/t-gamer/Documents/Codex/2026-09-01/files-pasted-by-the-user-projeto/insurance-world-model/README.md</a:t>
            </a:r>
          </a:p>
          <a:p>
            <a:r>
              <a:t>- C:/Users/t-gamer/Documents/Codex/2026-09-01/files-pasted-by-the-user-projeto/insurance-world-model/artifacts/exp-003/optimization_report.json</a:t>
            </a:r>
          </a:p>
          <a:p>
            <a:r>
              <a:t>- C:/Users/t-gamer/Documents/Codex/2026-09-01/files-pasted-by-the-user-projeto/insurance-world-model/api/app.py</a:t>
            </a:r>
          </a:p>
          <a:p>
            <a:r>
              <a:t>- Codex task: Criar ambiente sintético de seguros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C:/Users/t-gamer/Documents/Codex/2026-09-01/files-pasted-by-the-user-projeto/insurance-world-model/PROJECT_SPEC.md</a:t>
            </a:r>
          </a:p>
          <a:p>
            <a:r>
              <a:t>- C:/Users/t-gamer/Documents/Codex/2026-09-01/files-pasted-by-the-user-projeto/insurance-world-model/metodologia/treinamento-baseline-mlp.md</a:t>
            </a:r>
          </a:p>
          <a:p>
            <a:r>
              <a:t>- C:/Users/t-gamer/Documents/Codex/2026-09-01/files-pasted-by-the-user-projeto/insurance-world-model/README.md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C:/Users/t-gamer/Documents/Codex/2026-09-01/files-pasted-by-the-user-projeto/insurance-world-model/PROJECT_SPEC.md</a:t>
            </a:r>
          </a:p>
          <a:p>
            <a:r>
              <a:t>- C:/Users/t-gamer/Documents/Codex/2026-09-01/files-pasted-by-the-user-projeto/insurance-world-model/README.md</a:t>
            </a:r>
          </a:p>
          <a:p>
            <a:r>
              <a:t>- C:/Users/t-gamer/Documents/Codex/2026-09-01/files-pasted-by-the-user-projeto/insurance-world-model/simulation/README.md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C:/Users/t-gamer/Documents/Codex/2026-09-01/files-pasted-by-the-user-projeto/insurance-world-model/PROJECT_SPEC.md</a:t>
            </a:r>
          </a:p>
          <a:p>
            <a:r>
              <a:t>- C:/Users/t-gamer/Documents/Codex/2026-09-01/files-pasted-by-the-user-projeto/insurance-world-model/EXPERIMENTS.md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">
            <a:extLst>
              <a:ext uri="{FF2B5EF4-FFF2-40B4-BE49-F238E27FC236}">
                <a16:creationId xmlns:a16="http://schemas.microsoft.com/office/drawing/2014/main" id="{6B6C956D-9DCA-4849-B31C-F45E06F99A5E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06772"/>
                </a:solidFill>
              </a:defRPr>
            </a:pPr>
            <a:r>
              <a:rPr sz="1200" b="1">
                <a:solidFill>
                  <a:srgbClr val="606772"/>
                </a:solidFill>
              </a:rPr>
              <a:t>P&amp;D • WORLD MODEL PARA SEGUROS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BFCC7AC-93E1-4264-89C4-79E54DBBBDA4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5429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111318"/>
                </a:solidFill>
              </a:defRPr>
            </a:pPr>
            <a:r>
              <a:rPr sz="4350" b="1">
                <a:solidFill>
                  <a:srgbClr val="111318"/>
                </a:solidFill>
              </a:rPr>
              <a:t>Do conceito à</a:t>
            </a:r>
          </a:p>
          <a:p>
            <a:pPr algn="l">
              <a:defRPr sz="4350" b="1">
                <a:solidFill>
                  <a:srgbClr val="111318"/>
                </a:solidFill>
              </a:defRPr>
            </a:pPr>
            <a:r>
              <a:rPr sz="4350" b="1">
                <a:solidFill>
                  <a:srgbClr val="111318"/>
                </a:solidFill>
              </a:rPr>
              <a:t>simulação de futuros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702395D-9377-4EC0-A877-DD421FE6C73A}"/>
              </a:ext>
            </a:extLst>
          </p:cNvPr>
          <p:cNvSpPr>
            <a:spLocks noGrp="1"/>
          </p:cNvSpPr>
          <p:nvPr/>
        </p:nvSpPr>
        <p:spPr>
          <a:xfrm>
            <a:off x="400050" y="3524250"/>
            <a:ext cx="4953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0">
                <a:solidFill>
                  <a:srgbClr val="606772"/>
                </a:solidFill>
              </a:defRPr>
            </a:pPr>
            <a:r>
              <a:rPr sz="1875" b="0">
                <a:solidFill>
                  <a:srgbClr val="606772"/>
                </a:solidFill>
              </a:rPr>
              <a:t>O que construímos, como decidimos e onde o modelo ainda não pode ser usado</a:t>
            </a:r>
          </a:p>
        </p:txBody>
      </p:sp>
      <p:sp>
        <p:nvSpPr>
          <p:cNvPr id="4" name="box">
            <a:extLst>
              <a:ext uri="{FF2B5EF4-FFF2-40B4-BE49-F238E27FC236}">
                <a16:creationId xmlns:a16="http://schemas.microsoft.com/office/drawing/2014/main" id="{9A3B7C07-7B19-4CE4-A23F-F5F3D27DFF15}"/>
              </a:ext>
            </a:extLst>
          </p:cNvPr>
          <p:cNvSpPr>
            <a:spLocks noGrp="1"/>
          </p:cNvSpPr>
          <p:nvPr/>
        </p:nvSpPr>
        <p:spPr>
          <a:xfrm>
            <a:off x="6572250" y="400050"/>
            <a:ext cx="5219700" cy="5581650"/>
          </a:xfrm>
          <a:prstGeom prst="roundRect">
            <a:avLst>
              <a:gd name="adj" fmla="val 1460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A85469C-B9A1-40F5-A986-71BD4EE60A2F}"/>
              </a:ext>
            </a:extLst>
          </p:cNvPr>
          <p:cNvSpPr>
            <a:spLocks noGrp="1"/>
          </p:cNvSpPr>
          <p:nvPr/>
        </p:nvSpPr>
        <p:spPr>
          <a:xfrm>
            <a:off x="7086600" y="123825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750" b="1">
                <a:solidFill>
                  <a:srgbClr val="111318"/>
                </a:solidFill>
              </a:defRPr>
            </a:pPr>
            <a:r>
              <a:rPr sz="3750" b="1">
                <a:solidFill>
                  <a:srgbClr val="111318"/>
                </a:solidFill>
              </a:rPr>
              <a:t>Sₜ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5F62810-2AF3-4397-A30F-9CF741637E20}"/>
              </a:ext>
            </a:extLst>
          </p:cNvPr>
          <p:cNvSpPr>
            <a:spLocks noGrp="1"/>
          </p:cNvSpPr>
          <p:nvPr/>
        </p:nvSpPr>
        <p:spPr>
          <a:xfrm>
            <a:off x="8039100" y="1238250"/>
            <a:ext cx="47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000" b="0">
                <a:solidFill>
                  <a:srgbClr val="606772"/>
                </a:solidFill>
              </a:defRPr>
            </a:pPr>
            <a:r>
              <a:rPr sz="3000" b="0">
                <a:solidFill>
                  <a:srgbClr val="606772"/>
                </a:solidFill>
              </a:rPr>
              <a:t>+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B233F4C-0695-4FF1-9CAA-813438E17DA0}"/>
              </a:ext>
            </a:extLst>
          </p:cNvPr>
          <p:cNvSpPr>
            <a:spLocks noGrp="1"/>
          </p:cNvSpPr>
          <p:nvPr/>
        </p:nvSpPr>
        <p:spPr>
          <a:xfrm>
            <a:off x="8515350" y="123825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Aₜ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CAE1956-8381-4F14-9D76-4E4B5F92069A}"/>
              </a:ext>
            </a:extLst>
          </p:cNvPr>
          <p:cNvSpPr>
            <a:spLocks noGrp="1"/>
          </p:cNvSpPr>
          <p:nvPr/>
        </p:nvSpPr>
        <p:spPr>
          <a:xfrm>
            <a:off x="8039100" y="20955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>
                <a:solidFill>
                  <a:srgbClr val="606772"/>
                </a:solidFill>
              </a:defRPr>
            </a:pPr>
            <a:r>
              <a:rPr sz="3150" b="1">
                <a:solidFill>
                  <a:srgbClr val="606772"/>
                </a:solidFill>
              </a:rPr>
              <a:t>↓</a:t>
            </a:r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8E3DC724-558E-44AB-A5AB-C2069156FF74}"/>
              </a:ext>
            </a:extLst>
          </p:cNvPr>
          <p:cNvSpPr>
            <a:spLocks noGrp="1"/>
          </p:cNvSpPr>
          <p:nvPr/>
        </p:nvSpPr>
        <p:spPr>
          <a:xfrm>
            <a:off x="7219950" y="2714625"/>
            <a:ext cx="3924300" cy="1000125"/>
          </a:xfrm>
          <a:prstGeom prst="roundRect">
            <a:avLst>
              <a:gd name="adj" fmla="val 7619"/>
            </a:avLst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002F66E-6346-4EF5-9AB1-C646D421FC9F}"/>
              </a:ext>
            </a:extLst>
          </p:cNvPr>
          <p:cNvSpPr>
            <a:spLocks noGrp="1"/>
          </p:cNvSpPr>
          <p:nvPr/>
        </p:nvSpPr>
        <p:spPr>
          <a:xfrm>
            <a:off x="7219950" y="2714625"/>
            <a:ext cx="39243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WORLD MODEL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57E0D5AD-757F-47AB-A17A-BC80E5B6AFF7}"/>
              </a:ext>
            </a:extLst>
          </p:cNvPr>
          <p:cNvSpPr>
            <a:spLocks noGrp="1"/>
          </p:cNvSpPr>
          <p:nvPr/>
        </p:nvSpPr>
        <p:spPr>
          <a:xfrm>
            <a:off x="8039100" y="38576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>
                <a:solidFill>
                  <a:srgbClr val="606772"/>
                </a:solidFill>
              </a:defRPr>
            </a:pPr>
            <a:r>
              <a:rPr sz="3150" b="1">
                <a:solidFill>
                  <a:srgbClr val="606772"/>
                </a:solidFill>
              </a:rPr>
              <a:t>↓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11C3943-4368-4C37-B0E3-06F4AEA378F2}"/>
              </a:ext>
            </a:extLst>
          </p:cNvPr>
          <p:cNvSpPr>
            <a:spLocks noGrp="1"/>
          </p:cNvSpPr>
          <p:nvPr/>
        </p:nvSpPr>
        <p:spPr>
          <a:xfrm>
            <a:off x="7048500" y="4495800"/>
            <a:ext cx="419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Sₜ₊₁  +  Rₜ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12AE0081-63AB-44D6-9C49-CAAB9BFC8387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606772"/>
                </a:solidFill>
              </a:defRPr>
            </a:pPr>
            <a:r>
              <a:rPr sz="1050" b="0">
                <a:solidFill>
                  <a:srgbClr val="606772"/>
                </a:solidFill>
              </a:rPr>
              <a:t>02 SET 2026</a:t>
            </a:r>
          </a:p>
        </p:txBody>
      </p:sp>
    </p:spTree>
    <p:extLst>
      <p:ext uri="{BB962C8B-B14F-4D97-AF65-F5344CB8AC3E}">
        <p14:creationId xmlns:p14="http://schemas.microsoft.com/office/powerpoint/2010/main" val="1918522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">
            <a:extLst>
              <a:ext uri="{FF2B5EF4-FFF2-40B4-BE49-F238E27FC236}">
                <a16:creationId xmlns:a16="http://schemas.microsoft.com/office/drawing/2014/main" id="{BC52D40F-5557-4259-8F45-C05C6575732C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D4BB85D-9B65-45DF-8D33-EEA7883AC22D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A prova de conceito já percorre o ciclo completo — em ambiente sintético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551D7E9D-18B8-4319-9197-DA3E5D3BD8C4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34C8CA1-01CE-4055-BFEF-251299E7159E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02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68FE2C7-0D4C-4A3B-B589-D9D5820645F3}"/>
              </a:ext>
            </a:extLst>
          </p:cNvPr>
          <p:cNvSpPr>
            <a:spLocks noGrp="1"/>
          </p:cNvSpPr>
          <p:nvPr/>
        </p:nvSpPr>
        <p:spPr>
          <a:xfrm>
            <a:off x="400050" y="1762125"/>
            <a:ext cx="314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606772"/>
                </a:solidFill>
              </a:defRPr>
            </a:pPr>
            <a:r>
              <a:rPr sz="1500" b="1">
                <a:solidFill>
                  <a:srgbClr val="606772"/>
                </a:solidFill>
              </a:rPr>
              <a:t>A hipótese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14BDE8E-11B3-48A0-94D3-724F6E8E89F0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38576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Aprender como o estado de um cliente evolui depois de uma ação da seguradora.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94EF6073-FCF7-4EBF-B738-040669018871}"/>
              </a:ext>
            </a:extLst>
          </p:cNvPr>
          <p:cNvSpPr>
            <a:spLocks noGrp="1"/>
          </p:cNvSpPr>
          <p:nvPr/>
        </p:nvSpPr>
        <p:spPr>
          <a:xfrm>
            <a:off x="4953000" y="1752600"/>
            <a:ext cx="6477000" cy="800100"/>
          </a:xfrm>
          <a:prstGeom prst="roundRect">
            <a:avLst>
              <a:gd name="adj" fmla="val 9524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29D74BB-F8BD-4F1C-837E-D6B71A9CF65D}"/>
              </a:ext>
            </a:extLst>
          </p:cNvPr>
          <p:cNvSpPr>
            <a:spLocks noGrp="1"/>
          </p:cNvSpPr>
          <p:nvPr/>
        </p:nvSpPr>
        <p:spPr>
          <a:xfrm>
            <a:off x="5143500" y="1752600"/>
            <a:ext cx="428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A3D660E-9853-4E14-B325-3ED35593D054}"/>
              </a:ext>
            </a:extLst>
          </p:cNvPr>
          <p:cNvSpPr>
            <a:spLocks noGrp="1"/>
          </p:cNvSpPr>
          <p:nvPr/>
        </p:nvSpPr>
        <p:spPr>
          <a:xfrm>
            <a:off x="5715000" y="18097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Mundo conhecido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BE05755-3975-4BC6-809E-2CA9A0F0DECF}"/>
              </a:ext>
            </a:extLst>
          </p:cNvPr>
          <p:cNvSpPr>
            <a:spLocks noGrp="1"/>
          </p:cNvSpPr>
          <p:nvPr/>
        </p:nvSpPr>
        <p:spPr>
          <a:xfrm>
            <a:off x="5715000" y="211455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Regras sintéticas + variáveis latentes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29F15406-725E-4D25-92C7-EF9540DB7729}"/>
              </a:ext>
            </a:extLst>
          </p:cNvPr>
          <p:cNvSpPr>
            <a:spLocks noGrp="1"/>
          </p:cNvSpPr>
          <p:nvPr/>
        </p:nvSpPr>
        <p:spPr>
          <a:xfrm>
            <a:off x="4953000" y="2781300"/>
            <a:ext cx="6477000" cy="800100"/>
          </a:xfrm>
          <a:prstGeom prst="roundRect">
            <a:avLst>
              <a:gd name="adj" fmla="val 9524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F421DAB0-D325-48EB-8372-031C5640FA4C}"/>
              </a:ext>
            </a:extLst>
          </p:cNvPr>
          <p:cNvSpPr>
            <a:spLocks noGrp="1"/>
          </p:cNvSpPr>
          <p:nvPr/>
        </p:nvSpPr>
        <p:spPr>
          <a:xfrm>
            <a:off x="5143500" y="2781300"/>
            <a:ext cx="428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42045FE-6DEE-45F3-932B-6A0C70B0597A}"/>
              </a:ext>
            </a:extLst>
          </p:cNvPr>
          <p:cNvSpPr>
            <a:spLocks noGrp="1"/>
          </p:cNvSpPr>
          <p:nvPr/>
        </p:nvSpPr>
        <p:spPr>
          <a:xfrm>
            <a:off x="5715000" y="28384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Aprendizado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345CC560-F4BD-4DD0-9DF3-5AD425186FE7}"/>
              </a:ext>
            </a:extLst>
          </p:cNvPr>
          <p:cNvSpPr>
            <a:spLocks noGrp="1"/>
          </p:cNvSpPr>
          <p:nvPr/>
        </p:nvSpPr>
        <p:spPr>
          <a:xfrm>
            <a:off x="5715000" y="314325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Trajetórias → modelo de dinâmica</a:t>
            </a:r>
          </a:p>
        </p:txBody>
      </p:sp>
      <p:sp>
        <p:nvSpPr>
          <p:cNvPr id="15" name="box">
            <a:extLst>
              <a:ext uri="{FF2B5EF4-FFF2-40B4-BE49-F238E27FC236}">
                <a16:creationId xmlns:a16="http://schemas.microsoft.com/office/drawing/2014/main" id="{D936A315-1D21-471A-9B0E-2458AF4796CE}"/>
              </a:ext>
            </a:extLst>
          </p:cNvPr>
          <p:cNvSpPr>
            <a:spLocks noGrp="1"/>
          </p:cNvSpPr>
          <p:nvPr/>
        </p:nvSpPr>
        <p:spPr>
          <a:xfrm>
            <a:off x="4953000" y="3810000"/>
            <a:ext cx="6477000" cy="800100"/>
          </a:xfrm>
          <a:prstGeom prst="roundRect">
            <a:avLst>
              <a:gd name="adj" fmla="val 9524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1A6A6513-B4AB-457A-A5E7-59A4A835983A}"/>
              </a:ext>
            </a:extLst>
          </p:cNvPr>
          <p:cNvSpPr>
            <a:spLocks noGrp="1"/>
          </p:cNvSpPr>
          <p:nvPr/>
        </p:nvSpPr>
        <p:spPr>
          <a:xfrm>
            <a:off x="5143500" y="3810000"/>
            <a:ext cx="428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2E2D0070-70A8-4130-86F8-B5B46F719D6B}"/>
              </a:ext>
            </a:extLst>
          </p:cNvPr>
          <p:cNvSpPr>
            <a:spLocks noGrp="1"/>
          </p:cNvSpPr>
          <p:nvPr/>
        </p:nvSpPr>
        <p:spPr>
          <a:xfrm>
            <a:off x="5715000" y="3867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Imaginação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F99E647B-1B88-4D0C-B719-C36F83B41635}"/>
              </a:ext>
            </a:extLst>
          </p:cNvPr>
          <p:cNvSpPr>
            <a:spLocks noGrp="1"/>
          </p:cNvSpPr>
          <p:nvPr/>
        </p:nvSpPr>
        <p:spPr>
          <a:xfrm>
            <a:off x="5715000" y="417195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O modelo projeta futuros sem consultar o ambiente</a:t>
            </a:r>
          </a:p>
        </p:txBody>
      </p:sp>
      <p:sp>
        <p:nvSpPr>
          <p:cNvPr id="19" name="box">
            <a:extLst>
              <a:ext uri="{FF2B5EF4-FFF2-40B4-BE49-F238E27FC236}">
                <a16:creationId xmlns:a16="http://schemas.microsoft.com/office/drawing/2014/main" id="{AD7C6BA2-E00F-45C2-9504-4E78F0672C4F}"/>
              </a:ext>
            </a:extLst>
          </p:cNvPr>
          <p:cNvSpPr>
            <a:spLocks noGrp="1"/>
          </p:cNvSpPr>
          <p:nvPr/>
        </p:nvSpPr>
        <p:spPr>
          <a:xfrm>
            <a:off x="4953000" y="4838700"/>
            <a:ext cx="6477000" cy="800100"/>
          </a:xfrm>
          <a:prstGeom prst="roundRect">
            <a:avLst>
              <a:gd name="adj" fmla="val 9524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6E3DEEAA-8F2B-4EEE-BA59-BFCE3C3B4C43}"/>
              </a:ext>
            </a:extLst>
          </p:cNvPr>
          <p:cNvSpPr>
            <a:spLocks noGrp="1"/>
          </p:cNvSpPr>
          <p:nvPr/>
        </p:nvSpPr>
        <p:spPr>
          <a:xfrm>
            <a:off x="5143500" y="4838700"/>
            <a:ext cx="428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244C2377-65BF-4826-958D-EFF91D316D8D}"/>
              </a:ext>
            </a:extLst>
          </p:cNvPr>
          <p:cNvSpPr>
            <a:spLocks noGrp="1"/>
          </p:cNvSpPr>
          <p:nvPr/>
        </p:nvSpPr>
        <p:spPr>
          <a:xfrm>
            <a:off x="5715000" y="48958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Demonstração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DE43CA80-809B-48F5-AC0E-82018299F665}"/>
              </a:ext>
            </a:extLst>
          </p:cNvPr>
          <p:cNvSpPr>
            <a:spLocks noGrp="1"/>
          </p:cNvSpPr>
          <p:nvPr/>
        </p:nvSpPr>
        <p:spPr>
          <a:xfrm>
            <a:off x="5715000" y="520065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Cenários fechados em uma interface local</a:t>
            </a:r>
          </a:p>
        </p:txBody>
      </p:sp>
    </p:spTree>
    <p:extLst>
      <p:ext uri="{BB962C8B-B14F-4D97-AF65-F5344CB8AC3E}">
        <p14:creationId xmlns:p14="http://schemas.microsoft.com/office/powerpoint/2010/main" val="501283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">
            <a:extLst>
              <a:ext uri="{FF2B5EF4-FFF2-40B4-BE49-F238E27FC236}">
                <a16:creationId xmlns:a16="http://schemas.microsoft.com/office/drawing/2014/main" id="{B369AC36-CD13-4D6B-B73F-D9A980D28A65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329F1C3-0E0E-43C4-8486-32FFD16589AF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Predizer um resultado e simular um mundo são problemas diferentes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D141BB6E-05BB-4ADD-9BCC-FFCB00D1D222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D12A0A8-3C04-44AC-BD60-C367FB715AFD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03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1AC184B8-B0E7-4508-B609-406723079850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504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606772"/>
                </a:solidFill>
              </a:defRPr>
            </a:pPr>
            <a:r>
              <a:rPr sz="1350" b="1">
                <a:solidFill>
                  <a:srgbClr val="606772"/>
                </a:solidFill>
              </a:rPr>
              <a:t>ML PREDITIVO CLÁSSICO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BDC3947-22B7-499F-832D-41A0B8A1C94D}"/>
              </a:ext>
            </a:extLst>
          </p:cNvPr>
          <p:cNvSpPr>
            <a:spLocks noGrp="1"/>
          </p:cNvSpPr>
          <p:nvPr/>
        </p:nvSpPr>
        <p:spPr>
          <a:xfrm>
            <a:off x="400050" y="2143125"/>
            <a:ext cx="4476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Uma pergunta,</a:t>
            </a:r>
          </a:p>
          <a:p>
            <a:pPr algn="l"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uma resposta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BD9DD390-E9C6-4351-950B-F1E2F2B04EEB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Dados históricos + atributos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B1DAD83-4B8A-44CE-8607-31A143DD6BBF}"/>
              </a:ext>
            </a:extLst>
          </p:cNvPr>
          <p:cNvSpPr>
            <a:spLocks noGrp="1"/>
          </p:cNvSpPr>
          <p:nvPr/>
        </p:nvSpPr>
        <p:spPr>
          <a:xfrm>
            <a:off x="2095500" y="3695700"/>
            <a:ext cx="57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B8BCC4"/>
                </a:solidFill>
              </a:defRPr>
            </a:pPr>
            <a:r>
              <a:rPr sz="2100" b="1">
                <a:solidFill>
                  <a:srgbClr val="B8BCC4"/>
                </a:solidFill>
              </a:rPr>
              <a:t>↓</a:t>
            </a:r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F6F368B1-5185-4F6C-A669-F7C6931ADBFC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3714750" cy="647700"/>
          </a:xfrm>
          <a:prstGeom prst="roundRect">
            <a:avLst>
              <a:gd name="adj" fmla="val 11765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AF07A6E-C855-4EF3-B501-B8A63EDD2066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371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11318"/>
                </a:solidFill>
              </a:defRPr>
            </a:pPr>
            <a:r>
              <a:rPr sz="2025" b="1">
                <a:solidFill>
                  <a:srgbClr val="111318"/>
                </a:solidFill>
              </a:rPr>
              <a:t>P(compra) = 16%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8D8823A-F8D3-4F98-9AFD-EFF42BE0F003}"/>
              </a:ext>
            </a:extLst>
          </p:cNvPr>
          <p:cNvSpPr>
            <a:spLocks noGrp="1"/>
          </p:cNvSpPr>
          <p:nvPr/>
        </p:nvSpPr>
        <p:spPr>
          <a:xfrm>
            <a:off x="400050" y="5000625"/>
            <a:ext cx="466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O algoritmo estima um alvo definido: propensão, fraude, churn, sinistro ou valor.</a:t>
            </a:r>
          </a:p>
        </p:txBody>
      </p:sp>
      <p:sp>
        <p:nvSpPr>
          <p:cNvPr id="12" name="rule">
            <a:extLst>
              <a:ext uri="{FF2B5EF4-FFF2-40B4-BE49-F238E27FC236}">
                <a16:creationId xmlns:a16="http://schemas.microsoft.com/office/drawing/2014/main" id="{89D29E54-C9C7-4B9E-8B26-E9826A7A29B5}"/>
              </a:ext>
            </a:extLst>
          </p:cNvPr>
          <p:cNvSpPr>
            <a:spLocks noGrp="1"/>
          </p:cNvSpPr>
          <p:nvPr/>
        </p:nvSpPr>
        <p:spPr>
          <a:xfrm>
            <a:off x="5905500" y="1714500"/>
            <a:ext cx="19050" cy="40957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678CE42E-E43B-49DA-88E5-776205A1D031}"/>
              </a:ext>
            </a:extLst>
          </p:cNvPr>
          <p:cNvSpPr>
            <a:spLocks noGrp="1"/>
          </p:cNvSpPr>
          <p:nvPr/>
        </p:nvSpPr>
        <p:spPr>
          <a:xfrm>
            <a:off x="6572250" y="1714500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WORLD MODEL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DE3770CC-D1C2-4B7C-855F-87BDE24E75C3}"/>
              </a:ext>
            </a:extLst>
          </p:cNvPr>
          <p:cNvSpPr>
            <a:spLocks noGrp="1"/>
          </p:cNvSpPr>
          <p:nvPr/>
        </p:nvSpPr>
        <p:spPr>
          <a:xfrm>
            <a:off x="6572250" y="2143125"/>
            <a:ext cx="4476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Uma ação,</a:t>
            </a:r>
          </a:p>
          <a:p>
            <a:pPr algn="l"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vários futuros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490E012C-4E59-4454-BE8F-FB8310FBC061}"/>
              </a:ext>
            </a:extLst>
          </p:cNvPr>
          <p:cNvSpPr>
            <a:spLocks noGrp="1"/>
          </p:cNvSpPr>
          <p:nvPr/>
        </p:nvSpPr>
        <p:spPr>
          <a:xfrm>
            <a:off x="6572250" y="33337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Estado atual + ação proposta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601B0F46-97D7-429B-AF40-21553DC2A1EC}"/>
              </a:ext>
            </a:extLst>
          </p:cNvPr>
          <p:cNvSpPr>
            <a:spLocks noGrp="1"/>
          </p:cNvSpPr>
          <p:nvPr/>
        </p:nvSpPr>
        <p:spPr>
          <a:xfrm>
            <a:off x="8286750" y="3695700"/>
            <a:ext cx="57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↓</a:t>
            </a:r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39D64019-290C-41C3-AAB3-687CCB4D2FD4}"/>
              </a:ext>
            </a:extLst>
          </p:cNvPr>
          <p:cNvSpPr>
            <a:spLocks noGrp="1"/>
          </p:cNvSpPr>
          <p:nvPr/>
        </p:nvSpPr>
        <p:spPr>
          <a:xfrm>
            <a:off x="6953250" y="4114800"/>
            <a:ext cx="3714750" cy="647700"/>
          </a:xfrm>
          <a:prstGeom prst="roundRect">
            <a:avLst>
              <a:gd name="adj" fmla="val 11765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6C57F124-203D-498B-9A34-05F57F3F27CE}"/>
              </a:ext>
            </a:extLst>
          </p:cNvPr>
          <p:cNvSpPr>
            <a:spLocks noGrp="1"/>
          </p:cNvSpPr>
          <p:nvPr/>
        </p:nvSpPr>
        <p:spPr>
          <a:xfrm>
            <a:off x="6953250" y="4114800"/>
            <a:ext cx="371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111318"/>
                </a:solidFill>
              </a:defRPr>
            </a:pPr>
            <a:r>
              <a:rPr sz="1875" b="1">
                <a:solidFill>
                  <a:srgbClr val="111318"/>
                </a:solidFill>
              </a:rPr>
              <a:t>Sₜ₊₁ + Rₜ → trajetória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4D581D71-5A50-420D-91DC-A476E80A3CFC}"/>
              </a:ext>
            </a:extLst>
          </p:cNvPr>
          <p:cNvSpPr>
            <a:spLocks noGrp="1"/>
          </p:cNvSpPr>
          <p:nvPr/>
        </p:nvSpPr>
        <p:spPr>
          <a:xfrm>
            <a:off x="6572250" y="5000625"/>
            <a:ext cx="466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O modelo aprende a dinâmica para encadear transições, comparar ações e projetar horizontes.</a:t>
            </a:r>
          </a:p>
        </p:txBody>
      </p:sp>
      <p:sp>
        <p:nvSpPr>
          <p:cNvPr id="20" name="box">
            <a:extLst>
              <a:ext uri="{FF2B5EF4-FFF2-40B4-BE49-F238E27FC236}">
                <a16:creationId xmlns:a16="http://schemas.microsoft.com/office/drawing/2014/main" id="{8126AAB4-24D7-4979-A6BF-084C3376F48D}"/>
              </a:ext>
            </a:extLst>
          </p:cNvPr>
          <p:cNvSpPr>
            <a:spLocks noGrp="1"/>
          </p:cNvSpPr>
          <p:nvPr/>
        </p:nvSpPr>
        <p:spPr>
          <a:xfrm>
            <a:off x="2428875" y="5953125"/>
            <a:ext cx="7334250" cy="400050"/>
          </a:xfrm>
          <a:prstGeom prst="roundRect">
            <a:avLst>
              <a:gd name="adj" fmla="val 19048"/>
            </a:avLst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9CBCC441-ABC6-4108-85FB-B640481E81F1}"/>
              </a:ext>
            </a:extLst>
          </p:cNvPr>
          <p:cNvSpPr>
            <a:spLocks noGrp="1"/>
          </p:cNvSpPr>
          <p:nvPr/>
        </p:nvSpPr>
        <p:spPr>
          <a:xfrm>
            <a:off x="2619375" y="5953125"/>
            <a:ext cx="695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Ambos são ML; muda a unidade de previsão e a finalidade da decisão.</a:t>
            </a:r>
          </a:p>
        </p:txBody>
      </p:sp>
    </p:spTree>
    <p:extLst>
      <p:ext uri="{BB962C8B-B14F-4D97-AF65-F5344CB8AC3E}">
        <p14:creationId xmlns:p14="http://schemas.microsoft.com/office/powerpoint/2010/main" val="150799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280D74BF-E7A2-46D7-A700-F3C87B0FF051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8AF4D31-5FBB-42A1-8BA2-64643BB59775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Chat, projeto e repositório cumprem papéis diferentes na rastreabilidade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3DD05BAA-1717-4577-87D2-CA8A4911C5C6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CD759B8-31E7-4A46-AB6C-07957433EA80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04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1434F2B4-C3B4-4C5C-BF6B-64C9CAC0459D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3429000" cy="3238500"/>
          </a:xfrm>
          <a:prstGeom prst="roundRect">
            <a:avLst>
              <a:gd name="adj" fmla="val 2353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F7EC6A37-366A-4FAD-B97D-326E14BF3E0A}"/>
              </a:ext>
            </a:extLst>
          </p:cNvPr>
          <p:cNvSpPr>
            <a:spLocks noGrp="1"/>
          </p:cNvSpPr>
          <p:nvPr/>
        </p:nvSpPr>
        <p:spPr>
          <a:xfrm>
            <a:off x="628650" y="21526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CHAT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268F4DA-455B-4B47-855F-3B3344498DB1}"/>
              </a:ext>
            </a:extLst>
          </p:cNvPr>
          <p:cNvSpPr>
            <a:spLocks noGrp="1"/>
          </p:cNvSpPr>
          <p:nvPr/>
        </p:nvSpPr>
        <p:spPr>
          <a:xfrm>
            <a:off x="628650" y="266700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11318"/>
                </a:solidFill>
              </a:defRPr>
            </a:pPr>
            <a:r>
              <a:rPr sz="2100" b="1">
                <a:solidFill>
                  <a:srgbClr val="111318"/>
                </a:solidFill>
              </a:rPr>
              <a:t>Raciocínio e decisões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7A5BFB7-8D65-4509-AD59-5F20D5CEA404}"/>
              </a:ext>
            </a:extLst>
          </p:cNvPr>
          <p:cNvSpPr>
            <a:spLocks noGrp="1"/>
          </p:cNvSpPr>
          <p:nvPr/>
        </p:nvSpPr>
        <p:spPr>
          <a:xfrm>
            <a:off x="628650" y="3543300"/>
            <a:ext cx="2952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06772"/>
                </a:solidFill>
              </a:defRPr>
            </a:pPr>
            <a:r>
              <a:rPr sz="1500" b="0">
                <a:solidFill>
                  <a:srgbClr val="606772"/>
                </a:solidFill>
              </a:rPr>
              <a:t>Evolução conceitual; perguntas; correções semânticas; escolhas de escopo.</a:t>
            </a:r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15009649-6443-4AA3-8EE7-B6ED9FE315B0}"/>
              </a:ext>
            </a:extLst>
          </p:cNvPr>
          <p:cNvSpPr>
            <a:spLocks noGrp="1"/>
          </p:cNvSpPr>
          <p:nvPr/>
        </p:nvSpPr>
        <p:spPr>
          <a:xfrm>
            <a:off x="4210050" y="1952625"/>
            <a:ext cx="3429000" cy="3238500"/>
          </a:xfrm>
          <a:prstGeom prst="roundRect">
            <a:avLst>
              <a:gd name="adj" fmla="val 2353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75E533D-54D1-4447-B763-2733671AC088}"/>
              </a:ext>
            </a:extLst>
          </p:cNvPr>
          <p:cNvSpPr>
            <a:spLocks noGrp="1"/>
          </p:cNvSpPr>
          <p:nvPr/>
        </p:nvSpPr>
        <p:spPr>
          <a:xfrm>
            <a:off x="4438650" y="21526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PROJETO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B2582F7-90B1-4EB6-B999-67C0378829EE}"/>
              </a:ext>
            </a:extLst>
          </p:cNvPr>
          <p:cNvSpPr>
            <a:spLocks noGrp="1"/>
          </p:cNvSpPr>
          <p:nvPr/>
        </p:nvSpPr>
        <p:spPr>
          <a:xfrm>
            <a:off x="4438650" y="266700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11318"/>
                </a:solidFill>
              </a:defRPr>
            </a:pPr>
            <a:r>
              <a:rPr sz="2100" b="1">
                <a:solidFill>
                  <a:srgbClr val="111318"/>
                </a:solidFill>
              </a:rPr>
              <a:t>Contexto persistente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65297B3A-743B-4031-8371-59EC54691ACC}"/>
              </a:ext>
            </a:extLst>
          </p:cNvPr>
          <p:cNvSpPr>
            <a:spLocks noGrp="1"/>
          </p:cNvSpPr>
          <p:nvPr/>
        </p:nvSpPr>
        <p:spPr>
          <a:xfrm>
            <a:off x="4438650" y="3543300"/>
            <a:ext cx="2952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06772"/>
                </a:solidFill>
              </a:defRPr>
            </a:pPr>
            <a:r>
              <a:rPr sz="1500" b="0">
                <a:solidFill>
                  <a:srgbClr val="606772"/>
                </a:solidFill>
              </a:rPr>
              <a:t>Especificação, metodologia, experimentos, artefatos e demo local.</a:t>
            </a:r>
          </a:p>
        </p:txBody>
      </p:sp>
      <p:sp>
        <p:nvSpPr>
          <p:cNvPr id="13" name="box">
            <a:extLst>
              <a:ext uri="{FF2B5EF4-FFF2-40B4-BE49-F238E27FC236}">
                <a16:creationId xmlns:a16="http://schemas.microsoft.com/office/drawing/2014/main" id="{16209BCA-0628-493D-BDFA-9C216EDE44C1}"/>
              </a:ext>
            </a:extLst>
          </p:cNvPr>
          <p:cNvSpPr>
            <a:spLocks noGrp="1"/>
          </p:cNvSpPr>
          <p:nvPr/>
        </p:nvSpPr>
        <p:spPr>
          <a:xfrm>
            <a:off x="8020050" y="1952625"/>
            <a:ext cx="3429000" cy="3238500"/>
          </a:xfrm>
          <a:prstGeom prst="roundRect">
            <a:avLst>
              <a:gd name="adj" fmla="val 2353"/>
            </a:avLst>
          </a:prstGeom>
          <a:solidFill>
            <a:srgbClr val="FCE8E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8282632-B565-4C0C-98B9-96F1F520748C}"/>
              </a:ext>
            </a:extLst>
          </p:cNvPr>
          <p:cNvSpPr>
            <a:spLocks noGrp="1"/>
          </p:cNvSpPr>
          <p:nvPr/>
        </p:nvSpPr>
        <p:spPr>
          <a:xfrm>
            <a:off x="8248650" y="21526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D94A4A"/>
                </a:solidFill>
              </a:defRPr>
            </a:pPr>
            <a:r>
              <a:rPr sz="1200" b="1">
                <a:solidFill>
                  <a:srgbClr val="D94A4A"/>
                </a:solidFill>
              </a:rPr>
              <a:t>REPOSITÓRIO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06C2877C-A94F-4894-BF36-085582575ADE}"/>
              </a:ext>
            </a:extLst>
          </p:cNvPr>
          <p:cNvSpPr>
            <a:spLocks noGrp="1"/>
          </p:cNvSpPr>
          <p:nvPr/>
        </p:nvSpPr>
        <p:spPr>
          <a:xfrm>
            <a:off x="8248650" y="266700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11318"/>
                </a:solidFill>
              </a:defRPr>
            </a:pPr>
            <a:r>
              <a:rPr sz="2100" b="1">
                <a:solidFill>
                  <a:srgbClr val="111318"/>
                </a:solidFill>
              </a:rPr>
              <a:t>Histórico verificável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1DC23655-5139-4DD5-8DBC-65158C957DCF}"/>
              </a:ext>
            </a:extLst>
          </p:cNvPr>
          <p:cNvSpPr>
            <a:spLocks noGrp="1"/>
          </p:cNvSpPr>
          <p:nvPr/>
        </p:nvSpPr>
        <p:spPr>
          <a:xfrm>
            <a:off x="8248650" y="3543300"/>
            <a:ext cx="2952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06772"/>
                </a:solidFill>
              </a:defRPr>
            </a:pPr>
            <a:r>
              <a:rPr sz="1500" b="0">
                <a:solidFill>
                  <a:srgbClr val="606772"/>
                </a:solidFill>
              </a:rPr>
              <a:t>O código entregue existe em uma pasta de trabalho; o repo aberto ainda está sem commits.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EBC87E51-BE1F-4B18-886F-1072BDD3CBEF}"/>
              </a:ext>
            </a:extLst>
          </p:cNvPr>
          <p:cNvSpPr>
            <a:spLocks noGrp="1"/>
          </p:cNvSpPr>
          <p:nvPr/>
        </p:nvSpPr>
        <p:spPr>
          <a:xfrm>
            <a:off x="400050" y="5572125"/>
            <a:ext cx="1104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D94A4A"/>
                </a:solidFill>
              </a:defRPr>
            </a:pPr>
            <a:r>
              <a:rPr sz="1575" b="1">
                <a:solidFill>
                  <a:srgbClr val="D94A4A"/>
                </a:solidFill>
              </a:rPr>
              <a:t>Implicação: conectar a pasta entregue ao repo permitirá transformar o histórico do chat em evidência versionada por etapa.</a:t>
            </a:r>
          </a:p>
        </p:txBody>
      </p:sp>
    </p:spTree>
    <p:extLst>
      <p:ext uri="{BB962C8B-B14F-4D97-AF65-F5344CB8AC3E}">
        <p14:creationId xmlns:p14="http://schemas.microsoft.com/office/powerpoint/2010/main" val="2109278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">
            <a:extLst>
              <a:ext uri="{FF2B5EF4-FFF2-40B4-BE49-F238E27FC236}">
                <a16:creationId xmlns:a16="http://schemas.microsoft.com/office/drawing/2014/main" id="{183D334F-6AF1-495B-9859-8072873070BF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2589CBE-1576-47B1-ABC0-3A048A2667BD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O trabalho avançou por experimentos controlados, não por um único treinamento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61FB0A6E-A079-4E21-BE36-EA42CDFA8C55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243232E-2D0B-4F22-8239-DF806A0FEC1B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05</a:t>
            </a:r>
          </a:p>
        </p:txBody>
      </p:sp>
      <p:sp>
        <p:nvSpPr>
          <p:cNvPr id="5" name="rule">
            <a:extLst>
              <a:ext uri="{FF2B5EF4-FFF2-40B4-BE49-F238E27FC236}">
                <a16:creationId xmlns:a16="http://schemas.microsoft.com/office/drawing/2014/main" id="{8039887F-DD89-4BB2-960A-922F0E34C155}"/>
              </a:ext>
            </a:extLst>
          </p:cNvPr>
          <p:cNvSpPr>
            <a:spLocks noGrp="1"/>
          </p:cNvSpPr>
          <p:nvPr/>
        </p:nvSpPr>
        <p:spPr>
          <a:xfrm>
            <a:off x="857250" y="3190875"/>
            <a:ext cx="102870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box">
            <a:extLst>
              <a:ext uri="{FF2B5EF4-FFF2-40B4-BE49-F238E27FC236}">
                <a16:creationId xmlns:a16="http://schemas.microsoft.com/office/drawing/2014/main" id="{AAFF3490-0BBD-4E63-9B71-FEF5537018D0}"/>
              </a:ext>
            </a:extLst>
          </p:cNvPr>
          <p:cNvSpPr>
            <a:spLocks noGrp="1"/>
          </p:cNvSpPr>
          <p:nvPr/>
        </p:nvSpPr>
        <p:spPr>
          <a:xfrm>
            <a:off x="1390650" y="306705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7916B72-4272-45BA-B32A-378C1FA57D07}"/>
              </a:ext>
            </a:extLst>
          </p:cNvPr>
          <p:cNvSpPr>
            <a:spLocks noGrp="1"/>
          </p:cNvSpPr>
          <p:nvPr/>
        </p:nvSpPr>
        <p:spPr>
          <a:xfrm>
            <a:off x="476250" y="19526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S1–S2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1912F15-BA3B-42CD-9D5D-C1A8F99E7EDF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Ambiente + dados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02557C1-1116-4691-9ADD-13550668BAC9}"/>
              </a:ext>
            </a:extLst>
          </p:cNvPr>
          <p:cNvSpPr>
            <a:spLocks noGrp="1"/>
          </p:cNvSpPr>
          <p:nvPr/>
        </p:nvSpPr>
        <p:spPr>
          <a:xfrm>
            <a:off x="476250" y="35433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120 mil transições</a:t>
            </a:r>
          </a:p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com oracle separado</a:t>
            </a:r>
          </a:p>
        </p:txBody>
      </p:sp>
      <p:sp>
        <p:nvSpPr>
          <p:cNvPr id="10" name="box">
            <a:extLst>
              <a:ext uri="{FF2B5EF4-FFF2-40B4-BE49-F238E27FC236}">
                <a16:creationId xmlns:a16="http://schemas.microsoft.com/office/drawing/2014/main" id="{F9C9FA0E-5CE3-4EAD-B80F-7CE2EC484997}"/>
              </a:ext>
            </a:extLst>
          </p:cNvPr>
          <p:cNvSpPr>
            <a:spLocks noGrp="1"/>
          </p:cNvSpPr>
          <p:nvPr/>
        </p:nvSpPr>
        <p:spPr>
          <a:xfrm>
            <a:off x="3714750" y="306705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EC712DD1-8C01-49E0-B125-DA450C111B01}"/>
              </a:ext>
            </a:extLst>
          </p:cNvPr>
          <p:cNvSpPr>
            <a:spLocks noGrp="1"/>
          </p:cNvSpPr>
          <p:nvPr/>
        </p:nvSpPr>
        <p:spPr>
          <a:xfrm>
            <a:off x="2800350" y="19526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EXP‑001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E326FAEB-AAE7-4EF4-A78F-E9075053D0FF}"/>
              </a:ext>
            </a:extLst>
          </p:cNvPr>
          <p:cNvSpPr>
            <a:spLocks noGrp="1"/>
          </p:cNvSpPr>
          <p:nvPr/>
        </p:nvSpPr>
        <p:spPr>
          <a:xfrm>
            <a:off x="2800350" y="234315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Baseline MLP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69350DA6-FDA2-43A6-A3A1-A818390B4161}"/>
              </a:ext>
            </a:extLst>
          </p:cNvPr>
          <p:cNvSpPr>
            <a:spLocks noGrp="1"/>
          </p:cNvSpPr>
          <p:nvPr/>
        </p:nvSpPr>
        <p:spPr>
          <a:xfrm>
            <a:off x="2800350" y="35433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Referência simples</a:t>
            </a:r>
          </a:p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para evitar complexidade gratuita</a:t>
            </a:r>
          </a:p>
        </p:txBody>
      </p:sp>
      <p:sp>
        <p:nvSpPr>
          <p:cNvPr id="14" name="box">
            <a:extLst>
              <a:ext uri="{FF2B5EF4-FFF2-40B4-BE49-F238E27FC236}">
                <a16:creationId xmlns:a16="http://schemas.microsoft.com/office/drawing/2014/main" id="{C3B010ED-A2CE-4BA5-8B44-2B94ACA3E6D5}"/>
              </a:ext>
            </a:extLst>
          </p:cNvPr>
          <p:cNvSpPr>
            <a:spLocks noGrp="1"/>
          </p:cNvSpPr>
          <p:nvPr/>
        </p:nvSpPr>
        <p:spPr>
          <a:xfrm>
            <a:off x="6038850" y="306705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56338BE0-8727-49D8-A825-20768C463EE2}"/>
              </a:ext>
            </a:extLst>
          </p:cNvPr>
          <p:cNvSpPr>
            <a:spLocks noGrp="1"/>
          </p:cNvSpPr>
          <p:nvPr/>
        </p:nvSpPr>
        <p:spPr>
          <a:xfrm>
            <a:off x="5124450" y="19526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EXP‑002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93AA0555-1456-4E51-88DF-38E3025E31DC}"/>
              </a:ext>
            </a:extLst>
          </p:cNvPr>
          <p:cNvSpPr>
            <a:spLocks noGrp="1"/>
          </p:cNvSpPr>
          <p:nvPr/>
        </p:nvSpPr>
        <p:spPr>
          <a:xfrm>
            <a:off x="5124450" y="234315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World Model v1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67091F80-DA9F-4D0C-929C-46DD47487C4E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Separação explícita</a:t>
            </a:r>
          </a:p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de estado, ação e dinâmica</a:t>
            </a:r>
          </a:p>
        </p:txBody>
      </p:sp>
      <p:sp>
        <p:nvSpPr>
          <p:cNvPr id="18" name="box">
            <a:extLst>
              <a:ext uri="{FF2B5EF4-FFF2-40B4-BE49-F238E27FC236}">
                <a16:creationId xmlns:a16="http://schemas.microsoft.com/office/drawing/2014/main" id="{0472D891-1ED6-4224-A4A8-9B0677D74566}"/>
              </a:ext>
            </a:extLst>
          </p:cNvPr>
          <p:cNvSpPr>
            <a:spLocks noGrp="1"/>
          </p:cNvSpPr>
          <p:nvPr/>
        </p:nvSpPr>
        <p:spPr>
          <a:xfrm>
            <a:off x="8362950" y="306705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805CF5CB-0A1C-4E5E-BC0C-95C1EE2A6322}"/>
              </a:ext>
            </a:extLst>
          </p:cNvPr>
          <p:cNvSpPr>
            <a:spLocks noGrp="1"/>
          </p:cNvSpPr>
          <p:nvPr/>
        </p:nvSpPr>
        <p:spPr>
          <a:xfrm>
            <a:off x="7448550" y="19526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EXP‑003/004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B482FF65-3762-4855-A53B-4C0B7B2A5A6B}"/>
              </a:ext>
            </a:extLst>
          </p:cNvPr>
          <p:cNvSpPr>
            <a:spLocks noGrp="1"/>
          </p:cNvSpPr>
          <p:nvPr/>
        </p:nvSpPr>
        <p:spPr>
          <a:xfrm>
            <a:off x="7448550" y="234315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Ajustes controlados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6DE1EBFD-A48F-450B-A27A-A1A0D08731E0}"/>
              </a:ext>
            </a:extLst>
          </p:cNvPr>
          <p:cNvSpPr>
            <a:spLocks noGrp="1"/>
          </p:cNvSpPr>
          <p:nvPr/>
        </p:nvSpPr>
        <p:spPr>
          <a:xfrm>
            <a:off x="7448550" y="35433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Seleção em validação;</a:t>
            </a:r>
          </a:p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reward com Huber + residual</a:t>
            </a:r>
          </a:p>
        </p:txBody>
      </p:sp>
      <p:sp>
        <p:nvSpPr>
          <p:cNvPr id="22" name="box">
            <a:extLst>
              <a:ext uri="{FF2B5EF4-FFF2-40B4-BE49-F238E27FC236}">
                <a16:creationId xmlns:a16="http://schemas.microsoft.com/office/drawing/2014/main" id="{5262D714-3DAC-418D-9D0C-A313CAA5ACBD}"/>
              </a:ext>
            </a:extLst>
          </p:cNvPr>
          <p:cNvSpPr>
            <a:spLocks noGrp="1"/>
          </p:cNvSpPr>
          <p:nvPr/>
        </p:nvSpPr>
        <p:spPr>
          <a:xfrm>
            <a:off x="10687050" y="306705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771CC31E-5433-42FE-B0E6-581C33F06ABF}"/>
              </a:ext>
            </a:extLst>
          </p:cNvPr>
          <p:cNvSpPr>
            <a:spLocks noGrp="1"/>
          </p:cNvSpPr>
          <p:nvPr/>
        </p:nvSpPr>
        <p:spPr>
          <a:xfrm>
            <a:off x="9772650" y="19526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EXP‑005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EF0771EA-3967-46C0-B466-609BA7C40D46}"/>
              </a:ext>
            </a:extLst>
          </p:cNvPr>
          <p:cNvSpPr>
            <a:spLocks noGrp="1"/>
          </p:cNvSpPr>
          <p:nvPr/>
        </p:nvSpPr>
        <p:spPr>
          <a:xfrm>
            <a:off x="9772650" y="234315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Eventos + demo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0D677EA0-AA20-49A6-AF1E-D143A73DD05D}"/>
              </a:ext>
            </a:extLst>
          </p:cNvPr>
          <p:cNvSpPr>
            <a:spLocks noGrp="1"/>
          </p:cNvSpPr>
          <p:nvPr/>
        </p:nvSpPr>
        <p:spPr>
          <a:xfrm>
            <a:off x="9772650" y="35433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Heads de compra/cancelamento</a:t>
            </a:r>
          </a:p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e simulador fechado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C64A7D90-847E-48CF-97FC-200D0077EB44}"/>
              </a:ext>
            </a:extLst>
          </p:cNvPr>
          <p:cNvSpPr>
            <a:spLocks noGrp="1"/>
          </p:cNvSpPr>
          <p:nvPr/>
        </p:nvSpPr>
        <p:spPr>
          <a:xfrm>
            <a:off x="1981200" y="5238750"/>
            <a:ext cx="8229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11318"/>
                </a:solidFill>
              </a:defRPr>
            </a:pPr>
            <a:r>
              <a:rPr sz="1800" b="1" dirty="0">
                <a:solidFill>
                  <a:srgbClr val="111318"/>
                </a:solidFill>
              </a:rPr>
              <a:t>Cada </a:t>
            </a:r>
            <a:r>
              <a:rPr sz="1800" b="1" dirty="0" err="1">
                <a:solidFill>
                  <a:srgbClr val="111318"/>
                </a:solidFill>
              </a:rPr>
              <a:t>etapa</a:t>
            </a:r>
            <a:r>
              <a:rPr sz="1800" b="1" dirty="0">
                <a:solidFill>
                  <a:srgbClr val="111318"/>
                </a:solidFill>
              </a:rPr>
              <a:t> </a:t>
            </a:r>
            <a:r>
              <a:rPr sz="1800" b="1" dirty="0" err="1">
                <a:solidFill>
                  <a:srgbClr val="111318"/>
                </a:solidFill>
              </a:rPr>
              <a:t>manteve</a:t>
            </a:r>
            <a:r>
              <a:rPr sz="1800" b="1" dirty="0">
                <a:solidFill>
                  <a:srgbClr val="111318"/>
                </a:solidFill>
              </a:rPr>
              <a:t> dataset, seed, </a:t>
            </a:r>
            <a:r>
              <a:rPr sz="1800" b="1" dirty="0" err="1">
                <a:solidFill>
                  <a:srgbClr val="111318"/>
                </a:solidFill>
              </a:rPr>
              <a:t>versões</a:t>
            </a:r>
            <a:r>
              <a:rPr sz="1800" b="1" dirty="0">
                <a:solidFill>
                  <a:srgbClr val="111318"/>
                </a:solidFill>
              </a:rPr>
              <a:t>, </a:t>
            </a:r>
            <a:r>
              <a:rPr sz="1800" b="1" dirty="0" err="1">
                <a:solidFill>
                  <a:srgbClr val="111318"/>
                </a:solidFill>
              </a:rPr>
              <a:t>métricas</a:t>
            </a:r>
            <a:r>
              <a:rPr sz="1800" b="1" dirty="0">
                <a:solidFill>
                  <a:srgbClr val="111318"/>
                </a:solidFill>
              </a:rPr>
              <a:t> e </a:t>
            </a:r>
            <a:r>
              <a:rPr sz="1800" b="1" dirty="0" err="1">
                <a:solidFill>
                  <a:srgbClr val="111318"/>
                </a:solidFill>
              </a:rPr>
              <a:t>artefatos</a:t>
            </a:r>
            <a:r>
              <a:rPr sz="1800" b="1" dirty="0">
                <a:solidFill>
                  <a:srgbClr val="111318"/>
                </a:solidFill>
              </a:rPr>
              <a:t> de </a:t>
            </a:r>
            <a:r>
              <a:rPr sz="1800" b="1" dirty="0" err="1">
                <a:solidFill>
                  <a:srgbClr val="111318"/>
                </a:solidFill>
              </a:rPr>
              <a:t>execução</a:t>
            </a:r>
            <a:r>
              <a:rPr sz="1800" b="1" dirty="0">
                <a:solidFill>
                  <a:srgbClr val="111318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5112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">
            <a:extLst>
              <a:ext uri="{FF2B5EF4-FFF2-40B4-BE49-F238E27FC236}">
                <a16:creationId xmlns:a16="http://schemas.microsoft.com/office/drawing/2014/main" id="{99688FDC-1AFE-41D2-A8EB-9DFFC61CABC8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D77CB91-FACC-4D17-ABED-2820A3B0AFEB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A metodologia separa a verdade do simulador da previsão aprendida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B97CB9CF-35E2-4715-89ED-46A4799AC71D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4F62883-6D51-449B-BD25-C96D0A387EBB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06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E32BF45-DCA8-44DE-9447-72A17DF24B26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7996631-C504-475F-8A75-BF1241410401}"/>
              </a:ext>
            </a:extLst>
          </p:cNvPr>
          <p:cNvSpPr>
            <a:spLocks noGrp="1"/>
          </p:cNvSpPr>
          <p:nvPr/>
        </p:nvSpPr>
        <p:spPr>
          <a:xfrm>
            <a:off x="1066800" y="171450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Definir o mundo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33910E1-6555-4F7E-929E-F8E9CB028F3B}"/>
              </a:ext>
            </a:extLst>
          </p:cNvPr>
          <p:cNvSpPr>
            <a:spLocks noGrp="1"/>
          </p:cNvSpPr>
          <p:nvPr/>
        </p:nvSpPr>
        <p:spPr>
          <a:xfrm>
            <a:off x="1066800" y="2133600"/>
            <a:ext cx="4667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Regras causais conhecidas + ruído controlado</a:t>
            </a:r>
          </a:p>
        </p:txBody>
      </p:sp>
      <p:sp>
        <p:nvSpPr>
          <p:cNvPr id="8" name="rule">
            <a:extLst>
              <a:ext uri="{FF2B5EF4-FFF2-40B4-BE49-F238E27FC236}">
                <a16:creationId xmlns:a16="http://schemas.microsoft.com/office/drawing/2014/main" id="{3547E926-C517-4252-85FE-38B0A7632397}"/>
              </a:ext>
            </a:extLst>
          </p:cNvPr>
          <p:cNvSpPr>
            <a:spLocks noGrp="1"/>
          </p:cNvSpPr>
          <p:nvPr/>
        </p:nvSpPr>
        <p:spPr>
          <a:xfrm>
            <a:off x="400050" y="2781300"/>
            <a:ext cx="5238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AA7EDF8-729E-49DC-8E1D-656ADDC2A3F8}"/>
              </a:ext>
            </a:extLst>
          </p:cNvPr>
          <p:cNvSpPr>
            <a:spLocks noGrp="1"/>
          </p:cNvSpPr>
          <p:nvPr/>
        </p:nvSpPr>
        <p:spPr>
          <a:xfrm>
            <a:off x="6210300" y="171450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FCB7BF3-AD74-44CF-844B-B24032AF1C06}"/>
              </a:ext>
            </a:extLst>
          </p:cNvPr>
          <p:cNvSpPr>
            <a:spLocks noGrp="1"/>
          </p:cNvSpPr>
          <p:nvPr/>
        </p:nvSpPr>
        <p:spPr>
          <a:xfrm>
            <a:off x="6877050" y="171450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Gerar trajetórias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989FF7B-21E1-4942-A3C3-775D51725747}"/>
              </a:ext>
            </a:extLst>
          </p:cNvPr>
          <p:cNvSpPr>
            <a:spLocks noGrp="1"/>
          </p:cNvSpPr>
          <p:nvPr/>
        </p:nvSpPr>
        <p:spPr>
          <a:xfrm>
            <a:off x="6877050" y="2133600"/>
            <a:ext cx="4667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Sₜ + Aₜ → Sₜ₊₁ + Rₜ em Parquet</a:t>
            </a:r>
          </a:p>
        </p:txBody>
      </p:sp>
      <p:sp>
        <p:nvSpPr>
          <p:cNvPr id="12" name="rule">
            <a:extLst>
              <a:ext uri="{FF2B5EF4-FFF2-40B4-BE49-F238E27FC236}">
                <a16:creationId xmlns:a16="http://schemas.microsoft.com/office/drawing/2014/main" id="{6DD4EF22-B5A0-4DD5-B621-6B7CCE773788}"/>
              </a:ext>
            </a:extLst>
          </p:cNvPr>
          <p:cNvSpPr>
            <a:spLocks noGrp="1"/>
          </p:cNvSpPr>
          <p:nvPr/>
        </p:nvSpPr>
        <p:spPr>
          <a:xfrm>
            <a:off x="6210300" y="2781300"/>
            <a:ext cx="5238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5ED96FA3-0876-4776-8934-B584BAB86C85}"/>
              </a:ext>
            </a:extLst>
          </p:cNvPr>
          <p:cNvSpPr>
            <a:spLocks noGrp="1"/>
          </p:cNvSpPr>
          <p:nvPr/>
        </p:nvSpPr>
        <p:spPr>
          <a:xfrm>
            <a:off x="400050" y="3095625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02DC00E-CE44-48DA-8974-572BA6EF7A2E}"/>
              </a:ext>
            </a:extLst>
          </p:cNvPr>
          <p:cNvSpPr>
            <a:spLocks noGrp="1"/>
          </p:cNvSpPr>
          <p:nvPr/>
        </p:nvSpPr>
        <p:spPr>
          <a:xfrm>
            <a:off x="1066800" y="3095625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Bloquear vazamento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6CA01DB5-50FC-426D-AF83-519C5CB15718}"/>
              </a:ext>
            </a:extLst>
          </p:cNvPr>
          <p:cNvSpPr>
            <a:spLocks noGrp="1"/>
          </p:cNvSpPr>
          <p:nvPr/>
        </p:nvSpPr>
        <p:spPr>
          <a:xfrm>
            <a:off x="1066800" y="3514725"/>
            <a:ext cx="4667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Oracle fora do treino; split por cliente 70/15/15</a:t>
            </a:r>
          </a:p>
        </p:txBody>
      </p:sp>
      <p:sp>
        <p:nvSpPr>
          <p:cNvPr id="16" name="rule">
            <a:extLst>
              <a:ext uri="{FF2B5EF4-FFF2-40B4-BE49-F238E27FC236}">
                <a16:creationId xmlns:a16="http://schemas.microsoft.com/office/drawing/2014/main" id="{79207360-9F28-43AF-B051-7C403C78D790}"/>
              </a:ext>
            </a:extLst>
          </p:cNvPr>
          <p:cNvSpPr>
            <a:spLocks noGrp="1"/>
          </p:cNvSpPr>
          <p:nvPr/>
        </p:nvSpPr>
        <p:spPr>
          <a:xfrm>
            <a:off x="400050" y="4162425"/>
            <a:ext cx="5238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6DB10D49-E80C-4BE9-9526-2B01063D6E00}"/>
              </a:ext>
            </a:extLst>
          </p:cNvPr>
          <p:cNvSpPr>
            <a:spLocks noGrp="1"/>
          </p:cNvSpPr>
          <p:nvPr/>
        </p:nvSpPr>
        <p:spPr>
          <a:xfrm>
            <a:off x="6210300" y="3095625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226705D5-D5A4-485C-A480-6A6604F0398D}"/>
              </a:ext>
            </a:extLst>
          </p:cNvPr>
          <p:cNvSpPr>
            <a:spLocks noGrp="1"/>
          </p:cNvSpPr>
          <p:nvPr/>
        </p:nvSpPr>
        <p:spPr>
          <a:xfrm>
            <a:off x="6877050" y="3095625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Comparar modelos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E09D9307-EA88-4DEF-94FC-792F98574242}"/>
              </a:ext>
            </a:extLst>
          </p:cNvPr>
          <p:cNvSpPr>
            <a:spLocks noGrp="1"/>
          </p:cNvSpPr>
          <p:nvPr/>
        </p:nvSpPr>
        <p:spPr>
          <a:xfrm>
            <a:off x="6877050" y="3514725"/>
            <a:ext cx="4667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Baseline antes do world model</a:t>
            </a:r>
          </a:p>
        </p:txBody>
      </p:sp>
      <p:sp>
        <p:nvSpPr>
          <p:cNvPr id="20" name="rule">
            <a:extLst>
              <a:ext uri="{FF2B5EF4-FFF2-40B4-BE49-F238E27FC236}">
                <a16:creationId xmlns:a16="http://schemas.microsoft.com/office/drawing/2014/main" id="{B85AE76F-AB0B-428E-85BF-502E7859803B}"/>
              </a:ext>
            </a:extLst>
          </p:cNvPr>
          <p:cNvSpPr>
            <a:spLocks noGrp="1"/>
          </p:cNvSpPr>
          <p:nvPr/>
        </p:nvSpPr>
        <p:spPr>
          <a:xfrm>
            <a:off x="6210300" y="4162425"/>
            <a:ext cx="5238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C9FE3DBC-AFEC-45EB-88FC-30529E850BE7}"/>
              </a:ext>
            </a:extLst>
          </p:cNvPr>
          <p:cNvSpPr>
            <a:spLocks noGrp="1"/>
          </p:cNvSpPr>
          <p:nvPr/>
        </p:nvSpPr>
        <p:spPr>
          <a:xfrm>
            <a:off x="400050" y="44767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E7AEFDF6-F1D9-45A3-9A2B-5A076051D3D9}"/>
              </a:ext>
            </a:extLst>
          </p:cNvPr>
          <p:cNvSpPr>
            <a:spLocks noGrp="1"/>
          </p:cNvSpPr>
          <p:nvPr/>
        </p:nvSpPr>
        <p:spPr>
          <a:xfrm>
            <a:off x="1066800" y="447675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Selecionar sem olhar o teste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CF984057-F675-484D-87C5-7A0FBAB6CF34}"/>
              </a:ext>
            </a:extLst>
          </p:cNvPr>
          <p:cNvSpPr>
            <a:spLocks noGrp="1"/>
          </p:cNvSpPr>
          <p:nvPr/>
        </p:nvSpPr>
        <p:spPr>
          <a:xfrm>
            <a:off x="1066800" y="4895850"/>
            <a:ext cx="4667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Hiperparâmetros pela validação; teste uma vez</a:t>
            </a:r>
          </a:p>
        </p:txBody>
      </p:sp>
      <p:sp>
        <p:nvSpPr>
          <p:cNvPr id="24" name="rule">
            <a:extLst>
              <a:ext uri="{FF2B5EF4-FFF2-40B4-BE49-F238E27FC236}">
                <a16:creationId xmlns:a16="http://schemas.microsoft.com/office/drawing/2014/main" id="{2EDC6612-4349-447A-AB1D-E8E185F453AC}"/>
              </a:ext>
            </a:extLst>
          </p:cNvPr>
          <p:cNvSpPr>
            <a:spLocks noGrp="1"/>
          </p:cNvSpPr>
          <p:nvPr/>
        </p:nvSpPr>
        <p:spPr>
          <a:xfrm>
            <a:off x="400050" y="5543550"/>
            <a:ext cx="5238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9676F1C0-E7E8-48BC-869D-FCA6EEC19F7A}"/>
              </a:ext>
            </a:extLst>
          </p:cNvPr>
          <p:cNvSpPr>
            <a:spLocks noGrp="1"/>
          </p:cNvSpPr>
          <p:nvPr/>
        </p:nvSpPr>
        <p:spPr>
          <a:xfrm>
            <a:off x="6210300" y="44767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83F22E84-AE1E-4191-B8E5-FEE3E56EE220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Simular e confrontar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30FEC2F2-51F0-429C-9672-42FB6E58234A}"/>
              </a:ext>
            </a:extLst>
          </p:cNvPr>
          <p:cNvSpPr>
            <a:spLocks noGrp="1"/>
          </p:cNvSpPr>
          <p:nvPr/>
        </p:nvSpPr>
        <p:spPr>
          <a:xfrm>
            <a:off x="6877050" y="4895850"/>
            <a:ext cx="4667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Multi-step, contrafactuais e mudança de regime ainda a validar</a:t>
            </a:r>
          </a:p>
        </p:txBody>
      </p:sp>
      <p:sp>
        <p:nvSpPr>
          <p:cNvPr id="28" name="rule">
            <a:extLst>
              <a:ext uri="{FF2B5EF4-FFF2-40B4-BE49-F238E27FC236}">
                <a16:creationId xmlns:a16="http://schemas.microsoft.com/office/drawing/2014/main" id="{B73CFFD0-7A22-4BE5-AFA2-02E688ECB93E}"/>
              </a:ext>
            </a:extLst>
          </p:cNvPr>
          <p:cNvSpPr>
            <a:spLocks noGrp="1"/>
          </p:cNvSpPr>
          <p:nvPr/>
        </p:nvSpPr>
        <p:spPr>
          <a:xfrm>
            <a:off x="6210300" y="5543550"/>
            <a:ext cx="5238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265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">
            <a:extLst>
              <a:ext uri="{FF2B5EF4-FFF2-40B4-BE49-F238E27FC236}">
                <a16:creationId xmlns:a16="http://schemas.microsoft.com/office/drawing/2014/main" id="{A6F5357C-2477-435B-86CA-DFDEE7BB8382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260B9F4-07AD-483B-ABE4-E05495B8CACA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Treinar o modelo exige reconstruir transições a partir dos dados transacionais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27DC0F20-8D1C-404A-A5A4-B5496DE0E4FB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1F4F73C0-7855-49E3-9110-9D4C9709DAD7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07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A2AF574-7DE2-4E6D-B32D-BD20D6A0BD8B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2333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606772"/>
                </a:solidFill>
              </a:defRPr>
            </a:pPr>
            <a:r>
              <a:rPr sz="1275" b="1">
                <a:solidFill>
                  <a:srgbClr val="606772"/>
                </a:solidFill>
              </a:rPr>
              <a:t>DADOS OPERACIONAIS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9A5279B-C99D-44AB-B3ED-7B3F88EF9F90}"/>
              </a:ext>
            </a:extLst>
          </p:cNvPr>
          <p:cNvSpPr>
            <a:spLocks noGrp="1"/>
          </p:cNvSpPr>
          <p:nvPr/>
        </p:nvSpPr>
        <p:spPr>
          <a:xfrm>
            <a:off x="400050" y="21526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Clientes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5586B79-FBBC-4F2B-8A35-8B646BDFBB33}"/>
              </a:ext>
            </a:extLst>
          </p:cNvPr>
          <p:cNvSpPr>
            <a:spLocks noGrp="1"/>
          </p:cNvSpPr>
          <p:nvPr/>
        </p:nvSpPr>
        <p:spPr>
          <a:xfrm>
            <a:off x="400050" y="25527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Apólices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FBB11E2-9516-4262-92E6-D671015812DF}"/>
              </a:ext>
            </a:extLst>
          </p:cNvPr>
          <p:cNvSpPr>
            <a:spLocks noGrp="1"/>
          </p:cNvSpPr>
          <p:nvPr/>
        </p:nvSpPr>
        <p:spPr>
          <a:xfrm>
            <a:off x="400050" y="29527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Interações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5FF6D8B-B54D-43B9-99E2-FE41F12E5225}"/>
              </a:ext>
            </a:extLst>
          </p:cNvPr>
          <p:cNvSpPr>
            <a:spLocks noGrp="1"/>
          </p:cNvSpPr>
          <p:nvPr/>
        </p:nvSpPr>
        <p:spPr>
          <a:xfrm>
            <a:off x="400050" y="33528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Ofertas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6A524BC-F2B1-4454-91C3-9F8EFE12FC73}"/>
              </a:ext>
            </a:extLst>
          </p:cNvPr>
          <p:cNvSpPr>
            <a:spLocks noGrp="1"/>
          </p:cNvSpPr>
          <p:nvPr/>
        </p:nvSpPr>
        <p:spPr>
          <a:xfrm>
            <a:off x="400050" y="37528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Sinistros</a:t>
            </a:r>
          </a:p>
        </p:txBody>
      </p:sp>
      <p:sp>
        <p:nvSpPr>
          <p:cNvPr id="11" name="rule">
            <a:extLst>
              <a:ext uri="{FF2B5EF4-FFF2-40B4-BE49-F238E27FC236}">
                <a16:creationId xmlns:a16="http://schemas.microsoft.com/office/drawing/2014/main" id="{C2BFDF5D-5A5E-4364-A7CD-6E05E6A2E9CC}"/>
              </a:ext>
            </a:extLst>
          </p:cNvPr>
          <p:cNvSpPr>
            <a:spLocks noGrp="1"/>
          </p:cNvSpPr>
          <p:nvPr/>
        </p:nvSpPr>
        <p:spPr>
          <a:xfrm>
            <a:off x="2238375" y="2286000"/>
            <a:ext cx="11430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ule">
            <a:extLst>
              <a:ext uri="{FF2B5EF4-FFF2-40B4-BE49-F238E27FC236}">
                <a16:creationId xmlns:a16="http://schemas.microsoft.com/office/drawing/2014/main" id="{F1E3C788-7E0E-4378-A9DB-7E1C191D9CB3}"/>
              </a:ext>
            </a:extLst>
          </p:cNvPr>
          <p:cNvSpPr>
            <a:spLocks noGrp="1"/>
          </p:cNvSpPr>
          <p:nvPr/>
        </p:nvSpPr>
        <p:spPr>
          <a:xfrm>
            <a:off x="2238375" y="2686050"/>
            <a:ext cx="11430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ule">
            <a:extLst>
              <a:ext uri="{FF2B5EF4-FFF2-40B4-BE49-F238E27FC236}">
                <a16:creationId xmlns:a16="http://schemas.microsoft.com/office/drawing/2014/main" id="{8DAE4F79-ADB7-4EF9-99E4-F1132D6E2215}"/>
              </a:ext>
            </a:extLst>
          </p:cNvPr>
          <p:cNvSpPr>
            <a:spLocks noGrp="1"/>
          </p:cNvSpPr>
          <p:nvPr/>
        </p:nvSpPr>
        <p:spPr>
          <a:xfrm>
            <a:off x="2238375" y="3086100"/>
            <a:ext cx="11430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ule">
            <a:extLst>
              <a:ext uri="{FF2B5EF4-FFF2-40B4-BE49-F238E27FC236}">
                <a16:creationId xmlns:a16="http://schemas.microsoft.com/office/drawing/2014/main" id="{821ACA06-51DB-4A1C-9849-AD33F56C417A}"/>
              </a:ext>
            </a:extLst>
          </p:cNvPr>
          <p:cNvSpPr>
            <a:spLocks noGrp="1"/>
          </p:cNvSpPr>
          <p:nvPr/>
        </p:nvSpPr>
        <p:spPr>
          <a:xfrm>
            <a:off x="2238375" y="3486150"/>
            <a:ext cx="11430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ule">
            <a:extLst>
              <a:ext uri="{FF2B5EF4-FFF2-40B4-BE49-F238E27FC236}">
                <a16:creationId xmlns:a16="http://schemas.microsoft.com/office/drawing/2014/main" id="{2C1C1A01-16BD-4761-9351-543DD2CDCA5D}"/>
              </a:ext>
            </a:extLst>
          </p:cNvPr>
          <p:cNvSpPr>
            <a:spLocks noGrp="1"/>
          </p:cNvSpPr>
          <p:nvPr/>
        </p:nvSpPr>
        <p:spPr>
          <a:xfrm>
            <a:off x="2238375" y="3886200"/>
            <a:ext cx="11430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box">
            <a:extLst>
              <a:ext uri="{FF2B5EF4-FFF2-40B4-BE49-F238E27FC236}">
                <a16:creationId xmlns:a16="http://schemas.microsoft.com/office/drawing/2014/main" id="{869254AA-82CF-4A30-995D-F24C4A0A971D}"/>
              </a:ext>
            </a:extLst>
          </p:cNvPr>
          <p:cNvSpPr>
            <a:spLocks noGrp="1"/>
          </p:cNvSpPr>
          <p:nvPr/>
        </p:nvSpPr>
        <p:spPr>
          <a:xfrm>
            <a:off x="3476625" y="2190750"/>
            <a:ext cx="2571750" cy="1905000"/>
          </a:xfrm>
          <a:prstGeom prst="roundRect">
            <a:avLst>
              <a:gd name="adj" fmla="val 4000"/>
            </a:avLst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EBDE678F-A8FA-4A2F-8F6E-4DC7A4A3D996}"/>
              </a:ext>
            </a:extLst>
          </p:cNvPr>
          <p:cNvSpPr>
            <a:spLocks noGrp="1"/>
          </p:cNvSpPr>
          <p:nvPr/>
        </p:nvSpPr>
        <p:spPr>
          <a:xfrm>
            <a:off x="3714750" y="2333625"/>
            <a:ext cx="2095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ORDENAR NO TEMPO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+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CONSTRUIR O ESTADO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+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ASSOCIAR A AÇÃO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728EF37F-B904-409F-9B13-BB3931B4521A}"/>
              </a:ext>
            </a:extLst>
          </p:cNvPr>
          <p:cNvSpPr>
            <a:spLocks noGrp="1"/>
          </p:cNvSpPr>
          <p:nvPr/>
        </p:nvSpPr>
        <p:spPr>
          <a:xfrm>
            <a:off x="4476750" y="4219575"/>
            <a:ext cx="57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↓</a:t>
            </a:r>
          </a:p>
        </p:txBody>
      </p:sp>
      <p:sp>
        <p:nvSpPr>
          <p:cNvPr id="19" name="box">
            <a:extLst>
              <a:ext uri="{FF2B5EF4-FFF2-40B4-BE49-F238E27FC236}">
                <a16:creationId xmlns:a16="http://schemas.microsoft.com/office/drawing/2014/main" id="{5739B861-7C6F-464C-BC8F-CC045307983D}"/>
              </a:ext>
            </a:extLst>
          </p:cNvPr>
          <p:cNvSpPr>
            <a:spLocks noGrp="1"/>
          </p:cNvSpPr>
          <p:nvPr/>
        </p:nvSpPr>
        <p:spPr>
          <a:xfrm>
            <a:off x="3476625" y="4667250"/>
            <a:ext cx="2571750" cy="647700"/>
          </a:xfrm>
          <a:prstGeom prst="roundRect">
            <a:avLst>
              <a:gd name="adj" fmla="val 11765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AF4DFB9F-6050-41E0-9B72-4AC03CC136D6}"/>
              </a:ext>
            </a:extLst>
          </p:cNvPr>
          <p:cNvSpPr>
            <a:spLocks noGrp="1"/>
          </p:cNvSpPr>
          <p:nvPr/>
        </p:nvSpPr>
        <p:spPr>
          <a:xfrm>
            <a:off x="3619500" y="4667250"/>
            <a:ext cx="2286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Sₜ + Aₜ → Sₜ₊₁ + Rₜ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40210BCC-8B6A-4559-B0E8-ED7F9686241E}"/>
              </a:ext>
            </a:extLst>
          </p:cNvPr>
          <p:cNvSpPr>
            <a:spLocks noGrp="1"/>
          </p:cNvSpPr>
          <p:nvPr/>
        </p:nvSpPr>
        <p:spPr>
          <a:xfrm>
            <a:off x="6477000" y="16764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UMA LINHA DE TREINO</a:t>
            </a:r>
          </a:p>
        </p:txBody>
      </p:sp>
      <p:sp>
        <p:nvSpPr>
          <p:cNvPr id="22" name="box">
            <a:extLst>
              <a:ext uri="{FF2B5EF4-FFF2-40B4-BE49-F238E27FC236}">
                <a16:creationId xmlns:a16="http://schemas.microsoft.com/office/drawing/2014/main" id="{0CFE6E57-B921-422A-9031-39C8CA2906D7}"/>
              </a:ext>
            </a:extLst>
          </p:cNvPr>
          <p:cNvSpPr>
            <a:spLocks noGrp="1"/>
          </p:cNvSpPr>
          <p:nvPr/>
        </p:nvSpPr>
        <p:spPr>
          <a:xfrm>
            <a:off x="6477000" y="2143125"/>
            <a:ext cx="571500" cy="428625"/>
          </a:xfrm>
          <a:prstGeom prst="rect">
            <a:avLst/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61FED791-8B1A-4B94-9218-1B80AB9AA76B}"/>
              </a:ext>
            </a:extLst>
          </p:cNvPr>
          <p:cNvSpPr>
            <a:spLocks noGrp="1"/>
          </p:cNvSpPr>
          <p:nvPr/>
        </p:nvSpPr>
        <p:spPr>
          <a:xfrm>
            <a:off x="6524625" y="2143125"/>
            <a:ext cx="47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mês</a:t>
            </a:r>
          </a:p>
        </p:txBody>
      </p:sp>
      <p:sp>
        <p:nvSpPr>
          <p:cNvPr id="24" name="box">
            <a:extLst>
              <a:ext uri="{FF2B5EF4-FFF2-40B4-BE49-F238E27FC236}">
                <a16:creationId xmlns:a16="http://schemas.microsoft.com/office/drawing/2014/main" id="{63F17557-2A8F-470E-BB6A-DB095BB872A9}"/>
              </a:ext>
            </a:extLst>
          </p:cNvPr>
          <p:cNvSpPr>
            <a:spLocks noGrp="1"/>
          </p:cNvSpPr>
          <p:nvPr/>
        </p:nvSpPr>
        <p:spPr>
          <a:xfrm>
            <a:off x="7048500" y="2143125"/>
            <a:ext cx="1047750" cy="428625"/>
          </a:xfrm>
          <a:prstGeom prst="rect">
            <a:avLst/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03E27E59-C1AA-4FEE-B105-82EB4EE8C6EA}"/>
              </a:ext>
            </a:extLst>
          </p:cNvPr>
          <p:cNvSpPr>
            <a:spLocks noGrp="1"/>
          </p:cNvSpPr>
          <p:nvPr/>
        </p:nvSpPr>
        <p:spPr>
          <a:xfrm>
            <a:off x="7096125" y="2143125"/>
            <a:ext cx="95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Sₜ</a:t>
            </a:r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55FBCFA1-6428-4C66-967D-92B05475F4FB}"/>
              </a:ext>
            </a:extLst>
          </p:cNvPr>
          <p:cNvSpPr>
            <a:spLocks noGrp="1"/>
          </p:cNvSpPr>
          <p:nvPr/>
        </p:nvSpPr>
        <p:spPr>
          <a:xfrm>
            <a:off x="8096250" y="2143125"/>
            <a:ext cx="952500" cy="428625"/>
          </a:xfrm>
          <a:prstGeom prst="rect">
            <a:avLst/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F77EE909-5895-4240-97E6-A25AAFCBD423}"/>
              </a:ext>
            </a:extLst>
          </p:cNvPr>
          <p:cNvSpPr>
            <a:spLocks noGrp="1"/>
          </p:cNvSpPr>
          <p:nvPr/>
        </p:nvSpPr>
        <p:spPr>
          <a:xfrm>
            <a:off x="8143875" y="2143125"/>
            <a:ext cx="857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Aₜ</a:t>
            </a:r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09A3C08A-822C-459F-BCAD-107516611A98}"/>
              </a:ext>
            </a:extLst>
          </p:cNvPr>
          <p:cNvSpPr>
            <a:spLocks noGrp="1"/>
          </p:cNvSpPr>
          <p:nvPr/>
        </p:nvSpPr>
        <p:spPr>
          <a:xfrm>
            <a:off x="9048750" y="2143125"/>
            <a:ext cx="1143000" cy="428625"/>
          </a:xfrm>
          <a:prstGeom prst="rect">
            <a:avLst/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A43A104B-6E11-48C6-89E0-9B89E23C83DD}"/>
              </a:ext>
            </a:extLst>
          </p:cNvPr>
          <p:cNvSpPr>
            <a:spLocks noGrp="1"/>
          </p:cNvSpPr>
          <p:nvPr/>
        </p:nvSpPr>
        <p:spPr>
          <a:xfrm>
            <a:off x="9096375" y="2143125"/>
            <a:ext cx="104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produto / preço</a:t>
            </a:r>
          </a:p>
        </p:txBody>
      </p:sp>
      <p:sp>
        <p:nvSpPr>
          <p:cNvPr id="30" name="box">
            <a:extLst>
              <a:ext uri="{FF2B5EF4-FFF2-40B4-BE49-F238E27FC236}">
                <a16:creationId xmlns:a16="http://schemas.microsoft.com/office/drawing/2014/main" id="{043AF6BD-5820-44C5-B7B9-AABCEF4D4EAC}"/>
              </a:ext>
            </a:extLst>
          </p:cNvPr>
          <p:cNvSpPr>
            <a:spLocks noGrp="1"/>
          </p:cNvSpPr>
          <p:nvPr/>
        </p:nvSpPr>
        <p:spPr>
          <a:xfrm>
            <a:off x="10191750" y="2143125"/>
            <a:ext cx="1047750" cy="428625"/>
          </a:xfrm>
          <a:prstGeom prst="rect">
            <a:avLst/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4F38CA40-0AB5-4378-9261-D9ABD8A9100A}"/>
              </a:ext>
            </a:extLst>
          </p:cNvPr>
          <p:cNvSpPr>
            <a:spLocks noGrp="1"/>
          </p:cNvSpPr>
          <p:nvPr/>
        </p:nvSpPr>
        <p:spPr>
          <a:xfrm>
            <a:off x="10239375" y="2143125"/>
            <a:ext cx="95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Sₜ₊₁</a:t>
            </a:r>
          </a:p>
        </p:txBody>
      </p:sp>
      <p:sp>
        <p:nvSpPr>
          <p:cNvPr id="32" name="box">
            <a:extLst>
              <a:ext uri="{FF2B5EF4-FFF2-40B4-BE49-F238E27FC236}">
                <a16:creationId xmlns:a16="http://schemas.microsoft.com/office/drawing/2014/main" id="{3643F185-1809-4098-A8BC-524CA6AF0EC2}"/>
              </a:ext>
            </a:extLst>
          </p:cNvPr>
          <p:cNvSpPr>
            <a:spLocks noGrp="1"/>
          </p:cNvSpPr>
          <p:nvPr/>
        </p:nvSpPr>
        <p:spPr>
          <a:xfrm>
            <a:off x="11239500" y="2143125"/>
            <a:ext cx="571500" cy="428625"/>
          </a:xfrm>
          <a:prstGeom prst="rect">
            <a:avLst/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6E967646-EA2F-419B-9A07-A4C4A214F9B7}"/>
              </a:ext>
            </a:extLst>
          </p:cNvPr>
          <p:cNvSpPr>
            <a:spLocks noGrp="1"/>
          </p:cNvSpPr>
          <p:nvPr/>
        </p:nvSpPr>
        <p:spPr>
          <a:xfrm>
            <a:off x="11287125" y="2143125"/>
            <a:ext cx="47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Rₜ</a:t>
            </a:r>
          </a:p>
        </p:txBody>
      </p:sp>
      <p:sp>
        <p:nvSpPr>
          <p:cNvPr id="34" name="box">
            <a:extLst>
              <a:ext uri="{FF2B5EF4-FFF2-40B4-BE49-F238E27FC236}">
                <a16:creationId xmlns:a16="http://schemas.microsoft.com/office/drawing/2014/main" id="{49F7CFB1-D0AD-495D-9CCF-CBC4395E05DB}"/>
              </a:ext>
            </a:extLst>
          </p:cNvPr>
          <p:cNvSpPr>
            <a:spLocks noGrp="1"/>
          </p:cNvSpPr>
          <p:nvPr/>
        </p:nvSpPr>
        <p:spPr>
          <a:xfrm>
            <a:off x="6477000" y="2571750"/>
            <a:ext cx="571500" cy="742950"/>
          </a:xfrm>
          <a:prstGeom prst="rect">
            <a:avLst/>
          </a:prstGeom>
          <a:solidFill>
            <a:srgbClr val="F0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82822791-DAC1-4514-8AAC-9F2B399E220F}"/>
              </a:ext>
            </a:extLst>
          </p:cNvPr>
          <p:cNvSpPr>
            <a:spLocks noGrp="1"/>
          </p:cNvSpPr>
          <p:nvPr/>
        </p:nvSpPr>
        <p:spPr>
          <a:xfrm>
            <a:off x="6524625" y="2571750"/>
            <a:ext cx="476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jan</a:t>
            </a:r>
          </a:p>
        </p:txBody>
      </p:sp>
      <p:sp>
        <p:nvSpPr>
          <p:cNvPr id="36" name="box">
            <a:extLst>
              <a:ext uri="{FF2B5EF4-FFF2-40B4-BE49-F238E27FC236}">
                <a16:creationId xmlns:a16="http://schemas.microsoft.com/office/drawing/2014/main" id="{2B2E8B39-75AF-4045-8E8B-88B7E0AAA37E}"/>
              </a:ext>
            </a:extLst>
          </p:cNvPr>
          <p:cNvSpPr>
            <a:spLocks noGrp="1"/>
          </p:cNvSpPr>
          <p:nvPr/>
        </p:nvSpPr>
        <p:spPr>
          <a:xfrm>
            <a:off x="7048500" y="2571750"/>
            <a:ext cx="1047750" cy="742950"/>
          </a:xfrm>
          <a:prstGeom prst="rect">
            <a:avLst/>
          </a:prstGeom>
          <a:solidFill>
            <a:srgbClr val="F0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">
            <a:extLst>
              <a:ext uri="{FF2B5EF4-FFF2-40B4-BE49-F238E27FC236}">
                <a16:creationId xmlns:a16="http://schemas.microsoft.com/office/drawing/2014/main" id="{11C7D0DC-244C-4A0A-A065-7B0B85EE6D2C}"/>
              </a:ext>
            </a:extLst>
          </p:cNvPr>
          <p:cNvSpPr>
            <a:spLocks noGrp="1"/>
          </p:cNvSpPr>
          <p:nvPr/>
        </p:nvSpPr>
        <p:spPr>
          <a:xfrm>
            <a:off x="7096125" y="2571750"/>
            <a:ext cx="95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UNAWARE</a:t>
            </a:r>
          </a:p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R$0</a:t>
            </a:r>
          </a:p>
        </p:txBody>
      </p:sp>
      <p:sp>
        <p:nvSpPr>
          <p:cNvPr id="38" name="box">
            <a:extLst>
              <a:ext uri="{FF2B5EF4-FFF2-40B4-BE49-F238E27FC236}">
                <a16:creationId xmlns:a16="http://schemas.microsoft.com/office/drawing/2014/main" id="{191DA000-8E79-490A-9418-A82A63A5C881}"/>
              </a:ext>
            </a:extLst>
          </p:cNvPr>
          <p:cNvSpPr>
            <a:spLocks noGrp="1"/>
          </p:cNvSpPr>
          <p:nvPr/>
        </p:nvSpPr>
        <p:spPr>
          <a:xfrm>
            <a:off x="8096250" y="2571750"/>
            <a:ext cx="952500" cy="742950"/>
          </a:xfrm>
          <a:prstGeom prst="rect">
            <a:avLst/>
          </a:prstGeom>
          <a:solidFill>
            <a:srgbClr val="F0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EBDEF9BC-F11F-4B9C-A1B4-D22B8EC5DC1E}"/>
              </a:ext>
            </a:extLst>
          </p:cNvPr>
          <p:cNvSpPr>
            <a:spLocks noGrp="1"/>
          </p:cNvSpPr>
          <p:nvPr/>
        </p:nvSpPr>
        <p:spPr>
          <a:xfrm>
            <a:off x="8143875" y="2571750"/>
            <a:ext cx="857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CONTACT</a:t>
            </a:r>
          </a:p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BROKER</a:t>
            </a:r>
          </a:p>
        </p:txBody>
      </p:sp>
      <p:sp>
        <p:nvSpPr>
          <p:cNvPr id="40" name="box">
            <a:extLst>
              <a:ext uri="{FF2B5EF4-FFF2-40B4-BE49-F238E27FC236}">
                <a16:creationId xmlns:a16="http://schemas.microsoft.com/office/drawing/2014/main" id="{4C5CD6B3-937B-4FAF-A623-D65F12C2CE4E}"/>
              </a:ext>
            </a:extLst>
          </p:cNvPr>
          <p:cNvSpPr>
            <a:spLocks noGrp="1"/>
          </p:cNvSpPr>
          <p:nvPr/>
        </p:nvSpPr>
        <p:spPr>
          <a:xfrm>
            <a:off x="9048750" y="2571750"/>
            <a:ext cx="1143000" cy="742950"/>
          </a:xfrm>
          <a:prstGeom prst="rect">
            <a:avLst/>
          </a:prstGeom>
          <a:solidFill>
            <a:srgbClr val="F0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">
            <a:extLst>
              <a:ext uri="{FF2B5EF4-FFF2-40B4-BE49-F238E27FC236}">
                <a16:creationId xmlns:a16="http://schemas.microsoft.com/office/drawing/2014/main" id="{5DD11565-08D2-4050-8080-D9FBF346A934}"/>
              </a:ext>
            </a:extLst>
          </p:cNvPr>
          <p:cNvSpPr>
            <a:spLocks noGrp="1"/>
          </p:cNvSpPr>
          <p:nvPr/>
        </p:nvSpPr>
        <p:spPr>
          <a:xfrm>
            <a:off x="9096375" y="2571750"/>
            <a:ext cx="1047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—</a:t>
            </a:r>
          </a:p>
        </p:txBody>
      </p:sp>
      <p:sp>
        <p:nvSpPr>
          <p:cNvPr id="42" name="box">
            <a:extLst>
              <a:ext uri="{FF2B5EF4-FFF2-40B4-BE49-F238E27FC236}">
                <a16:creationId xmlns:a16="http://schemas.microsoft.com/office/drawing/2014/main" id="{F6BD76BA-4905-4CCD-9671-F69FC3CF0B02}"/>
              </a:ext>
            </a:extLst>
          </p:cNvPr>
          <p:cNvSpPr>
            <a:spLocks noGrp="1"/>
          </p:cNvSpPr>
          <p:nvPr/>
        </p:nvSpPr>
        <p:spPr>
          <a:xfrm>
            <a:off x="10191750" y="2571750"/>
            <a:ext cx="1047750" cy="742950"/>
          </a:xfrm>
          <a:prstGeom prst="rect">
            <a:avLst/>
          </a:prstGeom>
          <a:solidFill>
            <a:srgbClr val="F0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">
            <a:extLst>
              <a:ext uri="{FF2B5EF4-FFF2-40B4-BE49-F238E27FC236}">
                <a16:creationId xmlns:a16="http://schemas.microsoft.com/office/drawing/2014/main" id="{CAC8A025-85CD-4295-AB58-79B6047A200D}"/>
              </a:ext>
            </a:extLst>
          </p:cNvPr>
          <p:cNvSpPr>
            <a:spLocks noGrp="1"/>
          </p:cNvSpPr>
          <p:nvPr/>
        </p:nvSpPr>
        <p:spPr>
          <a:xfrm>
            <a:off x="10239375" y="2571750"/>
            <a:ext cx="95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INTERESTED</a:t>
            </a:r>
          </a:p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R$0</a:t>
            </a:r>
          </a:p>
        </p:txBody>
      </p:sp>
      <p:sp>
        <p:nvSpPr>
          <p:cNvPr id="44" name="box">
            <a:extLst>
              <a:ext uri="{FF2B5EF4-FFF2-40B4-BE49-F238E27FC236}">
                <a16:creationId xmlns:a16="http://schemas.microsoft.com/office/drawing/2014/main" id="{E21F6D1B-54D8-440C-89A9-84301C90C65D}"/>
              </a:ext>
            </a:extLst>
          </p:cNvPr>
          <p:cNvSpPr>
            <a:spLocks noGrp="1"/>
          </p:cNvSpPr>
          <p:nvPr/>
        </p:nvSpPr>
        <p:spPr>
          <a:xfrm>
            <a:off x="11239500" y="2571750"/>
            <a:ext cx="571500" cy="742950"/>
          </a:xfrm>
          <a:prstGeom prst="rect">
            <a:avLst/>
          </a:prstGeom>
          <a:solidFill>
            <a:srgbClr val="F0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">
            <a:extLst>
              <a:ext uri="{FF2B5EF4-FFF2-40B4-BE49-F238E27FC236}">
                <a16:creationId xmlns:a16="http://schemas.microsoft.com/office/drawing/2014/main" id="{83259923-4D57-4697-95CE-6B5109EC9CDB}"/>
              </a:ext>
            </a:extLst>
          </p:cNvPr>
          <p:cNvSpPr>
            <a:spLocks noGrp="1"/>
          </p:cNvSpPr>
          <p:nvPr/>
        </p:nvSpPr>
        <p:spPr>
          <a:xfrm>
            <a:off x="11287125" y="2571750"/>
            <a:ext cx="476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−5,00</a:t>
            </a:r>
          </a:p>
        </p:txBody>
      </p:sp>
      <p:sp>
        <p:nvSpPr>
          <p:cNvPr id="46" name="box">
            <a:extLst>
              <a:ext uri="{FF2B5EF4-FFF2-40B4-BE49-F238E27FC236}">
                <a16:creationId xmlns:a16="http://schemas.microsoft.com/office/drawing/2014/main" id="{C4E525E5-69EB-4A1A-98BB-A8366DB31815}"/>
              </a:ext>
            </a:extLst>
          </p:cNvPr>
          <p:cNvSpPr>
            <a:spLocks noGrp="1"/>
          </p:cNvSpPr>
          <p:nvPr/>
        </p:nvSpPr>
        <p:spPr>
          <a:xfrm>
            <a:off x="6477000" y="3314700"/>
            <a:ext cx="571500" cy="742950"/>
          </a:xfrm>
          <a:prstGeom prst="rect">
            <a:avLst/>
          </a:prstGeom>
          <a:solidFill>
            <a:srgbClr val="D0EDF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">
            <a:extLst>
              <a:ext uri="{FF2B5EF4-FFF2-40B4-BE49-F238E27FC236}">
                <a16:creationId xmlns:a16="http://schemas.microsoft.com/office/drawing/2014/main" id="{3468ADFE-2E26-4484-9B3C-F620A1ECFD7C}"/>
              </a:ext>
            </a:extLst>
          </p:cNvPr>
          <p:cNvSpPr>
            <a:spLocks noGrp="1"/>
          </p:cNvSpPr>
          <p:nvPr/>
        </p:nvSpPr>
        <p:spPr>
          <a:xfrm>
            <a:off x="6524625" y="3314700"/>
            <a:ext cx="476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fev</a:t>
            </a:r>
          </a:p>
        </p:txBody>
      </p:sp>
      <p:sp>
        <p:nvSpPr>
          <p:cNvPr id="48" name="box">
            <a:extLst>
              <a:ext uri="{FF2B5EF4-FFF2-40B4-BE49-F238E27FC236}">
                <a16:creationId xmlns:a16="http://schemas.microsoft.com/office/drawing/2014/main" id="{D8BA7D47-C8ED-442E-AFD7-5D1BFDC1C320}"/>
              </a:ext>
            </a:extLst>
          </p:cNvPr>
          <p:cNvSpPr>
            <a:spLocks noGrp="1"/>
          </p:cNvSpPr>
          <p:nvPr/>
        </p:nvSpPr>
        <p:spPr>
          <a:xfrm>
            <a:off x="7048500" y="3314700"/>
            <a:ext cx="1047750" cy="742950"/>
          </a:xfrm>
          <a:prstGeom prst="rect">
            <a:avLst/>
          </a:prstGeom>
          <a:solidFill>
            <a:srgbClr val="D0EDF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">
            <a:extLst>
              <a:ext uri="{FF2B5EF4-FFF2-40B4-BE49-F238E27FC236}">
                <a16:creationId xmlns:a16="http://schemas.microsoft.com/office/drawing/2014/main" id="{8A7AA2B8-BF68-4A79-BA1D-FD48F4C75CF6}"/>
              </a:ext>
            </a:extLst>
          </p:cNvPr>
          <p:cNvSpPr>
            <a:spLocks noGrp="1"/>
          </p:cNvSpPr>
          <p:nvPr/>
        </p:nvSpPr>
        <p:spPr>
          <a:xfrm>
            <a:off x="7096125" y="3314700"/>
            <a:ext cx="95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INTERESTED</a:t>
            </a:r>
          </a:p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R$0</a:t>
            </a:r>
          </a:p>
        </p:txBody>
      </p:sp>
      <p:sp>
        <p:nvSpPr>
          <p:cNvPr id="50" name="box">
            <a:extLst>
              <a:ext uri="{FF2B5EF4-FFF2-40B4-BE49-F238E27FC236}">
                <a16:creationId xmlns:a16="http://schemas.microsoft.com/office/drawing/2014/main" id="{76361E09-291D-44D7-A19B-48B0033F0B0B}"/>
              </a:ext>
            </a:extLst>
          </p:cNvPr>
          <p:cNvSpPr>
            <a:spLocks noGrp="1"/>
          </p:cNvSpPr>
          <p:nvPr/>
        </p:nvSpPr>
        <p:spPr>
          <a:xfrm>
            <a:off x="8096250" y="3314700"/>
            <a:ext cx="952500" cy="742950"/>
          </a:xfrm>
          <a:prstGeom prst="rect">
            <a:avLst/>
          </a:prstGeom>
          <a:solidFill>
            <a:srgbClr val="D0EDF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">
            <a:extLst>
              <a:ext uri="{FF2B5EF4-FFF2-40B4-BE49-F238E27FC236}">
                <a16:creationId xmlns:a16="http://schemas.microsoft.com/office/drawing/2014/main" id="{8EF68B9C-5167-4487-AD41-E1794A253DA4}"/>
              </a:ext>
            </a:extLst>
          </p:cNvPr>
          <p:cNvSpPr>
            <a:spLocks noGrp="1"/>
          </p:cNvSpPr>
          <p:nvPr/>
        </p:nvSpPr>
        <p:spPr>
          <a:xfrm>
            <a:off x="8143875" y="3314700"/>
            <a:ext cx="857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OFFER</a:t>
            </a:r>
          </a:p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PRODUCT</a:t>
            </a:r>
          </a:p>
        </p:txBody>
      </p:sp>
      <p:sp>
        <p:nvSpPr>
          <p:cNvPr id="52" name="box">
            <a:extLst>
              <a:ext uri="{FF2B5EF4-FFF2-40B4-BE49-F238E27FC236}">
                <a16:creationId xmlns:a16="http://schemas.microsoft.com/office/drawing/2014/main" id="{BAB2E560-38EE-4495-B085-F9E344AAAC11}"/>
              </a:ext>
            </a:extLst>
          </p:cNvPr>
          <p:cNvSpPr>
            <a:spLocks noGrp="1"/>
          </p:cNvSpPr>
          <p:nvPr/>
        </p:nvSpPr>
        <p:spPr>
          <a:xfrm>
            <a:off x="9048750" y="3314700"/>
            <a:ext cx="1143000" cy="742950"/>
          </a:xfrm>
          <a:prstGeom prst="rect">
            <a:avLst/>
          </a:prstGeom>
          <a:solidFill>
            <a:srgbClr val="D0EDF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">
            <a:extLst>
              <a:ext uri="{FF2B5EF4-FFF2-40B4-BE49-F238E27FC236}">
                <a16:creationId xmlns:a16="http://schemas.microsoft.com/office/drawing/2014/main" id="{53C825DC-48F8-4945-B96D-AED55B002D9E}"/>
              </a:ext>
            </a:extLst>
          </p:cNvPr>
          <p:cNvSpPr>
            <a:spLocks noGrp="1"/>
          </p:cNvSpPr>
          <p:nvPr/>
        </p:nvSpPr>
        <p:spPr>
          <a:xfrm>
            <a:off x="9096375" y="3314700"/>
            <a:ext cx="1047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HOME</a:t>
            </a:r>
          </a:p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R$55 • −17%</a:t>
            </a:r>
          </a:p>
        </p:txBody>
      </p:sp>
      <p:sp>
        <p:nvSpPr>
          <p:cNvPr id="54" name="box">
            <a:extLst>
              <a:ext uri="{FF2B5EF4-FFF2-40B4-BE49-F238E27FC236}">
                <a16:creationId xmlns:a16="http://schemas.microsoft.com/office/drawing/2014/main" id="{D19AA7C1-8E3A-44A2-8F0C-B36EF946DB3D}"/>
              </a:ext>
            </a:extLst>
          </p:cNvPr>
          <p:cNvSpPr>
            <a:spLocks noGrp="1"/>
          </p:cNvSpPr>
          <p:nvPr/>
        </p:nvSpPr>
        <p:spPr>
          <a:xfrm>
            <a:off x="10191750" y="3314700"/>
            <a:ext cx="1047750" cy="742950"/>
          </a:xfrm>
          <a:prstGeom prst="rect">
            <a:avLst/>
          </a:prstGeom>
          <a:solidFill>
            <a:srgbClr val="D0EDF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">
            <a:extLst>
              <a:ext uri="{FF2B5EF4-FFF2-40B4-BE49-F238E27FC236}">
                <a16:creationId xmlns:a16="http://schemas.microsoft.com/office/drawing/2014/main" id="{0D1828B5-6041-4FEC-889B-4CD813EB8F6A}"/>
              </a:ext>
            </a:extLst>
          </p:cNvPr>
          <p:cNvSpPr>
            <a:spLocks noGrp="1"/>
          </p:cNvSpPr>
          <p:nvPr/>
        </p:nvSpPr>
        <p:spPr>
          <a:xfrm>
            <a:off x="10239375" y="3314700"/>
            <a:ext cx="95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CUSTOMER</a:t>
            </a:r>
          </a:p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R$45,65</a:t>
            </a:r>
          </a:p>
        </p:txBody>
      </p:sp>
      <p:sp>
        <p:nvSpPr>
          <p:cNvPr id="56" name="box">
            <a:extLst>
              <a:ext uri="{FF2B5EF4-FFF2-40B4-BE49-F238E27FC236}">
                <a16:creationId xmlns:a16="http://schemas.microsoft.com/office/drawing/2014/main" id="{7778C959-D875-4661-A42C-94430FC7F1D4}"/>
              </a:ext>
            </a:extLst>
          </p:cNvPr>
          <p:cNvSpPr>
            <a:spLocks noGrp="1"/>
          </p:cNvSpPr>
          <p:nvPr/>
        </p:nvSpPr>
        <p:spPr>
          <a:xfrm>
            <a:off x="11239500" y="3314700"/>
            <a:ext cx="571500" cy="742950"/>
          </a:xfrm>
          <a:prstGeom prst="rect">
            <a:avLst/>
          </a:prstGeom>
          <a:solidFill>
            <a:srgbClr val="D0EDF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">
            <a:extLst>
              <a:ext uri="{FF2B5EF4-FFF2-40B4-BE49-F238E27FC236}">
                <a16:creationId xmlns:a16="http://schemas.microsoft.com/office/drawing/2014/main" id="{9A554F77-6F6D-477D-8C90-4D944F2B6BD2}"/>
              </a:ext>
            </a:extLst>
          </p:cNvPr>
          <p:cNvSpPr>
            <a:spLocks noGrp="1"/>
          </p:cNvSpPr>
          <p:nvPr/>
        </p:nvSpPr>
        <p:spPr>
          <a:xfrm>
            <a:off x="11287125" y="3314700"/>
            <a:ext cx="476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+7,65</a:t>
            </a:r>
          </a:p>
        </p:txBody>
      </p:sp>
      <p:sp>
        <p:nvSpPr>
          <p:cNvPr id="58" name="box">
            <a:extLst>
              <a:ext uri="{FF2B5EF4-FFF2-40B4-BE49-F238E27FC236}">
                <a16:creationId xmlns:a16="http://schemas.microsoft.com/office/drawing/2014/main" id="{E052FA72-4CC3-4E86-A978-4DBC135E219D}"/>
              </a:ext>
            </a:extLst>
          </p:cNvPr>
          <p:cNvSpPr>
            <a:spLocks noGrp="1"/>
          </p:cNvSpPr>
          <p:nvPr/>
        </p:nvSpPr>
        <p:spPr>
          <a:xfrm>
            <a:off x="6477000" y="4057650"/>
            <a:ext cx="571500" cy="742950"/>
          </a:xfrm>
          <a:prstGeom prst="rect">
            <a:avLst/>
          </a:prstGeom>
          <a:solidFill>
            <a:srgbClr val="F0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">
            <a:extLst>
              <a:ext uri="{FF2B5EF4-FFF2-40B4-BE49-F238E27FC236}">
                <a16:creationId xmlns:a16="http://schemas.microsoft.com/office/drawing/2014/main" id="{49F0C916-0454-4AB2-AEBD-1A0079086CE2}"/>
              </a:ext>
            </a:extLst>
          </p:cNvPr>
          <p:cNvSpPr>
            <a:spLocks noGrp="1"/>
          </p:cNvSpPr>
          <p:nvPr/>
        </p:nvSpPr>
        <p:spPr>
          <a:xfrm>
            <a:off x="6524625" y="4057650"/>
            <a:ext cx="476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mar</a:t>
            </a:r>
          </a:p>
        </p:txBody>
      </p:sp>
      <p:sp>
        <p:nvSpPr>
          <p:cNvPr id="60" name="box">
            <a:extLst>
              <a:ext uri="{FF2B5EF4-FFF2-40B4-BE49-F238E27FC236}">
                <a16:creationId xmlns:a16="http://schemas.microsoft.com/office/drawing/2014/main" id="{4327F3A5-1BFA-4719-9EBE-B516110B1522}"/>
              </a:ext>
            </a:extLst>
          </p:cNvPr>
          <p:cNvSpPr>
            <a:spLocks noGrp="1"/>
          </p:cNvSpPr>
          <p:nvPr/>
        </p:nvSpPr>
        <p:spPr>
          <a:xfrm>
            <a:off x="7048500" y="4057650"/>
            <a:ext cx="1047750" cy="742950"/>
          </a:xfrm>
          <a:prstGeom prst="rect">
            <a:avLst/>
          </a:prstGeom>
          <a:solidFill>
            <a:srgbClr val="F0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">
            <a:extLst>
              <a:ext uri="{FF2B5EF4-FFF2-40B4-BE49-F238E27FC236}">
                <a16:creationId xmlns:a16="http://schemas.microsoft.com/office/drawing/2014/main" id="{CB159791-8848-482F-901E-A8DB007449DA}"/>
              </a:ext>
            </a:extLst>
          </p:cNvPr>
          <p:cNvSpPr>
            <a:spLocks noGrp="1"/>
          </p:cNvSpPr>
          <p:nvPr/>
        </p:nvSpPr>
        <p:spPr>
          <a:xfrm>
            <a:off x="7096125" y="4057650"/>
            <a:ext cx="95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CUSTOMER</a:t>
            </a:r>
          </a:p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R$45,65</a:t>
            </a:r>
          </a:p>
        </p:txBody>
      </p:sp>
      <p:sp>
        <p:nvSpPr>
          <p:cNvPr id="62" name="box">
            <a:extLst>
              <a:ext uri="{FF2B5EF4-FFF2-40B4-BE49-F238E27FC236}">
                <a16:creationId xmlns:a16="http://schemas.microsoft.com/office/drawing/2014/main" id="{A8D40E51-4025-4412-863B-64CEC2E2F96D}"/>
              </a:ext>
            </a:extLst>
          </p:cNvPr>
          <p:cNvSpPr>
            <a:spLocks noGrp="1"/>
          </p:cNvSpPr>
          <p:nvPr/>
        </p:nvSpPr>
        <p:spPr>
          <a:xfrm>
            <a:off x="8096250" y="4057650"/>
            <a:ext cx="952500" cy="742950"/>
          </a:xfrm>
          <a:prstGeom prst="rect">
            <a:avLst/>
          </a:prstGeom>
          <a:solidFill>
            <a:srgbClr val="F0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">
            <a:extLst>
              <a:ext uri="{FF2B5EF4-FFF2-40B4-BE49-F238E27FC236}">
                <a16:creationId xmlns:a16="http://schemas.microsoft.com/office/drawing/2014/main" id="{EF823DD8-4923-47A4-9CCE-212BCF2DF7DC}"/>
              </a:ext>
            </a:extLst>
          </p:cNvPr>
          <p:cNvSpPr>
            <a:spLocks noGrp="1"/>
          </p:cNvSpPr>
          <p:nvPr/>
        </p:nvSpPr>
        <p:spPr>
          <a:xfrm>
            <a:off x="8143875" y="4057650"/>
            <a:ext cx="857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SEND</a:t>
            </a:r>
          </a:p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MESSAGE</a:t>
            </a:r>
          </a:p>
        </p:txBody>
      </p:sp>
      <p:sp>
        <p:nvSpPr>
          <p:cNvPr id="64" name="box">
            <a:extLst>
              <a:ext uri="{FF2B5EF4-FFF2-40B4-BE49-F238E27FC236}">
                <a16:creationId xmlns:a16="http://schemas.microsoft.com/office/drawing/2014/main" id="{48057EE3-AABF-4FCF-9CA6-3F9C984DE16D}"/>
              </a:ext>
            </a:extLst>
          </p:cNvPr>
          <p:cNvSpPr>
            <a:spLocks noGrp="1"/>
          </p:cNvSpPr>
          <p:nvPr/>
        </p:nvSpPr>
        <p:spPr>
          <a:xfrm>
            <a:off x="9048750" y="4057650"/>
            <a:ext cx="1143000" cy="742950"/>
          </a:xfrm>
          <a:prstGeom prst="rect">
            <a:avLst/>
          </a:prstGeom>
          <a:solidFill>
            <a:srgbClr val="F0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">
            <a:extLst>
              <a:ext uri="{FF2B5EF4-FFF2-40B4-BE49-F238E27FC236}">
                <a16:creationId xmlns:a16="http://schemas.microsoft.com/office/drawing/2014/main" id="{C23B18C5-A3B7-4468-90F0-48DC38635ABC}"/>
              </a:ext>
            </a:extLst>
          </p:cNvPr>
          <p:cNvSpPr>
            <a:spLocks noGrp="1"/>
          </p:cNvSpPr>
          <p:nvPr/>
        </p:nvSpPr>
        <p:spPr>
          <a:xfrm>
            <a:off x="9096375" y="4057650"/>
            <a:ext cx="1047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—</a:t>
            </a:r>
          </a:p>
        </p:txBody>
      </p:sp>
      <p:sp>
        <p:nvSpPr>
          <p:cNvPr id="66" name="box">
            <a:extLst>
              <a:ext uri="{FF2B5EF4-FFF2-40B4-BE49-F238E27FC236}">
                <a16:creationId xmlns:a16="http://schemas.microsoft.com/office/drawing/2014/main" id="{3D4C3320-8422-47F9-99A2-D4BFB4D7F870}"/>
              </a:ext>
            </a:extLst>
          </p:cNvPr>
          <p:cNvSpPr>
            <a:spLocks noGrp="1"/>
          </p:cNvSpPr>
          <p:nvPr/>
        </p:nvSpPr>
        <p:spPr>
          <a:xfrm>
            <a:off x="10191750" y="4057650"/>
            <a:ext cx="1047750" cy="742950"/>
          </a:xfrm>
          <a:prstGeom prst="rect">
            <a:avLst/>
          </a:prstGeom>
          <a:solidFill>
            <a:srgbClr val="F0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">
            <a:extLst>
              <a:ext uri="{FF2B5EF4-FFF2-40B4-BE49-F238E27FC236}">
                <a16:creationId xmlns:a16="http://schemas.microsoft.com/office/drawing/2014/main" id="{51515971-81F0-4624-BCAD-953AC1D8930F}"/>
              </a:ext>
            </a:extLst>
          </p:cNvPr>
          <p:cNvSpPr>
            <a:spLocks noGrp="1"/>
          </p:cNvSpPr>
          <p:nvPr/>
        </p:nvSpPr>
        <p:spPr>
          <a:xfrm>
            <a:off x="10239375" y="4057650"/>
            <a:ext cx="95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INTERESTED</a:t>
            </a:r>
          </a:p>
          <a:p>
            <a:pPr algn="ctr">
              <a:defRPr sz="1050" b="0">
                <a:solidFill>
                  <a:srgbClr val="111318"/>
                </a:solidFill>
              </a:defRPr>
            </a:pPr>
            <a:r>
              <a:rPr sz="1050" b="0">
                <a:solidFill>
                  <a:srgbClr val="111318"/>
                </a:solidFill>
              </a:rPr>
              <a:t>R$45,65</a:t>
            </a:r>
          </a:p>
        </p:txBody>
      </p:sp>
      <p:sp>
        <p:nvSpPr>
          <p:cNvPr id="68" name="box">
            <a:extLst>
              <a:ext uri="{FF2B5EF4-FFF2-40B4-BE49-F238E27FC236}">
                <a16:creationId xmlns:a16="http://schemas.microsoft.com/office/drawing/2014/main" id="{A6CD07F1-C815-463A-A65C-C63DA98ADAA0}"/>
              </a:ext>
            </a:extLst>
          </p:cNvPr>
          <p:cNvSpPr>
            <a:spLocks noGrp="1"/>
          </p:cNvSpPr>
          <p:nvPr/>
        </p:nvSpPr>
        <p:spPr>
          <a:xfrm>
            <a:off x="11239500" y="4057650"/>
            <a:ext cx="571500" cy="742950"/>
          </a:xfrm>
          <a:prstGeom prst="rect">
            <a:avLst/>
          </a:prstGeom>
          <a:solidFill>
            <a:srgbClr val="F0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text">
            <a:extLst>
              <a:ext uri="{FF2B5EF4-FFF2-40B4-BE49-F238E27FC236}">
                <a16:creationId xmlns:a16="http://schemas.microsoft.com/office/drawing/2014/main" id="{E954389C-FE65-45EF-B2EA-2C97404D0AB7}"/>
              </a:ext>
            </a:extLst>
          </p:cNvPr>
          <p:cNvSpPr>
            <a:spLocks noGrp="1"/>
          </p:cNvSpPr>
          <p:nvPr/>
        </p:nvSpPr>
        <p:spPr>
          <a:xfrm>
            <a:off x="11287125" y="4057650"/>
            <a:ext cx="476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−1,00</a:t>
            </a:r>
          </a:p>
        </p:txBody>
      </p:sp>
      <p:sp>
        <p:nvSpPr>
          <p:cNvPr id="70" name="text">
            <a:extLst>
              <a:ext uri="{FF2B5EF4-FFF2-40B4-BE49-F238E27FC236}">
                <a16:creationId xmlns:a16="http://schemas.microsoft.com/office/drawing/2014/main" id="{88F78B01-706A-4652-9E0A-7C6C617CE979}"/>
              </a:ext>
            </a:extLst>
          </p:cNvPr>
          <p:cNvSpPr>
            <a:spLocks noGrp="1"/>
          </p:cNvSpPr>
          <p:nvPr/>
        </p:nvSpPr>
        <p:spPr>
          <a:xfrm>
            <a:off x="6477000" y="4953000"/>
            <a:ext cx="495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A linha completa preserva 32 campos: IDs, timestamp, estado observável, ação, probabilidades/eventos, próximo estado, reward e terminal.</a:t>
            </a:r>
          </a:p>
        </p:txBody>
      </p:sp>
      <p:sp>
        <p:nvSpPr>
          <p:cNvPr id="71" name="box">
            <a:extLst>
              <a:ext uri="{FF2B5EF4-FFF2-40B4-BE49-F238E27FC236}">
                <a16:creationId xmlns:a16="http://schemas.microsoft.com/office/drawing/2014/main" id="{0385985B-1180-4851-AC12-2CDD537607A6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11029950" cy="400050"/>
          </a:xfrm>
          <a:prstGeom prst="roundRect">
            <a:avLst>
              <a:gd name="adj" fmla="val 19048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text">
            <a:extLst>
              <a:ext uri="{FF2B5EF4-FFF2-40B4-BE49-F238E27FC236}">
                <a16:creationId xmlns:a16="http://schemas.microsoft.com/office/drawing/2014/main" id="{1942AE3A-5F94-4B72-B16D-A48063EF3F5D}"/>
              </a:ext>
            </a:extLst>
          </p:cNvPr>
          <p:cNvSpPr>
            <a:spLocks noGrp="1"/>
          </p:cNvSpPr>
          <p:nvPr/>
        </p:nvSpPr>
        <p:spPr>
          <a:xfrm>
            <a:off x="590550" y="58102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Cuidados: usar apenas informação disponível em t • evitar vazamento • tratar categorias • normalizar números • dividir por cliente e/ou tempo</a:t>
            </a:r>
          </a:p>
        </p:txBody>
      </p:sp>
    </p:spTree>
    <p:extLst>
      <p:ext uri="{BB962C8B-B14F-4D97-AF65-F5344CB8AC3E}">
        <p14:creationId xmlns:p14="http://schemas.microsoft.com/office/powerpoint/2010/main" val="1660367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">
            <a:extLst>
              <a:ext uri="{FF2B5EF4-FFF2-40B4-BE49-F238E27FC236}">
                <a16:creationId xmlns:a16="http://schemas.microsoft.com/office/drawing/2014/main" id="{04F4097C-09B7-4D47-85FB-E265AA48F6C4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9DA2353-C4C3-4767-8B37-51081AB3B9C0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O world model combina encoders separados, dinâmica latente e saídas especializadas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C364FA5F-E25B-4514-BC26-E825A14BB7F5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488D465-2E8A-4D92-BB40-C1D19902E68F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08</a:t>
            </a:r>
          </a:p>
        </p:txBody>
      </p:sp>
      <p:sp>
        <p:nvSpPr>
          <p:cNvPr id="5" name="rule">
            <a:extLst>
              <a:ext uri="{FF2B5EF4-FFF2-40B4-BE49-F238E27FC236}">
                <a16:creationId xmlns:a16="http://schemas.microsoft.com/office/drawing/2014/main" id="{C92D2A9C-5A76-4512-9B5F-03169FE7F049}"/>
              </a:ext>
            </a:extLst>
          </p:cNvPr>
          <p:cNvSpPr>
            <a:spLocks noGrp="1"/>
          </p:cNvSpPr>
          <p:nvPr/>
        </p:nvSpPr>
        <p:spPr>
          <a:xfrm>
            <a:off x="1952625" y="2952750"/>
            <a:ext cx="104775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ule">
            <a:extLst>
              <a:ext uri="{FF2B5EF4-FFF2-40B4-BE49-F238E27FC236}">
                <a16:creationId xmlns:a16="http://schemas.microsoft.com/office/drawing/2014/main" id="{3030EDC1-7D13-4A0C-8561-5664D07D60C9}"/>
              </a:ext>
            </a:extLst>
          </p:cNvPr>
          <p:cNvSpPr>
            <a:spLocks noGrp="1"/>
          </p:cNvSpPr>
          <p:nvPr/>
        </p:nvSpPr>
        <p:spPr>
          <a:xfrm>
            <a:off x="4238625" y="2952750"/>
            <a:ext cx="104775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ule">
            <a:extLst>
              <a:ext uri="{FF2B5EF4-FFF2-40B4-BE49-F238E27FC236}">
                <a16:creationId xmlns:a16="http://schemas.microsoft.com/office/drawing/2014/main" id="{9DE27B5D-9DA3-4BE4-99C0-1D0F999CF7D0}"/>
              </a:ext>
            </a:extLst>
          </p:cNvPr>
          <p:cNvSpPr>
            <a:spLocks noGrp="1"/>
          </p:cNvSpPr>
          <p:nvPr/>
        </p:nvSpPr>
        <p:spPr>
          <a:xfrm>
            <a:off x="6524625" y="2952750"/>
            <a:ext cx="104775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ule">
            <a:extLst>
              <a:ext uri="{FF2B5EF4-FFF2-40B4-BE49-F238E27FC236}">
                <a16:creationId xmlns:a16="http://schemas.microsoft.com/office/drawing/2014/main" id="{661DE1A4-0B4E-4DB2-8998-33426148E2BD}"/>
              </a:ext>
            </a:extLst>
          </p:cNvPr>
          <p:cNvSpPr>
            <a:spLocks noGrp="1"/>
          </p:cNvSpPr>
          <p:nvPr/>
        </p:nvSpPr>
        <p:spPr>
          <a:xfrm>
            <a:off x="8810625" y="2952750"/>
            <a:ext cx="104775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EB55F8D9-296E-4884-A9D9-F94B89902437}"/>
              </a:ext>
            </a:extLst>
          </p:cNvPr>
          <p:cNvSpPr>
            <a:spLocks noGrp="1"/>
          </p:cNvSpPr>
          <p:nvPr/>
        </p:nvSpPr>
        <p:spPr>
          <a:xfrm>
            <a:off x="523875" y="2095500"/>
            <a:ext cx="1809750" cy="1714500"/>
          </a:xfrm>
          <a:prstGeom prst="roundRect">
            <a:avLst>
              <a:gd name="adj" fmla="val 4444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A3A4F11-D49A-43BB-BD6C-DA4500A79D5A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Estado observável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E1DD1CFD-BBFB-4E11-993A-BBAFF6F74025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06772"/>
                </a:solidFill>
              </a:defRPr>
            </a:pPr>
            <a:r>
              <a:rPr sz="1125" b="0">
                <a:solidFill>
                  <a:srgbClr val="606772"/>
                </a:solidFill>
              </a:rPr>
              <a:t>idade • apólices • sinistros</a:t>
            </a:r>
          </a:p>
          <a:p>
            <a:pPr algn="ctr">
              <a:defRPr sz="1125" b="0">
                <a:solidFill>
                  <a:srgbClr val="606772"/>
                </a:solidFill>
              </a:defRPr>
            </a:pPr>
            <a:r>
              <a:rPr sz="1125" b="0">
                <a:solidFill>
                  <a:srgbClr val="606772"/>
                </a:solidFill>
              </a:rPr>
              <a:t>prêmio • engajamento • jornada</a:t>
            </a:r>
          </a:p>
        </p:txBody>
      </p:sp>
      <p:sp>
        <p:nvSpPr>
          <p:cNvPr id="12" name="box">
            <a:extLst>
              <a:ext uri="{FF2B5EF4-FFF2-40B4-BE49-F238E27FC236}">
                <a16:creationId xmlns:a16="http://schemas.microsoft.com/office/drawing/2014/main" id="{C870300F-D6CC-4767-963C-CDB4A6AF816B}"/>
              </a:ext>
            </a:extLst>
          </p:cNvPr>
          <p:cNvSpPr>
            <a:spLocks noGrp="1"/>
          </p:cNvSpPr>
          <p:nvPr/>
        </p:nvSpPr>
        <p:spPr>
          <a:xfrm>
            <a:off x="2809875" y="2095500"/>
            <a:ext cx="1809750" cy="1714500"/>
          </a:xfrm>
          <a:prstGeom prst="roundRect">
            <a:avLst>
              <a:gd name="adj" fmla="val 4444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2A3564E-2C8F-43B7-9570-41E5209B0DF9}"/>
              </a:ext>
            </a:extLst>
          </p:cNvPr>
          <p:cNvSpPr>
            <a:spLocks noGrp="1"/>
          </p:cNvSpPr>
          <p:nvPr/>
        </p:nvSpPr>
        <p:spPr>
          <a:xfrm>
            <a:off x="2952750" y="22669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State + Action</a:t>
            </a:r>
          </a:p>
          <a:p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Encoders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7333874-49EE-4428-903E-F34759B0AEC6}"/>
              </a:ext>
            </a:extLst>
          </p:cNvPr>
          <p:cNvSpPr>
            <a:spLocks noGrp="1"/>
          </p:cNvSpPr>
          <p:nvPr/>
        </p:nvSpPr>
        <p:spPr>
          <a:xfrm>
            <a:off x="2952750" y="29527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06772"/>
                </a:solidFill>
              </a:defRPr>
            </a:pPr>
            <a:r>
              <a:rPr sz="1125" b="0">
                <a:solidFill>
                  <a:srgbClr val="606772"/>
                </a:solidFill>
              </a:rPr>
              <a:t>normalização + one-hot</a:t>
            </a:r>
          </a:p>
          <a:p>
            <a:pPr algn="ctr">
              <a:defRPr sz="1125" b="0">
                <a:solidFill>
                  <a:srgbClr val="606772"/>
                </a:solidFill>
              </a:defRPr>
            </a:pPr>
            <a:r>
              <a:rPr sz="1125" b="0">
                <a:solidFill>
                  <a:srgbClr val="606772"/>
                </a:solidFill>
              </a:rPr>
              <a:t>representações separadas</a:t>
            </a:r>
          </a:p>
        </p:txBody>
      </p:sp>
      <p:sp>
        <p:nvSpPr>
          <p:cNvPr id="15" name="box">
            <a:extLst>
              <a:ext uri="{FF2B5EF4-FFF2-40B4-BE49-F238E27FC236}">
                <a16:creationId xmlns:a16="http://schemas.microsoft.com/office/drawing/2014/main" id="{21F6FA01-07B9-454F-BB05-73FE4837BDDE}"/>
              </a:ext>
            </a:extLst>
          </p:cNvPr>
          <p:cNvSpPr>
            <a:spLocks noGrp="1"/>
          </p:cNvSpPr>
          <p:nvPr/>
        </p:nvSpPr>
        <p:spPr>
          <a:xfrm>
            <a:off x="5095875" y="2095500"/>
            <a:ext cx="1809750" cy="1714500"/>
          </a:xfrm>
          <a:prstGeom prst="roundRect">
            <a:avLst>
              <a:gd name="adj" fmla="val 4444"/>
            </a:avLst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559D7C3E-5552-4C13-A6E3-E5414F304344}"/>
              </a:ext>
            </a:extLst>
          </p:cNvPr>
          <p:cNvSpPr>
            <a:spLocks noGrp="1"/>
          </p:cNvSpPr>
          <p:nvPr/>
        </p:nvSpPr>
        <p:spPr>
          <a:xfrm>
            <a:off x="5238750" y="22669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Dynamics Model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D9F68584-6048-40A5-AEF5-793B3C912206}"/>
              </a:ext>
            </a:extLst>
          </p:cNvPr>
          <p:cNvSpPr>
            <a:spLocks noGrp="1"/>
          </p:cNvSpPr>
          <p:nvPr/>
        </p:nvSpPr>
        <p:spPr>
          <a:xfrm>
            <a:off x="5238750" y="29527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D0EDFA"/>
                </a:solidFill>
              </a:defRPr>
            </a:pPr>
            <a:r>
              <a:rPr sz="1125" b="0">
                <a:solidFill>
                  <a:srgbClr val="D0EDFA"/>
                </a:solidFill>
              </a:rPr>
              <a:t>fusão dos latentes</a:t>
            </a:r>
          </a:p>
          <a:p>
            <a:pPr algn="ctr">
              <a:defRPr sz="1125" b="0">
                <a:solidFill>
                  <a:srgbClr val="D0EDFA"/>
                </a:solidFill>
              </a:defRPr>
            </a:pPr>
            <a:r>
              <a:rPr sz="1125" b="0">
                <a:solidFill>
                  <a:srgbClr val="D0EDFA"/>
                </a:solidFill>
              </a:rPr>
              <a:t>e transição aprendida</a:t>
            </a:r>
          </a:p>
        </p:txBody>
      </p:sp>
      <p:sp>
        <p:nvSpPr>
          <p:cNvPr id="18" name="box">
            <a:extLst>
              <a:ext uri="{FF2B5EF4-FFF2-40B4-BE49-F238E27FC236}">
                <a16:creationId xmlns:a16="http://schemas.microsoft.com/office/drawing/2014/main" id="{B2390BDC-11E3-486D-B918-FDF41EEE3D8C}"/>
              </a:ext>
            </a:extLst>
          </p:cNvPr>
          <p:cNvSpPr>
            <a:spLocks noGrp="1"/>
          </p:cNvSpPr>
          <p:nvPr/>
        </p:nvSpPr>
        <p:spPr>
          <a:xfrm>
            <a:off x="7381875" y="2095500"/>
            <a:ext cx="1809750" cy="1714500"/>
          </a:xfrm>
          <a:prstGeom prst="roundRect">
            <a:avLst>
              <a:gd name="adj" fmla="val 4444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B32A3EA5-D85E-49F8-BF08-FB2B2B2220E3}"/>
              </a:ext>
            </a:extLst>
          </p:cNvPr>
          <p:cNvSpPr>
            <a:spLocks noGrp="1"/>
          </p:cNvSpPr>
          <p:nvPr/>
        </p:nvSpPr>
        <p:spPr>
          <a:xfrm>
            <a:off x="7524750" y="22669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Decoders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557F5704-EDBD-4695-A271-0E8CB2424AAD}"/>
              </a:ext>
            </a:extLst>
          </p:cNvPr>
          <p:cNvSpPr>
            <a:spLocks noGrp="1"/>
          </p:cNvSpPr>
          <p:nvPr/>
        </p:nvSpPr>
        <p:spPr>
          <a:xfrm>
            <a:off x="7524750" y="29527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06772"/>
                </a:solidFill>
              </a:defRPr>
            </a:pPr>
            <a:r>
              <a:rPr sz="1125" b="0">
                <a:solidFill>
                  <a:srgbClr val="606772"/>
                </a:solidFill>
              </a:rPr>
              <a:t>próximo estado • jornada</a:t>
            </a:r>
          </a:p>
          <a:p>
            <a:pPr algn="ctr">
              <a:defRPr sz="1125" b="0">
                <a:solidFill>
                  <a:srgbClr val="606772"/>
                </a:solidFill>
              </a:defRPr>
            </a:pPr>
            <a:r>
              <a:rPr sz="1125" b="0">
                <a:solidFill>
                  <a:srgbClr val="606772"/>
                </a:solidFill>
              </a:rPr>
              <a:t>reward • compra • cancelamento</a:t>
            </a:r>
          </a:p>
        </p:txBody>
      </p:sp>
      <p:sp>
        <p:nvSpPr>
          <p:cNvPr id="21" name="box">
            <a:extLst>
              <a:ext uri="{FF2B5EF4-FFF2-40B4-BE49-F238E27FC236}">
                <a16:creationId xmlns:a16="http://schemas.microsoft.com/office/drawing/2014/main" id="{C96F745B-3BF4-4958-9845-974AFB4806C2}"/>
              </a:ext>
            </a:extLst>
          </p:cNvPr>
          <p:cNvSpPr>
            <a:spLocks noGrp="1"/>
          </p:cNvSpPr>
          <p:nvPr/>
        </p:nvSpPr>
        <p:spPr>
          <a:xfrm>
            <a:off x="9667875" y="2095500"/>
            <a:ext cx="1809750" cy="1714500"/>
          </a:xfrm>
          <a:prstGeom prst="roundRect">
            <a:avLst>
              <a:gd name="adj" fmla="val 4444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6B313B7F-467E-42BB-A691-48D52A03CC09}"/>
              </a:ext>
            </a:extLst>
          </p:cNvPr>
          <p:cNvSpPr>
            <a:spLocks noGrp="1"/>
          </p:cNvSpPr>
          <p:nvPr/>
        </p:nvSpPr>
        <p:spPr>
          <a:xfrm>
            <a:off x="9810750" y="22669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Simulator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C855A3EC-AD8F-4A04-B5B0-F54A7C8FC4BA}"/>
              </a:ext>
            </a:extLst>
          </p:cNvPr>
          <p:cNvSpPr>
            <a:spLocks noGrp="1"/>
          </p:cNvSpPr>
          <p:nvPr/>
        </p:nvSpPr>
        <p:spPr>
          <a:xfrm>
            <a:off x="9810750" y="29527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06772"/>
                </a:solidFill>
              </a:defRPr>
            </a:pPr>
            <a:r>
              <a:rPr sz="1125" b="0">
                <a:solidFill>
                  <a:srgbClr val="606772"/>
                </a:solidFill>
              </a:rPr>
              <a:t>rollout mensal</a:t>
            </a:r>
          </a:p>
          <a:p>
            <a:pPr algn="ctr">
              <a:defRPr sz="1125" b="0">
                <a:solidFill>
                  <a:srgbClr val="606772"/>
                </a:solidFill>
              </a:defRPr>
            </a:pPr>
            <a:r>
              <a:rPr sz="1125" b="0">
                <a:solidFill>
                  <a:srgbClr val="606772"/>
                </a:solidFill>
              </a:rPr>
              <a:t>+ estatísticas agregadas</a:t>
            </a:r>
          </a:p>
        </p:txBody>
      </p:sp>
      <p:sp>
        <p:nvSpPr>
          <p:cNvPr id="24" name="box">
            <a:extLst>
              <a:ext uri="{FF2B5EF4-FFF2-40B4-BE49-F238E27FC236}">
                <a16:creationId xmlns:a16="http://schemas.microsoft.com/office/drawing/2014/main" id="{C9F4D5D7-C7C3-4D97-9519-30327B1F6E35}"/>
              </a:ext>
            </a:extLst>
          </p:cNvPr>
          <p:cNvSpPr>
            <a:spLocks noGrp="1"/>
          </p:cNvSpPr>
          <p:nvPr/>
        </p:nvSpPr>
        <p:spPr>
          <a:xfrm>
            <a:off x="1514475" y="4429125"/>
            <a:ext cx="1238250" cy="342900"/>
          </a:xfrm>
          <a:prstGeom prst="roundRect">
            <a:avLst>
              <a:gd name="adj" fmla="val 22222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B587349F-8658-4C7A-A554-4DCF079AB160}"/>
              </a:ext>
            </a:extLst>
          </p:cNvPr>
          <p:cNvSpPr>
            <a:spLocks noGrp="1"/>
          </p:cNvSpPr>
          <p:nvPr/>
        </p:nvSpPr>
        <p:spPr>
          <a:xfrm>
            <a:off x="1628775" y="4429125"/>
            <a:ext cx="100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PyTorch</a:t>
            </a:r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FFB55B1A-8621-494C-8528-384DAECD2314}"/>
              </a:ext>
            </a:extLst>
          </p:cNvPr>
          <p:cNvSpPr>
            <a:spLocks noGrp="1"/>
          </p:cNvSpPr>
          <p:nvPr/>
        </p:nvSpPr>
        <p:spPr>
          <a:xfrm>
            <a:off x="2943225" y="4429125"/>
            <a:ext cx="1571625" cy="342900"/>
          </a:xfrm>
          <a:prstGeom prst="roundRect">
            <a:avLst>
              <a:gd name="adj" fmla="val 22222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BF0EBF96-10A7-4780-AC3B-1A5A18A8730E}"/>
              </a:ext>
            </a:extLst>
          </p:cNvPr>
          <p:cNvSpPr>
            <a:spLocks noGrp="1"/>
          </p:cNvSpPr>
          <p:nvPr/>
        </p:nvSpPr>
        <p:spPr>
          <a:xfrm>
            <a:off x="3057525" y="4429125"/>
            <a:ext cx="13430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scikit-learn</a:t>
            </a:r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64A0B830-731D-4515-9DF5-AC3907A39AB8}"/>
              </a:ext>
            </a:extLst>
          </p:cNvPr>
          <p:cNvSpPr>
            <a:spLocks noGrp="1"/>
          </p:cNvSpPr>
          <p:nvPr/>
        </p:nvSpPr>
        <p:spPr>
          <a:xfrm>
            <a:off x="4705350" y="4429125"/>
            <a:ext cx="1809750" cy="342900"/>
          </a:xfrm>
          <a:prstGeom prst="roundRect">
            <a:avLst>
              <a:gd name="adj" fmla="val 22222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50D702B4-DF0D-4F73-A731-BC7770E57F5E}"/>
              </a:ext>
            </a:extLst>
          </p:cNvPr>
          <p:cNvSpPr>
            <a:spLocks noGrp="1"/>
          </p:cNvSpPr>
          <p:nvPr/>
        </p:nvSpPr>
        <p:spPr>
          <a:xfrm>
            <a:off x="4819650" y="4429125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Pandas / Parquet</a:t>
            </a:r>
          </a:p>
        </p:txBody>
      </p:sp>
      <p:sp>
        <p:nvSpPr>
          <p:cNvPr id="30" name="box">
            <a:extLst>
              <a:ext uri="{FF2B5EF4-FFF2-40B4-BE49-F238E27FC236}">
                <a16:creationId xmlns:a16="http://schemas.microsoft.com/office/drawing/2014/main" id="{0FBD353F-4507-40F7-BB72-BE702DEA4439}"/>
              </a:ext>
            </a:extLst>
          </p:cNvPr>
          <p:cNvSpPr>
            <a:spLocks noGrp="1"/>
          </p:cNvSpPr>
          <p:nvPr/>
        </p:nvSpPr>
        <p:spPr>
          <a:xfrm>
            <a:off x="6705600" y="4429125"/>
            <a:ext cx="1190625" cy="342900"/>
          </a:xfrm>
          <a:prstGeom prst="roundRect">
            <a:avLst>
              <a:gd name="adj" fmla="val 22222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1C67B017-2875-47F7-ACB4-4972CC4FC338}"/>
              </a:ext>
            </a:extLst>
          </p:cNvPr>
          <p:cNvSpPr>
            <a:spLocks noGrp="1"/>
          </p:cNvSpPr>
          <p:nvPr/>
        </p:nvSpPr>
        <p:spPr>
          <a:xfrm>
            <a:off x="6819900" y="4429125"/>
            <a:ext cx="9620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MLflow</a:t>
            </a:r>
          </a:p>
        </p:txBody>
      </p:sp>
      <p:sp>
        <p:nvSpPr>
          <p:cNvPr id="32" name="box">
            <a:extLst>
              <a:ext uri="{FF2B5EF4-FFF2-40B4-BE49-F238E27FC236}">
                <a16:creationId xmlns:a16="http://schemas.microsoft.com/office/drawing/2014/main" id="{E385EC90-32CA-46DA-8EEB-29D6739F615F}"/>
              </a:ext>
            </a:extLst>
          </p:cNvPr>
          <p:cNvSpPr>
            <a:spLocks noGrp="1"/>
          </p:cNvSpPr>
          <p:nvPr/>
        </p:nvSpPr>
        <p:spPr>
          <a:xfrm>
            <a:off x="8086725" y="4429125"/>
            <a:ext cx="1238250" cy="342900"/>
          </a:xfrm>
          <a:prstGeom prst="roundRect">
            <a:avLst>
              <a:gd name="adj" fmla="val 22222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BCD57A85-C4A3-480E-ADCC-5221C73A6946}"/>
              </a:ext>
            </a:extLst>
          </p:cNvPr>
          <p:cNvSpPr>
            <a:spLocks noGrp="1"/>
          </p:cNvSpPr>
          <p:nvPr/>
        </p:nvSpPr>
        <p:spPr>
          <a:xfrm>
            <a:off x="8201025" y="4429125"/>
            <a:ext cx="100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FastAPI</a:t>
            </a:r>
          </a:p>
        </p:txBody>
      </p:sp>
      <p:sp>
        <p:nvSpPr>
          <p:cNvPr id="34" name="box">
            <a:extLst>
              <a:ext uri="{FF2B5EF4-FFF2-40B4-BE49-F238E27FC236}">
                <a16:creationId xmlns:a16="http://schemas.microsoft.com/office/drawing/2014/main" id="{8559EAC8-5CAE-4BC1-8AA6-F2F1564DF103}"/>
              </a:ext>
            </a:extLst>
          </p:cNvPr>
          <p:cNvSpPr>
            <a:spLocks noGrp="1"/>
          </p:cNvSpPr>
          <p:nvPr/>
        </p:nvSpPr>
        <p:spPr>
          <a:xfrm>
            <a:off x="9515475" y="4429125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8A465493-28DE-433C-88D5-AB1540A58DFF}"/>
              </a:ext>
            </a:extLst>
          </p:cNvPr>
          <p:cNvSpPr>
            <a:spLocks noGrp="1"/>
          </p:cNvSpPr>
          <p:nvPr/>
        </p:nvSpPr>
        <p:spPr>
          <a:xfrm>
            <a:off x="9629775" y="4429125"/>
            <a:ext cx="819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pytest</a:t>
            </a:r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5B8D2545-5752-4AB7-B1CF-69ABEEFF1672}"/>
              </a:ext>
            </a:extLst>
          </p:cNvPr>
          <p:cNvSpPr>
            <a:spLocks noGrp="1"/>
          </p:cNvSpPr>
          <p:nvPr/>
        </p:nvSpPr>
        <p:spPr>
          <a:xfrm>
            <a:off x="1009650" y="5286375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 dirty="0">
                <a:solidFill>
                  <a:srgbClr val="111318"/>
                </a:solidFill>
              </a:rPr>
              <a:t>O </a:t>
            </a:r>
            <a:r>
              <a:rPr sz="1650" b="1" dirty="0" err="1">
                <a:solidFill>
                  <a:srgbClr val="111318"/>
                </a:solidFill>
              </a:rPr>
              <a:t>ambiente</a:t>
            </a:r>
            <a:r>
              <a:rPr sz="1650" b="1" dirty="0">
                <a:solidFill>
                  <a:srgbClr val="111318"/>
                </a:solidFill>
              </a:rPr>
              <a:t> </a:t>
            </a:r>
            <a:r>
              <a:rPr sz="1650" b="1" dirty="0" err="1">
                <a:solidFill>
                  <a:srgbClr val="111318"/>
                </a:solidFill>
              </a:rPr>
              <a:t>sintético</a:t>
            </a:r>
            <a:r>
              <a:rPr sz="1650" b="1" dirty="0">
                <a:solidFill>
                  <a:srgbClr val="111318"/>
                </a:solidFill>
              </a:rPr>
              <a:t> </a:t>
            </a:r>
            <a:r>
              <a:rPr sz="1650" b="1" dirty="0" err="1">
                <a:solidFill>
                  <a:srgbClr val="111318"/>
                </a:solidFill>
              </a:rPr>
              <a:t>gera</a:t>
            </a:r>
            <a:r>
              <a:rPr sz="1650" b="1" dirty="0">
                <a:solidFill>
                  <a:srgbClr val="111318"/>
                </a:solidFill>
              </a:rPr>
              <a:t> a ground truth; o </a:t>
            </a:r>
            <a:r>
              <a:rPr sz="1650" b="1" dirty="0" err="1">
                <a:solidFill>
                  <a:srgbClr val="111318"/>
                </a:solidFill>
              </a:rPr>
              <a:t>simulador</a:t>
            </a:r>
            <a:r>
              <a:rPr sz="1650" b="1" dirty="0">
                <a:solidFill>
                  <a:srgbClr val="111318"/>
                </a:solidFill>
              </a:rPr>
              <a:t> da demo </a:t>
            </a:r>
            <a:r>
              <a:rPr sz="1650" b="1" dirty="0" err="1">
                <a:solidFill>
                  <a:srgbClr val="111318"/>
                </a:solidFill>
              </a:rPr>
              <a:t>usa</a:t>
            </a:r>
            <a:r>
              <a:rPr sz="1650" b="1" dirty="0">
                <a:solidFill>
                  <a:srgbClr val="111318"/>
                </a:solidFill>
              </a:rPr>
              <a:t> </a:t>
            </a:r>
            <a:r>
              <a:rPr sz="1650" b="1" dirty="0" err="1">
                <a:solidFill>
                  <a:srgbClr val="111318"/>
                </a:solidFill>
              </a:rPr>
              <a:t>exclusivamente</a:t>
            </a:r>
            <a:r>
              <a:rPr sz="1650" b="1" dirty="0">
                <a:solidFill>
                  <a:srgbClr val="111318"/>
                </a:solidFill>
              </a:rPr>
              <a:t> o checkpoint EXP‑005.</a:t>
            </a:r>
          </a:p>
        </p:txBody>
      </p:sp>
    </p:spTree>
    <p:extLst>
      <p:ext uri="{BB962C8B-B14F-4D97-AF65-F5344CB8AC3E}">
        <p14:creationId xmlns:p14="http://schemas.microsoft.com/office/powerpoint/2010/main" val="1095956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">
            <a:extLst>
              <a:ext uri="{FF2B5EF4-FFF2-40B4-BE49-F238E27FC236}">
                <a16:creationId xmlns:a16="http://schemas.microsoft.com/office/drawing/2014/main" id="{8C90AAE6-4EB5-412B-B952-A4F6A27C1EFC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189F451-3C46-4C4D-B747-0F775671060A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O EXP‑005 melhora transição, jornada e reward — mas a comparação exige nuance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F9F72157-DB56-4244-A0BB-006F2CA28B21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70AD5A2-C29E-45C2-BA04-4CE6E336130E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09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428625" y="1809750"/>
          <a:ext cx="65722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box">
            <a:extLst>
              <a:ext uri="{FF2B5EF4-FFF2-40B4-BE49-F238E27FC236}">
                <a16:creationId xmlns:a16="http://schemas.microsoft.com/office/drawing/2014/main" id="{C51287A3-8730-4EE9-BA9B-1AF2DD3D1420}"/>
              </a:ext>
            </a:extLst>
          </p:cNvPr>
          <p:cNvSpPr>
            <a:spLocks noGrp="1"/>
          </p:cNvSpPr>
          <p:nvPr/>
        </p:nvSpPr>
        <p:spPr>
          <a:xfrm>
            <a:off x="7524750" y="1809750"/>
            <a:ext cx="3905250" cy="1123950"/>
          </a:xfrm>
          <a:prstGeom prst="roundRect">
            <a:avLst>
              <a:gd name="adj" fmla="val 6780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7470E95-402A-4D9C-8F82-40BF1941E54D}"/>
              </a:ext>
            </a:extLst>
          </p:cNvPr>
          <p:cNvSpPr>
            <a:spLocks noGrp="1"/>
          </p:cNvSpPr>
          <p:nvPr/>
        </p:nvSpPr>
        <p:spPr>
          <a:xfrm>
            <a:off x="7762875" y="1952625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+4,0 p.p.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D4AF6E3-CD5A-4053-8386-03A719647711}"/>
              </a:ext>
            </a:extLst>
          </p:cNvPr>
          <p:cNvSpPr>
            <a:spLocks noGrp="1"/>
          </p:cNvSpPr>
          <p:nvPr/>
        </p:nvSpPr>
        <p:spPr>
          <a:xfrm>
            <a:off x="7762875" y="240982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acurácia de jornada vs. baseline</a:t>
            </a:r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08C975B3-3D57-43EB-B384-9968167A67E0}"/>
              </a:ext>
            </a:extLst>
          </p:cNvPr>
          <p:cNvSpPr>
            <a:spLocks noGrp="1"/>
          </p:cNvSpPr>
          <p:nvPr/>
        </p:nvSpPr>
        <p:spPr>
          <a:xfrm>
            <a:off x="7524750" y="3143250"/>
            <a:ext cx="3905250" cy="1123950"/>
          </a:xfrm>
          <a:prstGeom prst="roundRect">
            <a:avLst>
              <a:gd name="adj" fmla="val 6780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8E39162-1F2C-4D2F-BEF3-BD4A49743ED3}"/>
              </a:ext>
            </a:extLst>
          </p:cNvPr>
          <p:cNvSpPr>
            <a:spLocks noGrp="1"/>
          </p:cNvSpPr>
          <p:nvPr/>
        </p:nvSpPr>
        <p:spPr>
          <a:xfrm>
            <a:off x="7762875" y="3286125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58466"/>
                </a:solidFill>
              </a:defRPr>
            </a:pPr>
            <a:r>
              <a:rPr sz="2400" b="1">
                <a:solidFill>
                  <a:srgbClr val="158466"/>
                </a:solidFill>
              </a:rPr>
              <a:t>−15,1%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60EBB4F5-190F-406E-8367-BC39DC4A072E}"/>
              </a:ext>
            </a:extLst>
          </p:cNvPr>
          <p:cNvSpPr>
            <a:spLocks noGrp="1"/>
          </p:cNvSpPr>
          <p:nvPr/>
        </p:nvSpPr>
        <p:spPr>
          <a:xfrm>
            <a:off x="7762875" y="374332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erro absoluto de reward vs. baseline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3148FD09-1063-4DBC-BFFE-FD6BBC6823DE}"/>
              </a:ext>
            </a:extLst>
          </p:cNvPr>
          <p:cNvSpPr>
            <a:spLocks noGrp="1"/>
          </p:cNvSpPr>
          <p:nvPr/>
        </p:nvSpPr>
        <p:spPr>
          <a:xfrm>
            <a:off x="7524750" y="45720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Leitura correta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07A130D-5A7F-430B-92A6-2CFA84C6CD09}"/>
              </a:ext>
            </a:extLst>
          </p:cNvPr>
          <p:cNvSpPr>
            <a:spLocks noGrp="1"/>
          </p:cNvSpPr>
          <p:nvPr/>
        </p:nvSpPr>
        <p:spPr>
          <a:xfrm>
            <a:off x="7524750" y="4953000"/>
            <a:ext cx="3905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Resultados held-out são promissores dentro do mesmo mundo sintético. Eles não demonstram desempenho com clientes reais nem robustez fora da distribuição.</a:t>
            </a:r>
          </a:p>
        </p:txBody>
      </p:sp>
    </p:spTree>
    <p:extLst>
      <p:ext uri="{BB962C8B-B14F-4D97-AF65-F5344CB8AC3E}">
        <p14:creationId xmlns:p14="http://schemas.microsoft.com/office/powerpoint/2010/main" val="425429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">
            <a:extLst>
              <a:ext uri="{FF2B5EF4-FFF2-40B4-BE49-F238E27FC236}">
                <a16:creationId xmlns:a16="http://schemas.microsoft.com/office/drawing/2014/main" id="{9D91E8EA-F385-45C7-9EF2-C413B4B35D68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CFF264C-37A6-45B4-8355-9F540F5E9CFC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As decisões tomadas reduziram risco de interpretação e de engenharia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31E904A0-20B8-4EDE-BE74-DF15BBD24A33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CC748A7-1542-4CB6-9304-EF9B01230DB1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10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C96A8D43-23CD-45BB-AC73-ED340EBF7FDF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5334000" cy="933450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78F24B8-A1F5-488F-8012-71B3FB69AE57}"/>
              </a:ext>
            </a:extLst>
          </p:cNvPr>
          <p:cNvSpPr>
            <a:spLocks noGrp="1"/>
          </p:cNvSpPr>
          <p:nvPr/>
        </p:nvSpPr>
        <p:spPr>
          <a:xfrm>
            <a:off x="590550" y="1733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Baseline primeiro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7B5F83C-23FA-4892-980B-35779AA176AD}"/>
              </a:ext>
            </a:extLst>
          </p:cNvPr>
          <p:cNvSpPr>
            <a:spLocks noGrp="1"/>
          </p:cNvSpPr>
          <p:nvPr/>
        </p:nvSpPr>
        <p:spPr>
          <a:xfrm>
            <a:off x="2686050" y="171450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Evita atribuir ao world model ganhos que uma MLP simples já entrega.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5B5110FF-D973-47EB-AAD3-A293E166E542}"/>
              </a:ext>
            </a:extLst>
          </p:cNvPr>
          <p:cNvSpPr>
            <a:spLocks noGrp="1"/>
          </p:cNvSpPr>
          <p:nvPr/>
        </p:nvSpPr>
        <p:spPr>
          <a:xfrm>
            <a:off x="6210300" y="1619250"/>
            <a:ext cx="5334000" cy="933450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4F6C128-47BF-4E3A-A48F-5EEC3AF11D62}"/>
              </a:ext>
            </a:extLst>
          </p:cNvPr>
          <p:cNvSpPr>
            <a:spLocks noGrp="1"/>
          </p:cNvSpPr>
          <p:nvPr/>
        </p:nvSpPr>
        <p:spPr>
          <a:xfrm>
            <a:off x="6400800" y="1733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Oracle bloqueado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8746E460-C209-4716-B957-0ED878A47121}"/>
              </a:ext>
            </a:extLst>
          </p:cNvPr>
          <p:cNvSpPr>
            <a:spLocks noGrp="1"/>
          </p:cNvSpPr>
          <p:nvPr/>
        </p:nvSpPr>
        <p:spPr>
          <a:xfrm>
            <a:off x="8496300" y="171450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Variáveis latentes ficam disponíveis para ciência, não para treinar.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A446F925-6781-4A29-94AA-C3AAE8A62737}"/>
              </a:ext>
            </a:extLst>
          </p:cNvPr>
          <p:cNvSpPr>
            <a:spLocks noGrp="1"/>
          </p:cNvSpPr>
          <p:nvPr/>
        </p:nvSpPr>
        <p:spPr>
          <a:xfrm>
            <a:off x="400050" y="2762250"/>
            <a:ext cx="5334000" cy="933450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740BAC13-D227-44D3-AA80-1CEC50930CDA}"/>
              </a:ext>
            </a:extLst>
          </p:cNvPr>
          <p:cNvSpPr>
            <a:spLocks noGrp="1"/>
          </p:cNvSpPr>
          <p:nvPr/>
        </p:nvSpPr>
        <p:spPr>
          <a:xfrm>
            <a:off x="590550" y="2876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Split por cliente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6413E6A-2A34-4594-83A2-95C584CD523C}"/>
              </a:ext>
            </a:extLst>
          </p:cNvPr>
          <p:cNvSpPr>
            <a:spLocks noGrp="1"/>
          </p:cNvSpPr>
          <p:nvPr/>
        </p:nvSpPr>
        <p:spPr>
          <a:xfrm>
            <a:off x="2686050" y="285750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A mesma trajetória individual não vaza entre treino, validação e teste.</a:t>
            </a:r>
          </a:p>
        </p:txBody>
      </p:sp>
      <p:sp>
        <p:nvSpPr>
          <p:cNvPr id="14" name="box">
            <a:extLst>
              <a:ext uri="{FF2B5EF4-FFF2-40B4-BE49-F238E27FC236}">
                <a16:creationId xmlns:a16="http://schemas.microsoft.com/office/drawing/2014/main" id="{B82CDA74-7E14-4772-B206-AB9A28D02D90}"/>
              </a:ext>
            </a:extLst>
          </p:cNvPr>
          <p:cNvSpPr>
            <a:spLocks noGrp="1"/>
          </p:cNvSpPr>
          <p:nvPr/>
        </p:nvSpPr>
        <p:spPr>
          <a:xfrm>
            <a:off x="6210300" y="2762250"/>
            <a:ext cx="5334000" cy="933450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B39095C0-251A-418D-8DF5-B2C706C8E627}"/>
              </a:ext>
            </a:extLst>
          </p:cNvPr>
          <p:cNvSpPr>
            <a:spLocks noGrp="1"/>
          </p:cNvSpPr>
          <p:nvPr/>
        </p:nvSpPr>
        <p:spPr>
          <a:xfrm>
            <a:off x="6400800" y="2876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Teste preservado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D648DF92-2203-49CA-9BD3-4C127BBDAE75}"/>
              </a:ext>
            </a:extLst>
          </p:cNvPr>
          <p:cNvSpPr>
            <a:spLocks noGrp="1"/>
          </p:cNvSpPr>
          <p:nvPr/>
        </p:nvSpPr>
        <p:spPr>
          <a:xfrm>
            <a:off x="8496300" y="285750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EXP‑003 escolhe candidatos pela validação e confirma apenas o vencedor.</a:t>
            </a:r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E753ADD5-501F-4F0C-B600-79EEDC453316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5334000" cy="933450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9C2021A1-C7CE-482C-AF88-C8CE0B5C49E3}"/>
              </a:ext>
            </a:extLst>
          </p:cNvPr>
          <p:cNvSpPr>
            <a:spLocks noGrp="1"/>
          </p:cNvSpPr>
          <p:nvPr/>
        </p:nvSpPr>
        <p:spPr>
          <a:xfrm>
            <a:off x="590550" y="4019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Reward redefinido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5E1AE91A-99D0-415B-BA17-C4090CA96AFF}"/>
              </a:ext>
            </a:extLst>
          </p:cNvPr>
          <p:cNvSpPr>
            <a:spLocks noGrp="1"/>
          </p:cNvSpPr>
          <p:nvPr/>
        </p:nvSpPr>
        <p:spPr>
          <a:xfrm>
            <a:off x="2686050" y="400050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Huber e maior peso reduziram erro sem declarar vitória total prematura.</a:t>
            </a:r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019BB02C-FA2D-4CF7-AEBA-E6DB8E80DEA8}"/>
              </a:ext>
            </a:extLst>
          </p:cNvPr>
          <p:cNvSpPr>
            <a:spLocks noGrp="1"/>
          </p:cNvSpPr>
          <p:nvPr/>
        </p:nvSpPr>
        <p:spPr>
          <a:xfrm>
            <a:off x="6210300" y="3905250"/>
            <a:ext cx="5334000" cy="933450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ABB16BF4-A92D-4095-9E85-559CDAD7E11C}"/>
              </a:ext>
            </a:extLst>
          </p:cNvPr>
          <p:cNvSpPr>
            <a:spLocks noGrp="1"/>
          </p:cNvSpPr>
          <p:nvPr/>
        </p:nvSpPr>
        <p:spPr>
          <a:xfrm>
            <a:off x="6400800" y="4019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Domínio fechado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893DF0B3-DDFE-4A23-8A1D-062D272B456A}"/>
              </a:ext>
            </a:extLst>
          </p:cNvPr>
          <p:cNvSpPr>
            <a:spLocks noGrp="1"/>
          </p:cNvSpPr>
          <p:nvPr/>
        </p:nvSpPr>
        <p:spPr>
          <a:xfrm>
            <a:off x="8496300" y="400050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Perfis, produtos, canais e preços limitados para evitar extrapolação silenciosa.</a:t>
            </a:r>
          </a:p>
        </p:txBody>
      </p:sp>
    </p:spTree>
    <p:extLst>
      <p:ext uri="{BB962C8B-B14F-4D97-AF65-F5344CB8AC3E}">
        <p14:creationId xmlns:p14="http://schemas.microsoft.com/office/powerpoint/2010/main" val="1282203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">
            <a:extLst>
              <a:ext uri="{FF2B5EF4-FFF2-40B4-BE49-F238E27FC236}">
                <a16:creationId xmlns:a16="http://schemas.microsoft.com/office/drawing/2014/main" id="{5646A21C-0072-4E55-8395-13C526A52DAC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42B8D7F-B876-4DB5-B9E0-E99501B8B2BB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Overfitting aqui não é apenas memorizar linhas — é aprender o mundo que nós inventamos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3B331212-747D-4DD4-B9CC-04FC2E8813FA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6FC8AF2-39B2-48A2-89BB-A6BA611D5B73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11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A0961A3-BC66-43C8-8017-39BB2B080702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D94A4A"/>
                </a:solidFill>
              </a:defRPr>
            </a:pPr>
            <a:r>
              <a:rPr sz="1650" b="1">
                <a:solidFill>
                  <a:srgbClr val="D94A4A"/>
                </a:solidFill>
              </a:rPr>
              <a:t>Onde ele pode ocorrer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E43559E-BB57-4C92-9819-B3B14D0C7011}"/>
              </a:ext>
            </a:extLst>
          </p:cNvPr>
          <p:cNvSpPr>
            <a:spLocks noGrp="1"/>
          </p:cNvSpPr>
          <p:nvPr/>
        </p:nvSpPr>
        <p:spPr>
          <a:xfrm>
            <a:off x="428625" y="2266950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D94A4A"/>
                </a:solidFill>
              </a:defRPr>
            </a:pPr>
            <a:r>
              <a:rPr sz="1800" b="1">
                <a:solidFill>
                  <a:srgbClr val="D94A4A"/>
                </a:solidFill>
              </a:rPr>
              <a:t>×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D27D31A-9A83-45BC-B678-4011EB51A645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Ajuste ao dataset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2C7E81C-2C26-4BF1-B28A-2C88AEBB32C0}"/>
              </a:ext>
            </a:extLst>
          </p:cNvPr>
          <p:cNvSpPr>
            <a:spLocks noGrp="1"/>
          </p:cNvSpPr>
          <p:nvPr/>
        </p:nvSpPr>
        <p:spPr>
          <a:xfrm>
            <a:off x="2809875" y="2266950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Mesmo seed, regras e distribuição favorecem padrões repetidos.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6CAA31D9-41F9-43C3-9B4B-5065AF5C3CC2}"/>
              </a:ext>
            </a:extLst>
          </p:cNvPr>
          <p:cNvSpPr>
            <a:spLocks noGrp="1"/>
          </p:cNvSpPr>
          <p:nvPr/>
        </p:nvSpPr>
        <p:spPr>
          <a:xfrm>
            <a:off x="428625" y="3152775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D94A4A"/>
                </a:solidFill>
              </a:defRPr>
            </a:pPr>
            <a:r>
              <a:rPr sz="1800" b="1">
                <a:solidFill>
                  <a:srgbClr val="D94A4A"/>
                </a:solidFill>
              </a:rPr>
              <a:t>×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624D06B-7ACB-44D5-BEC4-E1B90EA1C7B7}"/>
              </a:ext>
            </a:extLst>
          </p:cNvPr>
          <p:cNvSpPr>
            <a:spLocks noGrp="1"/>
          </p:cNvSpPr>
          <p:nvPr/>
        </p:nvSpPr>
        <p:spPr>
          <a:xfrm>
            <a:off x="857250" y="315277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Ajuste à validação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5741BFA6-5BF5-4E51-AA5F-33B22435F676}"/>
              </a:ext>
            </a:extLst>
          </p:cNvPr>
          <p:cNvSpPr>
            <a:spLocks noGrp="1"/>
          </p:cNvSpPr>
          <p:nvPr/>
        </p:nvSpPr>
        <p:spPr>
          <a:xfrm>
            <a:off x="2809875" y="3152775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Muitos ciclos de tuning transformam validação em teste informal.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39C1B647-35A0-4B29-833A-E8D6058B2BD8}"/>
              </a:ext>
            </a:extLst>
          </p:cNvPr>
          <p:cNvSpPr>
            <a:spLocks noGrp="1"/>
          </p:cNvSpPr>
          <p:nvPr/>
        </p:nvSpPr>
        <p:spPr>
          <a:xfrm>
            <a:off x="428625" y="4038600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D94A4A"/>
                </a:solidFill>
              </a:defRPr>
            </a:pPr>
            <a:r>
              <a:rPr sz="1800" b="1">
                <a:solidFill>
                  <a:srgbClr val="D94A4A"/>
                </a:solidFill>
              </a:rPr>
              <a:t>×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2906835-5FD9-4EE6-8938-0B49C3333964}"/>
              </a:ext>
            </a:extLst>
          </p:cNvPr>
          <p:cNvSpPr>
            <a:spLocks noGrp="1"/>
          </p:cNvSpPr>
          <p:nvPr/>
        </p:nvSpPr>
        <p:spPr>
          <a:xfrm>
            <a:off x="857250" y="40386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Ajuste ao simulador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1A99457-3F25-4B82-B9B4-F66CFE178D20}"/>
              </a:ext>
            </a:extLst>
          </p:cNvPr>
          <p:cNvSpPr>
            <a:spLocks noGrp="1"/>
          </p:cNvSpPr>
          <p:nvPr/>
        </p:nvSpPr>
        <p:spPr>
          <a:xfrm>
            <a:off x="2809875" y="4038600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Ótima fidelidade à v0.1 pode não transferir para o mundo real.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62B9117E-6FAA-4670-BBB7-FA24F8086345}"/>
              </a:ext>
            </a:extLst>
          </p:cNvPr>
          <p:cNvSpPr>
            <a:spLocks noGrp="1"/>
          </p:cNvSpPr>
          <p:nvPr/>
        </p:nvSpPr>
        <p:spPr>
          <a:xfrm>
            <a:off x="428625" y="4924425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D94A4A"/>
                </a:solidFill>
              </a:defRPr>
            </a:pPr>
            <a:r>
              <a:rPr sz="1800" b="1">
                <a:solidFill>
                  <a:srgbClr val="D94A4A"/>
                </a:solidFill>
              </a:rPr>
              <a:t>×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BBD054B7-DA3E-4C9D-B3EE-2292E0E877A9}"/>
              </a:ext>
            </a:extLst>
          </p:cNvPr>
          <p:cNvSpPr>
            <a:spLocks noGrp="1"/>
          </p:cNvSpPr>
          <p:nvPr/>
        </p:nvSpPr>
        <p:spPr>
          <a:xfrm>
            <a:off x="857250" y="492442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Erro acumulado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256B2141-47C7-4BBE-AE62-0598AF1E1A85}"/>
              </a:ext>
            </a:extLst>
          </p:cNvPr>
          <p:cNvSpPr>
            <a:spLocks noGrp="1"/>
          </p:cNvSpPr>
          <p:nvPr/>
        </p:nvSpPr>
        <p:spPr>
          <a:xfrm>
            <a:off x="2809875" y="4924425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Pequenos vieses one-step crescem em rollouts de 12–24 meses.</a:t>
            </a:r>
          </a:p>
        </p:txBody>
      </p:sp>
      <p:sp>
        <p:nvSpPr>
          <p:cNvPr id="18" name="box">
            <a:extLst>
              <a:ext uri="{FF2B5EF4-FFF2-40B4-BE49-F238E27FC236}">
                <a16:creationId xmlns:a16="http://schemas.microsoft.com/office/drawing/2014/main" id="{9FF3CFF4-57FE-4772-A985-BB4581CD9622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238750" cy="3714750"/>
          </a:xfrm>
          <a:prstGeom prst="roundRect">
            <a:avLst>
              <a:gd name="adj" fmla="val 2051"/>
            </a:avLst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96C661A0-A51A-4A29-A13A-56C32AD6274D}"/>
              </a:ext>
            </a:extLst>
          </p:cNvPr>
          <p:cNvSpPr>
            <a:spLocks noGrp="1"/>
          </p:cNvSpPr>
          <p:nvPr/>
        </p:nvSpPr>
        <p:spPr>
          <a:xfrm>
            <a:off x="6524625" y="20955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Como controlar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72CBCB92-C860-4AE2-8FFE-0D59EF35400B}"/>
              </a:ext>
            </a:extLst>
          </p:cNvPr>
          <p:cNvSpPr>
            <a:spLocks noGrp="1"/>
          </p:cNvSpPr>
          <p:nvPr/>
        </p:nvSpPr>
        <p:spPr>
          <a:xfrm>
            <a:off x="6524625" y="26860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D0EDFA"/>
                </a:solidFill>
              </a:defRPr>
            </a:pPr>
            <a:r>
              <a:rPr sz="1125" b="1">
                <a:solidFill>
                  <a:srgbClr val="D0EDFA"/>
                </a:solidFill>
              </a:rPr>
              <a:t>01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0A04FDD2-0371-4F6F-950A-4D0B99B6D4EF}"/>
              </a:ext>
            </a:extLst>
          </p:cNvPr>
          <p:cNvSpPr>
            <a:spLocks noGrp="1"/>
          </p:cNvSpPr>
          <p:nvPr/>
        </p:nvSpPr>
        <p:spPr>
          <a:xfrm>
            <a:off x="7029450" y="264795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Holdout temporal e por coorte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F638BFB6-92DF-4344-8B5A-18BF6A25AB03}"/>
              </a:ext>
            </a:extLst>
          </p:cNvPr>
          <p:cNvSpPr>
            <a:spLocks noGrp="1"/>
          </p:cNvSpPr>
          <p:nvPr/>
        </p:nvSpPr>
        <p:spPr>
          <a:xfrm>
            <a:off x="6524625" y="31051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D0EDFA"/>
                </a:solidFill>
              </a:defRPr>
            </a:pPr>
            <a:r>
              <a:rPr sz="1125" b="1">
                <a:solidFill>
                  <a:srgbClr val="D0EDFA"/>
                </a:solidFill>
              </a:rPr>
              <a:t>02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C900096A-1017-44E3-8E4F-0C24389F801E}"/>
              </a:ext>
            </a:extLst>
          </p:cNvPr>
          <p:cNvSpPr>
            <a:spLocks noGrp="1"/>
          </p:cNvSpPr>
          <p:nvPr/>
        </p:nvSpPr>
        <p:spPr>
          <a:xfrm>
            <a:off x="7029450" y="306705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Seeds, dinâmicas e populações novas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D244F2C8-2383-4A70-B3C7-E6BA08001639}"/>
              </a:ext>
            </a:extLst>
          </p:cNvPr>
          <p:cNvSpPr>
            <a:spLocks noGrp="1"/>
          </p:cNvSpPr>
          <p:nvPr/>
        </p:nvSpPr>
        <p:spPr>
          <a:xfrm>
            <a:off x="6524625" y="35242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D0EDFA"/>
                </a:solidFill>
              </a:defRPr>
            </a:pPr>
            <a:r>
              <a:rPr sz="1125" b="1">
                <a:solidFill>
                  <a:srgbClr val="D0EDFA"/>
                </a:solidFill>
              </a:rPr>
              <a:t>03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39B22379-6812-4347-B78B-E4D35E917549}"/>
              </a:ext>
            </a:extLst>
          </p:cNvPr>
          <p:cNvSpPr>
            <a:spLocks noGrp="1"/>
          </p:cNvSpPr>
          <p:nvPr/>
        </p:nvSpPr>
        <p:spPr>
          <a:xfrm>
            <a:off x="7029450" y="348615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Teste de ações/preços não observados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FBB8E3B5-1B71-43B9-8B78-F1D5445BFA2B}"/>
              </a:ext>
            </a:extLst>
          </p:cNvPr>
          <p:cNvSpPr>
            <a:spLocks noGrp="1"/>
          </p:cNvSpPr>
          <p:nvPr/>
        </p:nvSpPr>
        <p:spPr>
          <a:xfrm>
            <a:off x="6524625" y="39433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D0EDFA"/>
                </a:solidFill>
              </a:defRPr>
            </a:pPr>
            <a:r>
              <a:rPr sz="1125" b="1">
                <a:solidFill>
                  <a:srgbClr val="D0EDFA"/>
                </a:solidFill>
              </a:rPr>
              <a:t>04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AA3A2CCF-582C-47A6-88D8-F467BF8FE70A}"/>
              </a:ext>
            </a:extLst>
          </p:cNvPr>
          <p:cNvSpPr>
            <a:spLocks noGrp="1"/>
          </p:cNvSpPr>
          <p:nvPr/>
        </p:nvSpPr>
        <p:spPr>
          <a:xfrm>
            <a:off x="7029450" y="390525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Curvas de calibração por evento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15F0685E-C097-41A9-8623-B1EF67EAEABD}"/>
              </a:ext>
            </a:extLst>
          </p:cNvPr>
          <p:cNvSpPr>
            <a:spLocks noGrp="1"/>
          </p:cNvSpPr>
          <p:nvPr/>
        </p:nvSpPr>
        <p:spPr>
          <a:xfrm>
            <a:off x="6524625" y="43624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D0EDFA"/>
                </a:solidFill>
              </a:defRPr>
            </a:pPr>
            <a:r>
              <a:rPr sz="1125" b="1">
                <a:solidFill>
                  <a:srgbClr val="D0EDFA"/>
                </a:solidFill>
              </a:rPr>
              <a:t>05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D558B8A2-5596-4C08-9985-581E8BE54A17}"/>
              </a:ext>
            </a:extLst>
          </p:cNvPr>
          <p:cNvSpPr>
            <a:spLocks noGrp="1"/>
          </p:cNvSpPr>
          <p:nvPr/>
        </p:nvSpPr>
        <p:spPr>
          <a:xfrm>
            <a:off x="7029450" y="432435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Métrica por horizonte, não só one-step</a:t>
            </a:r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9E97AAA5-7D04-416E-AE54-596FA288CFF0}"/>
              </a:ext>
            </a:extLst>
          </p:cNvPr>
          <p:cNvSpPr>
            <a:spLocks noGrp="1"/>
          </p:cNvSpPr>
          <p:nvPr/>
        </p:nvSpPr>
        <p:spPr>
          <a:xfrm>
            <a:off x="6524625" y="47815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D0EDFA"/>
                </a:solidFill>
              </a:defRPr>
            </a:pPr>
            <a:r>
              <a:rPr sz="1125" b="1">
                <a:solidFill>
                  <a:srgbClr val="D0EDFA"/>
                </a:solidFill>
              </a:rPr>
              <a:t>06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E79F7481-A26A-4FFB-99AF-354D4E5584D6}"/>
              </a:ext>
            </a:extLst>
          </p:cNvPr>
          <p:cNvSpPr>
            <a:spLocks noGrp="1"/>
          </p:cNvSpPr>
          <p:nvPr/>
        </p:nvSpPr>
        <p:spPr>
          <a:xfrm>
            <a:off x="7029450" y="474345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Comparação contínua com baseline e oracle</a:t>
            </a:r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25BFA6B0-B33A-4650-9A08-2B19CBF08C5B}"/>
              </a:ext>
            </a:extLst>
          </p:cNvPr>
          <p:cNvSpPr>
            <a:spLocks noGrp="1"/>
          </p:cNvSpPr>
          <p:nvPr/>
        </p:nvSpPr>
        <p:spPr>
          <a:xfrm>
            <a:off x="6191250" y="5762625"/>
            <a:ext cx="523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D94A4A"/>
                </a:solidFill>
              </a:defRPr>
            </a:pPr>
            <a:r>
              <a:rPr sz="1425" b="1">
                <a:solidFill>
                  <a:srgbClr val="D94A4A"/>
                </a:solidFill>
              </a:rPr>
              <a:t>Regra de decisão: nenhum resultado sintético deve ser traduzido diretamente em impacto comercial.</a:t>
            </a:r>
          </a:p>
        </p:txBody>
      </p:sp>
    </p:spTree>
    <p:extLst>
      <p:ext uri="{BB962C8B-B14F-4D97-AF65-F5344CB8AC3E}">
        <p14:creationId xmlns:p14="http://schemas.microsoft.com/office/powerpoint/2010/main" val="340247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">
            <a:extLst>
              <a:ext uri="{FF2B5EF4-FFF2-40B4-BE49-F238E27FC236}">
                <a16:creationId xmlns:a16="http://schemas.microsoft.com/office/drawing/2014/main" id="{7B74FF1F-C345-4081-9676-3A4C1D1F6C30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9AA6C05-BCD5-4151-B48F-558722CB5342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A demo é uma ferramenta de P&amp;D; seus limites precisam acompanhar cada resultado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331C19A6-A03E-466D-9116-0C4C4749A171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10EBF72-15BE-47C5-B5D4-53FFD0811760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12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AA61E55-9F62-45EC-9984-4E1FA29AC472}"/>
              </a:ext>
            </a:extLst>
          </p:cNvPr>
          <p:cNvSpPr>
            <a:spLocks noGrp="1"/>
          </p:cNvSpPr>
          <p:nvPr/>
        </p:nvSpPr>
        <p:spPr>
          <a:xfrm>
            <a:off x="400050" y="176212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D94A4A"/>
                </a:solidFill>
              </a:defRPr>
            </a:pPr>
            <a:r>
              <a:rPr sz="1725" b="1">
                <a:solidFill>
                  <a:srgbClr val="D94A4A"/>
                </a:solidFill>
              </a:rPr>
              <a:t>O que não podemos afirmar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A46F474-945C-4BB7-AFDA-14B1542EF183}"/>
              </a:ext>
            </a:extLst>
          </p:cNvPr>
          <p:cNvSpPr>
            <a:spLocks noGrp="1"/>
          </p:cNvSpPr>
          <p:nvPr/>
        </p:nvSpPr>
        <p:spPr>
          <a:xfrm>
            <a:off x="428625" y="22860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D94A4A"/>
                </a:solidFill>
              </a:defRPr>
            </a:pPr>
            <a:r>
              <a:rPr sz="1350" b="1">
                <a:solidFill>
                  <a:srgbClr val="D94A4A"/>
                </a:solidFill>
              </a:rPr>
              <a:t>—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C2240D3-87F5-4AAC-ACA9-8842564DF4B5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Sem dados reais ou validação externa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C465A6FA-16E7-4DAD-8D2A-745762114515}"/>
              </a:ext>
            </a:extLst>
          </p:cNvPr>
          <p:cNvSpPr>
            <a:spLocks noGrp="1"/>
          </p:cNvSpPr>
          <p:nvPr/>
        </p:nvSpPr>
        <p:spPr>
          <a:xfrm>
            <a:off x="428625" y="2743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D94A4A"/>
                </a:solidFill>
              </a:defRPr>
            </a:pPr>
            <a:r>
              <a:rPr sz="1350" b="1">
                <a:solidFill>
                  <a:srgbClr val="D94A4A"/>
                </a:solidFill>
              </a:rPr>
              <a:t>—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401AB512-C5B5-49E0-ABF3-EAC02A50D60C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Sem causalidade comprovada no negócio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24687E41-C6C8-43D2-AF69-0A44F2ED2040}"/>
              </a:ext>
            </a:extLst>
          </p:cNvPr>
          <p:cNvSpPr>
            <a:spLocks noGrp="1"/>
          </p:cNvSpPr>
          <p:nvPr/>
        </p:nvSpPr>
        <p:spPr>
          <a:xfrm>
            <a:off x="428625" y="32004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D94A4A"/>
                </a:solidFill>
              </a:defRPr>
            </a:pPr>
            <a:r>
              <a:rPr sz="1350" b="1">
                <a:solidFill>
                  <a:srgbClr val="D94A4A"/>
                </a:solidFill>
              </a:rPr>
              <a:t>—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0D89F13-7657-43CD-BE4A-13A1D522CC74}"/>
              </a:ext>
            </a:extLst>
          </p:cNvPr>
          <p:cNvSpPr>
            <a:spLocks noGrp="1"/>
          </p:cNvSpPr>
          <p:nvPr/>
        </p:nvSpPr>
        <p:spPr>
          <a:xfrm>
            <a:off x="781050" y="31623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Sem incerteza epistemológica explícita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580FBA02-875E-4F2F-BC9E-4AA2AC1041DA}"/>
              </a:ext>
            </a:extLst>
          </p:cNvPr>
          <p:cNvSpPr>
            <a:spLocks noGrp="1"/>
          </p:cNvSpPr>
          <p:nvPr/>
        </p:nvSpPr>
        <p:spPr>
          <a:xfrm>
            <a:off x="428625" y="36576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D94A4A"/>
                </a:solidFill>
              </a:defRPr>
            </a:pPr>
            <a:r>
              <a:rPr sz="1350" b="1">
                <a:solidFill>
                  <a:srgbClr val="D94A4A"/>
                </a:solidFill>
              </a:rPr>
              <a:t>—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AB4406B-8EAE-4C6B-9F2A-5FAD5FA2086C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Sem sazonalidade robusta: apenas 12 meses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E8B8549D-3829-43B8-B024-D6B08C2B56D1}"/>
              </a:ext>
            </a:extLst>
          </p:cNvPr>
          <p:cNvSpPr>
            <a:spLocks noGrp="1"/>
          </p:cNvSpPr>
          <p:nvPr/>
        </p:nvSpPr>
        <p:spPr>
          <a:xfrm>
            <a:off x="428625" y="41148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D94A4A"/>
                </a:solidFill>
              </a:defRPr>
            </a:pPr>
            <a:r>
              <a:rPr sz="1350" b="1">
                <a:solidFill>
                  <a:srgbClr val="D94A4A"/>
                </a:solidFill>
              </a:rPr>
              <a:t>—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64E2675-826A-4357-95C8-4D0ABED9348B}"/>
              </a:ext>
            </a:extLst>
          </p:cNvPr>
          <p:cNvSpPr>
            <a:spLocks noGrp="1"/>
          </p:cNvSpPr>
          <p:nvPr/>
        </p:nvSpPr>
        <p:spPr>
          <a:xfrm>
            <a:off x="781050" y="40767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Sem teste concluído de mudança de regime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8634313B-6716-4E7E-91D6-3B3CB6CC943E}"/>
              </a:ext>
            </a:extLst>
          </p:cNvPr>
          <p:cNvSpPr>
            <a:spLocks noGrp="1"/>
          </p:cNvSpPr>
          <p:nvPr/>
        </p:nvSpPr>
        <p:spPr>
          <a:xfrm>
            <a:off x="428625" y="45720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D94A4A"/>
                </a:solidFill>
              </a:defRPr>
            </a:pPr>
            <a:r>
              <a:rPr sz="1350" b="1">
                <a:solidFill>
                  <a:srgbClr val="D94A4A"/>
                </a:solidFill>
              </a:rPr>
              <a:t>—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54CA246-EAD5-482F-A0E4-CF3AA8B98D4F}"/>
              </a:ext>
            </a:extLst>
          </p:cNvPr>
          <p:cNvSpPr>
            <a:spLocks noGrp="1"/>
          </p:cNvSpPr>
          <p:nvPr/>
        </p:nvSpPr>
        <p:spPr>
          <a:xfrm>
            <a:off x="781050" y="45339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Reward sintético ≠ margem, receita ou LTV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35103698-3D56-4261-98C8-A11AE210B9A9}"/>
              </a:ext>
            </a:extLst>
          </p:cNvPr>
          <p:cNvSpPr>
            <a:spLocks noGrp="1"/>
          </p:cNvSpPr>
          <p:nvPr/>
        </p:nvSpPr>
        <p:spPr>
          <a:xfrm>
            <a:off x="428625" y="5029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D94A4A"/>
                </a:solidFill>
              </a:defRPr>
            </a:pPr>
            <a:r>
              <a:rPr sz="1350" b="1">
                <a:solidFill>
                  <a:srgbClr val="D94A4A"/>
                </a:solidFill>
              </a:rPr>
              <a:t>—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D8318B2F-9F22-4476-910B-90658E028D86}"/>
              </a:ext>
            </a:extLst>
          </p:cNvPr>
          <p:cNvSpPr>
            <a:spLocks noGrp="1"/>
          </p:cNvSpPr>
          <p:nvPr/>
        </p:nvSpPr>
        <p:spPr>
          <a:xfrm>
            <a:off x="781050" y="49911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Trajetórias ≠ número de clientes impactados</a:t>
            </a:r>
          </a:p>
        </p:txBody>
      </p:sp>
      <p:sp>
        <p:nvSpPr>
          <p:cNvPr id="20" name="box">
            <a:extLst>
              <a:ext uri="{FF2B5EF4-FFF2-40B4-BE49-F238E27FC236}">
                <a16:creationId xmlns:a16="http://schemas.microsoft.com/office/drawing/2014/main" id="{6D496746-AA7F-4CEB-B529-6BEBDB9E30D1}"/>
              </a:ext>
            </a:extLst>
          </p:cNvPr>
          <p:cNvSpPr>
            <a:spLocks noGrp="1"/>
          </p:cNvSpPr>
          <p:nvPr/>
        </p:nvSpPr>
        <p:spPr>
          <a:xfrm>
            <a:off x="6191250" y="1762125"/>
            <a:ext cx="5238750" cy="3667125"/>
          </a:xfrm>
          <a:prstGeom prst="roundRect">
            <a:avLst>
              <a:gd name="adj" fmla="val 2078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CEAC6492-ADF7-4B71-9BD6-22BB26034945}"/>
              </a:ext>
            </a:extLst>
          </p:cNvPr>
          <p:cNvSpPr>
            <a:spLocks noGrp="1"/>
          </p:cNvSpPr>
          <p:nvPr/>
        </p:nvSpPr>
        <p:spPr>
          <a:xfrm>
            <a:off x="6524625" y="2047875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O que já podemos afirmar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7019E36D-A616-4517-AC15-D33534A11D01}"/>
              </a:ext>
            </a:extLst>
          </p:cNvPr>
          <p:cNvSpPr>
            <a:spLocks noGrp="1"/>
          </p:cNvSpPr>
          <p:nvPr/>
        </p:nvSpPr>
        <p:spPr>
          <a:xfrm>
            <a:off x="6524625" y="25908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58466"/>
                </a:solidFill>
              </a:defRPr>
            </a:pPr>
            <a:r>
              <a:rPr sz="1350" b="1">
                <a:solidFill>
                  <a:srgbClr val="158466"/>
                </a:solidFill>
              </a:rPr>
              <a:t>✓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A1C12780-54E8-4657-8A2A-7EDC40FD5D0F}"/>
              </a:ext>
            </a:extLst>
          </p:cNvPr>
          <p:cNvSpPr>
            <a:spLocks noGrp="1"/>
          </p:cNvSpPr>
          <p:nvPr/>
        </p:nvSpPr>
        <p:spPr>
          <a:xfrm>
            <a:off x="6905625" y="255270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Pipeline reproduzível de ambiente → dados → treino → avaliação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B2132881-51DA-46B3-8DD7-80A500A461CB}"/>
              </a:ext>
            </a:extLst>
          </p:cNvPr>
          <p:cNvSpPr>
            <a:spLocks noGrp="1"/>
          </p:cNvSpPr>
          <p:nvPr/>
        </p:nvSpPr>
        <p:spPr>
          <a:xfrm>
            <a:off x="6524625" y="30384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58466"/>
                </a:solidFill>
              </a:defRPr>
            </a:pPr>
            <a:r>
              <a:rPr sz="1350" b="1">
                <a:solidFill>
                  <a:srgbClr val="158466"/>
                </a:solidFill>
              </a:rPr>
              <a:t>✓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F7A49EF9-4D89-4194-AF05-3B24240860B7}"/>
              </a:ext>
            </a:extLst>
          </p:cNvPr>
          <p:cNvSpPr>
            <a:spLocks noGrp="1"/>
          </p:cNvSpPr>
          <p:nvPr/>
        </p:nvSpPr>
        <p:spPr>
          <a:xfrm>
            <a:off x="6905625" y="3000375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Arquitetura explícita para estado, ação e dinâmica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6C4BFE88-F85F-4E4C-9AC4-3D94F573BC13}"/>
              </a:ext>
            </a:extLst>
          </p:cNvPr>
          <p:cNvSpPr>
            <a:spLocks noGrp="1"/>
          </p:cNvSpPr>
          <p:nvPr/>
        </p:nvSpPr>
        <p:spPr>
          <a:xfrm>
            <a:off x="6524625" y="34861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58466"/>
                </a:solidFill>
              </a:defRPr>
            </a:pPr>
            <a:r>
              <a:rPr sz="1350" b="1">
                <a:solidFill>
                  <a:srgbClr val="158466"/>
                </a:solidFill>
              </a:rPr>
              <a:t>✓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54989957-37A2-4C4D-A9BD-DAAD3C9AB76D}"/>
              </a:ext>
            </a:extLst>
          </p:cNvPr>
          <p:cNvSpPr>
            <a:spLocks noGrp="1"/>
          </p:cNvSpPr>
          <p:nvPr/>
        </p:nvSpPr>
        <p:spPr>
          <a:xfrm>
            <a:off x="6905625" y="344805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Separação técnica entre ground truth e previsão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55192483-A192-48A5-96C2-0DFD39061E94}"/>
              </a:ext>
            </a:extLst>
          </p:cNvPr>
          <p:cNvSpPr>
            <a:spLocks noGrp="1"/>
          </p:cNvSpPr>
          <p:nvPr/>
        </p:nvSpPr>
        <p:spPr>
          <a:xfrm>
            <a:off x="6524625" y="39338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58466"/>
                </a:solidFill>
              </a:defRPr>
            </a:pPr>
            <a:r>
              <a:rPr sz="1350" b="1">
                <a:solidFill>
                  <a:srgbClr val="158466"/>
                </a:solidFill>
              </a:rPr>
              <a:t>✓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8DE1080A-73D9-49BF-9EF7-D38D434EEAA0}"/>
              </a:ext>
            </a:extLst>
          </p:cNvPr>
          <p:cNvSpPr>
            <a:spLocks noGrp="1"/>
          </p:cNvSpPr>
          <p:nvPr/>
        </p:nvSpPr>
        <p:spPr>
          <a:xfrm>
            <a:off x="6905625" y="3895725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Métricas held-out e rastreamento de experimentos</a:t>
            </a:r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98DE166B-4762-4A26-8269-1F722E2640B4}"/>
              </a:ext>
            </a:extLst>
          </p:cNvPr>
          <p:cNvSpPr>
            <a:spLocks noGrp="1"/>
          </p:cNvSpPr>
          <p:nvPr/>
        </p:nvSpPr>
        <p:spPr>
          <a:xfrm>
            <a:off x="6524625" y="43815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58466"/>
                </a:solidFill>
              </a:defRPr>
            </a:pPr>
            <a:r>
              <a:rPr sz="1350" b="1">
                <a:solidFill>
                  <a:srgbClr val="158466"/>
                </a:solidFill>
              </a:rPr>
              <a:t>✓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55D01BEB-7456-42A5-B5E2-2218F835B5BD}"/>
              </a:ext>
            </a:extLst>
          </p:cNvPr>
          <p:cNvSpPr>
            <a:spLocks noGrp="1"/>
          </p:cNvSpPr>
          <p:nvPr/>
        </p:nvSpPr>
        <p:spPr>
          <a:xfrm>
            <a:off x="6905625" y="434340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Simulação multi-step fechada com checkpoint EXP‑005</a:t>
            </a:r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DA36F433-3BDB-44AA-A2E3-84DB0338212E}"/>
              </a:ext>
            </a:extLst>
          </p:cNvPr>
          <p:cNvSpPr>
            <a:spLocks noGrp="1"/>
          </p:cNvSpPr>
          <p:nvPr/>
        </p:nvSpPr>
        <p:spPr>
          <a:xfrm>
            <a:off x="6524625" y="48291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58466"/>
                </a:solidFill>
              </a:defRPr>
            </a:pPr>
            <a:r>
              <a:rPr sz="1350" b="1">
                <a:solidFill>
                  <a:srgbClr val="158466"/>
                </a:solidFill>
              </a:rPr>
              <a:t>✓</a:t>
            </a:r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28BEF72B-7A19-4021-B21E-6F5013C81EFB}"/>
              </a:ext>
            </a:extLst>
          </p:cNvPr>
          <p:cNvSpPr>
            <a:spLocks noGrp="1"/>
          </p:cNvSpPr>
          <p:nvPr/>
        </p:nvSpPr>
        <p:spPr>
          <a:xfrm>
            <a:off x="6905625" y="4791075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Interface didática com linguagem e controles revisados</a:t>
            </a:r>
          </a:p>
        </p:txBody>
      </p:sp>
    </p:spTree>
    <p:extLst>
      <p:ext uri="{BB962C8B-B14F-4D97-AF65-F5344CB8AC3E}">
        <p14:creationId xmlns:p14="http://schemas.microsoft.com/office/powerpoint/2010/main" val="102139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">
            <a:extLst>
              <a:ext uri="{FF2B5EF4-FFF2-40B4-BE49-F238E27FC236}">
                <a16:creationId xmlns:a16="http://schemas.microsoft.com/office/drawing/2014/main" id="{6CD4CBBB-4ABB-4141-9F06-F1858726173C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1AC3E54-8E87-4B98-9060-4455478CDE05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Próximo marco: transformar a prova técnica em evidência de generalização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B28B0258-272B-429D-958F-9DB6D588BAE1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DD2A55A-7C41-465B-B815-D14E5ADBFE99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13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CA09D11-6BAB-4B0D-ACE3-24BA86FA3238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4874A92-F577-47FB-A21E-0F89AEE9DD8F}"/>
              </a:ext>
            </a:extLst>
          </p:cNvPr>
          <p:cNvSpPr>
            <a:spLocks noGrp="1"/>
          </p:cNvSpPr>
          <p:nvPr/>
        </p:nvSpPr>
        <p:spPr>
          <a:xfrm>
            <a:off x="1095375" y="17145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Versionar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FBA8EE8-B040-41CF-82C8-85E4D8790AE6}"/>
              </a:ext>
            </a:extLst>
          </p:cNvPr>
          <p:cNvSpPr>
            <a:spLocks noGrp="1"/>
          </p:cNvSpPr>
          <p:nvPr/>
        </p:nvSpPr>
        <p:spPr>
          <a:xfrm>
            <a:off x="3429000" y="1714500"/>
            <a:ext cx="742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Levar o código validado ao repo do projeto, com commits por experimento.</a:t>
            </a:r>
          </a:p>
        </p:txBody>
      </p:sp>
      <p:sp>
        <p:nvSpPr>
          <p:cNvPr id="8" name="rule">
            <a:extLst>
              <a:ext uri="{FF2B5EF4-FFF2-40B4-BE49-F238E27FC236}">
                <a16:creationId xmlns:a16="http://schemas.microsoft.com/office/drawing/2014/main" id="{47C619FE-A4DD-4432-BB87-57D687DA2E87}"/>
              </a:ext>
            </a:extLst>
          </p:cNvPr>
          <p:cNvSpPr>
            <a:spLocks noGrp="1"/>
          </p:cNvSpPr>
          <p:nvPr/>
        </p:nvSpPr>
        <p:spPr>
          <a:xfrm>
            <a:off x="1095375" y="2428875"/>
            <a:ext cx="976312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5DA8A1E6-2AA2-4308-9067-BB389A665559}"/>
              </a:ext>
            </a:extLst>
          </p:cNvPr>
          <p:cNvSpPr>
            <a:spLocks noGrp="1"/>
          </p:cNvSpPr>
          <p:nvPr/>
        </p:nvSpPr>
        <p:spPr>
          <a:xfrm>
            <a:off x="400050" y="2667000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4425880-03A5-4422-A3E1-1D67DDCDAC6C}"/>
              </a:ext>
            </a:extLst>
          </p:cNvPr>
          <p:cNvSpPr>
            <a:spLocks noGrp="1"/>
          </p:cNvSpPr>
          <p:nvPr/>
        </p:nvSpPr>
        <p:spPr>
          <a:xfrm>
            <a:off x="1095375" y="26670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Stress-test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F3B6E398-2FCE-4FD5-BCD3-EA20D16E62B6}"/>
              </a:ext>
            </a:extLst>
          </p:cNvPr>
          <p:cNvSpPr>
            <a:spLocks noGrp="1"/>
          </p:cNvSpPr>
          <p:nvPr/>
        </p:nvSpPr>
        <p:spPr>
          <a:xfrm>
            <a:off x="3429000" y="2667000"/>
            <a:ext cx="742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Novas seeds, populações, preços e regras; medir degradação por horizonte.</a:t>
            </a:r>
          </a:p>
        </p:txBody>
      </p:sp>
      <p:sp>
        <p:nvSpPr>
          <p:cNvPr id="12" name="rule">
            <a:extLst>
              <a:ext uri="{FF2B5EF4-FFF2-40B4-BE49-F238E27FC236}">
                <a16:creationId xmlns:a16="http://schemas.microsoft.com/office/drawing/2014/main" id="{487B6DA6-4FCB-4BB2-A372-30C2106CE937}"/>
              </a:ext>
            </a:extLst>
          </p:cNvPr>
          <p:cNvSpPr>
            <a:spLocks noGrp="1"/>
          </p:cNvSpPr>
          <p:nvPr/>
        </p:nvSpPr>
        <p:spPr>
          <a:xfrm>
            <a:off x="1095375" y="3381375"/>
            <a:ext cx="976312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AAC10EE-2C2E-43EA-8D68-CF25EAD6C0EC}"/>
              </a:ext>
            </a:extLst>
          </p:cNvPr>
          <p:cNvSpPr>
            <a:spLocks noGrp="1"/>
          </p:cNvSpPr>
          <p:nvPr/>
        </p:nvSpPr>
        <p:spPr>
          <a:xfrm>
            <a:off x="400050" y="3619500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4A2BCC83-2D11-405B-8C83-504CD966AEE7}"/>
              </a:ext>
            </a:extLst>
          </p:cNvPr>
          <p:cNvSpPr>
            <a:spLocks noGrp="1"/>
          </p:cNvSpPr>
          <p:nvPr/>
        </p:nvSpPr>
        <p:spPr>
          <a:xfrm>
            <a:off x="1095375" y="36195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Contrafactuais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BE987D5-6729-4DA1-AC86-344B96351724}"/>
              </a:ext>
            </a:extLst>
          </p:cNvPr>
          <p:cNvSpPr>
            <a:spLocks noGrp="1"/>
          </p:cNvSpPr>
          <p:nvPr/>
        </p:nvSpPr>
        <p:spPr>
          <a:xfrm>
            <a:off x="3429000" y="3619500"/>
            <a:ext cx="742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Mesmo estado inicial, ações alternativas, comparação com o oracle.</a:t>
            </a:r>
          </a:p>
        </p:txBody>
      </p:sp>
      <p:sp>
        <p:nvSpPr>
          <p:cNvPr id="16" name="rule">
            <a:extLst>
              <a:ext uri="{FF2B5EF4-FFF2-40B4-BE49-F238E27FC236}">
                <a16:creationId xmlns:a16="http://schemas.microsoft.com/office/drawing/2014/main" id="{42848EE8-5557-431F-9FCD-FB1BFD704059}"/>
              </a:ext>
            </a:extLst>
          </p:cNvPr>
          <p:cNvSpPr>
            <a:spLocks noGrp="1"/>
          </p:cNvSpPr>
          <p:nvPr/>
        </p:nvSpPr>
        <p:spPr>
          <a:xfrm>
            <a:off x="1095375" y="4333875"/>
            <a:ext cx="976312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B9AE06E8-6E76-4B08-B496-34F51215FB52}"/>
              </a:ext>
            </a:extLst>
          </p:cNvPr>
          <p:cNvSpPr>
            <a:spLocks noGrp="1"/>
          </p:cNvSpPr>
          <p:nvPr/>
        </p:nvSpPr>
        <p:spPr>
          <a:xfrm>
            <a:off x="400050" y="4572000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46AF77C9-5866-4916-B6CA-43347D92732D}"/>
              </a:ext>
            </a:extLst>
          </p:cNvPr>
          <p:cNvSpPr>
            <a:spLocks noGrp="1"/>
          </p:cNvSpPr>
          <p:nvPr/>
        </p:nvSpPr>
        <p:spPr>
          <a:xfrm>
            <a:off x="1095375" y="45720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Ponte para dados reais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1FD2F29E-1913-4D7C-B03E-5E84C7DD7E2A}"/>
              </a:ext>
            </a:extLst>
          </p:cNvPr>
          <p:cNvSpPr>
            <a:spLocks noGrp="1"/>
          </p:cNvSpPr>
          <p:nvPr/>
        </p:nvSpPr>
        <p:spPr>
          <a:xfrm>
            <a:off x="3429000" y="4572000"/>
            <a:ext cx="742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Definir schema, governança, privacidade e protocolo de validação offline.</a:t>
            </a:r>
          </a:p>
        </p:txBody>
      </p:sp>
      <p:sp>
        <p:nvSpPr>
          <p:cNvPr id="20" name="rule">
            <a:extLst>
              <a:ext uri="{FF2B5EF4-FFF2-40B4-BE49-F238E27FC236}">
                <a16:creationId xmlns:a16="http://schemas.microsoft.com/office/drawing/2014/main" id="{E8932606-3771-4B04-9F80-F93223BEA3C7}"/>
              </a:ext>
            </a:extLst>
          </p:cNvPr>
          <p:cNvSpPr>
            <a:spLocks noGrp="1"/>
          </p:cNvSpPr>
          <p:nvPr/>
        </p:nvSpPr>
        <p:spPr>
          <a:xfrm>
            <a:off x="1095375" y="5286375"/>
            <a:ext cx="976312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box">
            <a:extLst>
              <a:ext uri="{FF2B5EF4-FFF2-40B4-BE49-F238E27FC236}">
                <a16:creationId xmlns:a16="http://schemas.microsoft.com/office/drawing/2014/main" id="{CB799D36-95F6-40FC-8080-36DB39A69332}"/>
              </a:ext>
            </a:extLst>
          </p:cNvPr>
          <p:cNvSpPr>
            <a:spLocks noGrp="1"/>
          </p:cNvSpPr>
          <p:nvPr/>
        </p:nvSpPr>
        <p:spPr>
          <a:xfrm>
            <a:off x="400050" y="5715000"/>
            <a:ext cx="11029950" cy="495300"/>
          </a:xfrm>
          <a:prstGeom prst="roundRect">
            <a:avLst>
              <a:gd name="adj" fmla="val 15385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C22A1A22-2DBD-4899-AFE9-B1CF6B251C3A}"/>
              </a:ext>
            </a:extLst>
          </p:cNvPr>
          <p:cNvSpPr>
            <a:spLocks noGrp="1"/>
          </p:cNvSpPr>
          <p:nvPr/>
        </p:nvSpPr>
        <p:spPr>
          <a:xfrm>
            <a:off x="619125" y="5715000"/>
            <a:ext cx="1057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Decisão solicitada: aprovar o próximo ciclo de validação — não um uso produtivo do modelo.</a:t>
            </a:r>
          </a:p>
        </p:txBody>
      </p:sp>
    </p:spTree>
    <p:extLst>
      <p:ext uri="{BB962C8B-B14F-4D97-AF65-F5344CB8AC3E}">
        <p14:creationId xmlns:p14="http://schemas.microsoft.com/office/powerpoint/2010/main" val="5017815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2251</Words>
  <Application>Microsoft Office PowerPoint</Application>
  <DocSecurity>0</DocSecurity>
  <PresentationFormat>Widescreen</PresentationFormat>
  <Paragraphs>362</Paragraphs>
  <Slides>13</Slides>
  <Notes>13</Notes>
  <HiddenSlides>4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5" baseType="lpstr"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Romulo Marques</cp:lastModifiedBy>
  <cp:revision>1</cp:revision>
  <dcterms:created xsi:type="dcterms:W3CDTF">2026-09-02T17:35:40Z</dcterms:created>
  <dcterms:modified xsi:type="dcterms:W3CDTF">2026-09-02T19:16:54Z</dcterms:modified>
</cp:coreProperties>
</file>