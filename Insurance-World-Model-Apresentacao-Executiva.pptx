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mulo Marques" userId="aba3004fb207da0a" providerId="LiveId" clId="{59D05204-C98F-40C7-9C3A-68550271405B}"/>
    <pc:docChg chg="undo custSel modSld">
      <pc:chgData name="Romulo Marques" userId="aba3004fb207da0a" providerId="LiveId" clId="{59D05204-C98F-40C7-9C3A-68550271405B}" dt="2026-09-02T14:31:52.142" v="40" actId="478"/>
      <pc:docMkLst>
        <pc:docMk/>
      </pc:docMkLst>
      <pc:sldChg chg="mod modShow">
        <pc:chgData name="Romulo Marques" userId="aba3004fb207da0a" providerId="LiveId" clId="{59D05204-C98F-40C7-9C3A-68550271405B}" dt="2026-09-02T14:31:04.307" v="6" actId="729"/>
        <pc:sldMkLst>
          <pc:docMk/>
          <pc:sldMk cId="624241529" sldId="259"/>
        </pc:sldMkLst>
      </pc:sldChg>
      <pc:sldChg chg="modSp mod">
        <pc:chgData name="Romulo Marques" userId="aba3004fb207da0a" providerId="LiveId" clId="{59D05204-C98F-40C7-9C3A-68550271405B}" dt="2026-09-02T14:31:19.803" v="37" actId="1038"/>
        <pc:sldMkLst>
          <pc:docMk/>
          <pc:sldMk cId="1458839770" sldId="262"/>
        </pc:sldMkLst>
        <pc:spChg chg="mod">
          <ac:chgData name="Romulo Marques" userId="aba3004fb207da0a" providerId="LiveId" clId="{59D05204-C98F-40C7-9C3A-68550271405B}" dt="2026-09-02T14:31:19.803" v="37" actId="1038"/>
          <ac:spMkLst>
            <pc:docMk/>
            <pc:sldMk cId="1458839770" sldId="262"/>
            <ac:spMk id="24" creationId="{66A4C98C-2FB9-4356-A590-A201589A22C1}"/>
          </ac:spMkLst>
        </pc:spChg>
        <pc:spChg chg="mod">
          <ac:chgData name="Romulo Marques" userId="aba3004fb207da0a" providerId="LiveId" clId="{59D05204-C98F-40C7-9C3A-68550271405B}" dt="2026-09-02T14:31:19.803" v="37" actId="1038"/>
          <ac:spMkLst>
            <pc:docMk/>
            <pc:sldMk cId="1458839770" sldId="262"/>
            <ac:spMk id="25" creationId="{FA60A577-35B4-4D31-B793-56E857ECEDD2}"/>
          </ac:spMkLst>
        </pc:spChg>
        <pc:spChg chg="mod">
          <ac:chgData name="Romulo Marques" userId="aba3004fb207da0a" providerId="LiveId" clId="{59D05204-C98F-40C7-9C3A-68550271405B}" dt="2026-09-02T14:31:19.803" v="37" actId="1038"/>
          <ac:spMkLst>
            <pc:docMk/>
            <pc:sldMk cId="1458839770" sldId="262"/>
            <ac:spMk id="26" creationId="{E4B5C2A5-001B-4F23-9E24-9835294CD3A2}"/>
          </ac:spMkLst>
        </pc:spChg>
        <pc:spChg chg="mod">
          <ac:chgData name="Romulo Marques" userId="aba3004fb207da0a" providerId="LiveId" clId="{59D05204-C98F-40C7-9C3A-68550271405B}" dt="2026-09-02T14:31:19.803" v="37" actId="1038"/>
          <ac:spMkLst>
            <pc:docMk/>
            <pc:sldMk cId="1458839770" sldId="262"/>
            <ac:spMk id="28" creationId="{23546BC3-BF73-4A84-881D-624DD64DA8DC}"/>
          </ac:spMkLst>
        </pc:spChg>
        <pc:spChg chg="mod">
          <ac:chgData name="Romulo Marques" userId="aba3004fb207da0a" providerId="LiveId" clId="{59D05204-C98F-40C7-9C3A-68550271405B}" dt="2026-09-02T14:31:19.803" v="37" actId="1038"/>
          <ac:spMkLst>
            <pc:docMk/>
            <pc:sldMk cId="1458839770" sldId="262"/>
            <ac:spMk id="29" creationId="{5738C8BE-FC03-4007-B91C-C0F99DD34FC8}"/>
          </ac:spMkLst>
        </pc:spChg>
        <pc:spChg chg="mod">
          <ac:chgData name="Romulo Marques" userId="aba3004fb207da0a" providerId="LiveId" clId="{59D05204-C98F-40C7-9C3A-68550271405B}" dt="2026-09-02T14:31:19.803" v="37" actId="1038"/>
          <ac:spMkLst>
            <pc:docMk/>
            <pc:sldMk cId="1458839770" sldId="262"/>
            <ac:spMk id="30" creationId="{D641D2B4-CAB1-4C6C-A527-06C89F143191}"/>
          </ac:spMkLst>
        </pc:spChg>
        <pc:spChg chg="mod">
          <ac:chgData name="Romulo Marques" userId="aba3004fb207da0a" providerId="LiveId" clId="{59D05204-C98F-40C7-9C3A-68550271405B}" dt="2026-09-02T14:31:19.803" v="37" actId="1038"/>
          <ac:spMkLst>
            <pc:docMk/>
            <pc:sldMk cId="1458839770" sldId="262"/>
            <ac:spMk id="31" creationId="{C0220DD0-A18F-4CD0-8134-25AC6DE3E155}"/>
          </ac:spMkLst>
        </pc:spChg>
        <pc:spChg chg="mod">
          <ac:chgData name="Romulo Marques" userId="aba3004fb207da0a" providerId="LiveId" clId="{59D05204-C98F-40C7-9C3A-68550271405B}" dt="2026-09-02T14:31:19.803" v="37" actId="1038"/>
          <ac:spMkLst>
            <pc:docMk/>
            <pc:sldMk cId="1458839770" sldId="262"/>
            <ac:spMk id="32" creationId="{8AB1184F-45FA-4246-930E-8F0260EF88CF}"/>
          </ac:spMkLst>
        </pc:spChg>
        <pc:spChg chg="mod">
          <ac:chgData name="Romulo Marques" userId="aba3004fb207da0a" providerId="LiveId" clId="{59D05204-C98F-40C7-9C3A-68550271405B}" dt="2026-09-02T14:31:19.803" v="37" actId="1038"/>
          <ac:spMkLst>
            <pc:docMk/>
            <pc:sldMk cId="1458839770" sldId="262"/>
            <ac:spMk id="34" creationId="{516BFDF5-0EC6-4585-89CE-88839273F244}"/>
          </ac:spMkLst>
        </pc:spChg>
        <pc:spChg chg="mod">
          <ac:chgData name="Romulo Marques" userId="aba3004fb207da0a" providerId="LiveId" clId="{59D05204-C98F-40C7-9C3A-68550271405B}" dt="2026-09-02T14:31:19.803" v="37" actId="1038"/>
          <ac:spMkLst>
            <pc:docMk/>
            <pc:sldMk cId="1458839770" sldId="262"/>
            <ac:spMk id="35" creationId="{21EBA379-6BA9-41D8-8051-481DA6F0BBB5}"/>
          </ac:spMkLst>
        </pc:spChg>
      </pc:sldChg>
      <pc:sldChg chg="delSp mod">
        <pc:chgData name="Romulo Marques" userId="aba3004fb207da0a" providerId="LiveId" clId="{59D05204-C98F-40C7-9C3A-68550271405B}" dt="2026-09-02T14:31:52.142" v="40" actId="478"/>
        <pc:sldMkLst>
          <pc:docMk/>
          <pc:sldMk cId="1582148867" sldId="264"/>
        </pc:sldMkLst>
        <pc:spChg chg="del">
          <ac:chgData name="Romulo Marques" userId="aba3004fb207da0a" providerId="LiveId" clId="{59D05204-C98F-40C7-9C3A-68550271405B}" dt="2026-09-02T14:31:46.573" v="38" actId="478"/>
          <ac:spMkLst>
            <pc:docMk/>
            <pc:sldMk cId="1582148867" sldId="264"/>
            <ac:spMk id="23" creationId="{4DC1F36F-72D1-45FD-A933-D9E1764A3624}"/>
          </ac:spMkLst>
        </pc:spChg>
        <pc:spChg chg="del">
          <ac:chgData name="Romulo Marques" userId="aba3004fb207da0a" providerId="LiveId" clId="{59D05204-C98F-40C7-9C3A-68550271405B}" dt="2026-09-02T14:31:50.237" v="39" actId="478"/>
          <ac:spMkLst>
            <pc:docMk/>
            <pc:sldMk cId="1582148867" sldId="264"/>
            <ac:spMk id="24" creationId="{1D43DF8F-7B57-4731-9A61-1916E1726D1C}"/>
          </ac:spMkLst>
        </pc:spChg>
        <pc:spChg chg="del">
          <ac:chgData name="Romulo Marques" userId="aba3004fb207da0a" providerId="LiveId" clId="{59D05204-C98F-40C7-9C3A-68550271405B}" dt="2026-09-02T14:31:52.142" v="40" actId="478"/>
          <ac:spMkLst>
            <pc:docMk/>
            <pc:sldMk cId="1582148867" sldId="264"/>
            <ac:spMk id="25" creationId="{9BB5B75D-CC51-4E92-9634-CD7B84DABF3F}"/>
          </ac:spMkLst>
        </pc:spChg>
      </pc:sldChg>
    </pc:docChg>
  </pc:docChgLst>
</pc:chgInfo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Baseline EXP‑001</c:v>
          </c:tx>
          <c:spPr>
            <a:solidFill>
              <a:srgbClr val="B8BCC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050" b="1">
                    <a:solidFill>
                      <a:srgbClr val="111318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Next-state RMSE
(↓ melhor)</c:v>
              </c:pt>
              <c:pt idx="1">
                <c:v>Reward MAE
(↓ melhor)</c:v>
              </c:pt>
              <c:pt idx="2">
                <c:v>Erro de jornada
(↓ melhor)</c:v>
              </c:pt>
            </c:strLit>
          </c:cat>
          <c:val>
            <c:numLit>
              <c:formatCode>General</c:formatCode>
              <c:ptCount val="3"/>
              <c:pt idx="0">
                <c:v>6.806</c:v>
              </c:pt>
              <c:pt idx="1">
                <c:v>2.8450000000000002</c:v>
              </c:pt>
              <c:pt idx="2">
                <c:v>13.039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662-460F-B705-5D63DCAC9A6B}"/>
            </c:ext>
          </c:extLst>
        </c:ser>
        <c:ser>
          <c:idx val="1"/>
          <c:order val="1"/>
          <c:tx>
            <c:v>World Model EXP‑005</c:v>
          </c:tx>
          <c:spPr>
            <a:solidFill>
              <a:srgbClr val="3D8DF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050" b="1">
                    <a:solidFill>
                      <a:srgbClr val="111318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Next-state RMSE
(↓ melhor)</c:v>
              </c:pt>
              <c:pt idx="1">
                <c:v>Reward MAE
(↓ melhor)</c:v>
              </c:pt>
              <c:pt idx="2">
                <c:v>Erro de jornada
(↓ melhor)</c:v>
              </c:pt>
            </c:strLit>
          </c:cat>
          <c:val>
            <c:numLit>
              <c:formatCode>General</c:formatCode>
              <c:ptCount val="3"/>
              <c:pt idx="0">
                <c:v>6.5960000000000001</c:v>
              </c:pt>
              <c:pt idx="1">
                <c:v>2.4140000000000001</c:v>
              </c:pt>
              <c:pt idx="2">
                <c:v>9.1219999999999999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9662-460F-B705-5D63DCAC9A6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06772"/>
                </a:solidFill>
              </a:defRPr>
            </a:pPr>
            <a:endParaRPr lang="pt-B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noFill/>
        <a:ln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050">
              <a:solidFill>
                <a:srgbClr val="606772"/>
              </a:solidFill>
            </a:defRPr>
          </a:pPr>
          <a:endParaRPr lang="pt-BR"/>
        </a:p>
      </c:txPr>
    </c:legend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[Sources]</a:t>
            </a:r>
          </a:p>
          <a:p>
            <a:r>
              <a:t>- C:/Users/t-gamer/Documents/Codex/2026-09-01/files-pasted-by-the-user-projeto/insurance-world-model/PROJECT_SPEC.md</a:t>
            </a:r>
          </a:p>
          <a:p>
            <a:r>
              <a:t>- C:/Users/t-gamer/Documents/Codex/2026-09-01/files-pasted-by-the-user-projeto/insurance-world-model/README.md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Mensagem: demonstramos o pipeline, não uma decisão de negócio pronta para produção.</a:t>
            </a:r>
          </a:p>
          <a:p>
            <a:endParaRPr/>
          </a:p>
          <a:p>
            <a:r>
              <a:t>[Sources]</a:t>
            </a:r>
          </a:p>
          <a:p>
            <a:r>
              <a:t>- C:/Users/t-gamer/Documents/Codex/2026-09-01/files-pasted-by-the-user-projeto/insurance-world-model/PROJECT_SPEC.md</a:t>
            </a:r>
          </a:p>
          <a:p>
            <a:r>
              <a:t>- C:/Users/t-gamer/Documents/Codex/2026-09-01/files-pasted-by-the-user-projeto/insurance-world-model/README.md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Ponto de fala: um world model também é um algoritmo preditivo; ele não substitui automaticamente modelos clássicos. Ele amplia a unidade de análise de um alvo para a dinâmica state + action → next state + reward.</a:t>
            </a:r>
          </a:p>
          <a:p>
            <a:endParaRPr/>
          </a:p>
          <a:p>
            <a:r>
              <a:t>[Sources]</a:t>
            </a:r>
          </a:p>
          <a:p>
            <a:r>
              <a:t>- C:/Users/t-gamer/Documents/Codex/2026-09-01/files-pasted-by-the-user-projeto/insurance-world-model/PROJECT_SPEC.md</a:t>
            </a:r>
          </a:p>
          <a:p>
            <a:r>
              <a:t>- C:/Users/t-gamer/Documents/Codex/2026-09-01/files-pasted-by-the-user-projeto/insurance-world-model/model/world_model.py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[Sources]</a:t>
            </a:r>
          </a:p>
          <a:p>
            <a:r>
              <a:t>- C:/Users/t-gamer/Documents/Codex/2026-09-01/files-pasted-by-the-user-projeto/insurance-world-model/README.md</a:t>
            </a:r>
          </a:p>
          <a:p>
            <a:r>
              <a:t>- Codex task: Criar ambiente sintético de seguros</a:t>
            </a:r>
          </a:p>
          <a:p>
            <a:r>
              <a:t>- Local project status: master, no commits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[Sources]</a:t>
            </a:r>
          </a:p>
          <a:p>
            <a:r>
              <a:t>- C:/Users/t-gamer/Documents/Codex/2026-09-01/files-pasted-by-the-user-projeto/insurance-world-model/README.md</a:t>
            </a:r>
          </a:p>
          <a:p>
            <a:r>
              <a:t>- C:/Users/t-gamer/Documents/Codex/2026-09-01/files-pasted-by-the-user-projeto/insurance-world-model/EXPERIMENTS.md</a:t>
            </a:r>
          </a:p>
          <a:p>
            <a:r>
              <a:t>- C:/Users/t-gamer/Documents/Codex/2026-09-01/files-pasted-by-the-user-projeto/insurance-world-model/artifacts/exp-005/run_metadata.json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[Sources]</a:t>
            </a:r>
          </a:p>
          <a:p>
            <a:r>
              <a:t>- C:/Users/t-gamer/Documents/Codex/2026-09-01/files-pasted-by-the-user-projeto/insurance-world-model/PROJECT_SPEC.md</a:t>
            </a:r>
          </a:p>
          <a:p>
            <a:r>
              <a:t>- C:/Users/t-gamer/Documents/Codex/2026-09-01/files-pasted-by-the-user-projeto/insurance-world-model/metodologia/preparacao-dataset-modelo.md</a:t>
            </a:r>
          </a:p>
          <a:p>
            <a:r>
              <a:t>- C:/Users/t-gamer/Documents/Codex/2026-09-01/files-pasted-by-the-user-projeto/insurance-world-model/metodologia/treinamento-baseline-mlp.md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[Sources]</a:t>
            </a:r>
          </a:p>
          <a:p>
            <a:r>
              <a:t>- C:/Users/t-gamer/Documents/Codex/2026-09-01/files-pasted-by-the-user-projeto/insurance-world-model/model/world_model.py</a:t>
            </a:r>
          </a:p>
          <a:p>
            <a:r>
              <a:t>- C:/Users/t-gamer/Documents/Codex/2026-09-01/files-pasted-by-the-user-projeto/insurance-world-model/model/encoder.py</a:t>
            </a:r>
          </a:p>
          <a:p>
            <a:r>
              <a:t>- C:/Users/t-gamer/Documents/Codex/2026-09-01/files-pasted-by-the-user-projeto/insurance-world-model/simulation/simulator.py</a:t>
            </a:r>
          </a:p>
          <a:p>
            <a:r>
              <a:t>- C:/Users/t-gamer/Documents/Codex/2026-09-01/files-pasted-by-the-user-projeto/insurance-world-model/api/app.py</a:t>
            </a:r>
          </a:p>
          <a:p>
            <a:r>
              <a:t>- C:/Users/t-gamer/Documents/Codex/2026-09-01/files-pasted-by-the-user-projeto/insurance-world-model/requirements.txt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Erro de jornada = 100% − acurácia. Valores calculados diretamente das métricas registradas.</a:t>
            </a:r>
          </a:p>
          <a:p>
            <a:endParaRPr/>
          </a:p>
          <a:p>
            <a:r>
              <a:t>[Sources]</a:t>
            </a:r>
          </a:p>
          <a:p>
            <a:r>
              <a:t>- C:/Users/t-gamer/Documents/Codex/2026-09-01/files-pasted-by-the-user-projeto/insurance-world-model/artifacts/exp-001/test_metrics.json</a:t>
            </a:r>
          </a:p>
          <a:p>
            <a:r>
              <a:t>- C:/Users/t-gamer/Documents/Codex/2026-09-01/files-pasted-by-the-user-projeto/insurance-world-model/artifacts/exp-005/test_metrics.json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[Sources]</a:t>
            </a:r>
          </a:p>
          <a:p>
            <a:r>
              <a:t>- C:/Users/t-gamer/Documents/Codex/2026-09-01/files-pasted-by-the-user-projeto/insurance-world-model/README.md</a:t>
            </a:r>
          </a:p>
          <a:p>
            <a:r>
              <a:t>- C:/Users/t-gamer/Documents/Codex/2026-09-01/files-pasted-by-the-user-projeto/insurance-world-model/artifacts/exp-003/optimization_report.json</a:t>
            </a:r>
          </a:p>
          <a:p>
            <a:r>
              <a:t>- C:/Users/t-gamer/Documents/Codex/2026-09-01/files-pasted-by-the-user-projeto/insurance-world-model/api/app.py</a:t>
            </a:r>
          </a:p>
          <a:p>
            <a:r>
              <a:t>- Codex task: Criar ambiente sintético de seguros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[Sources]</a:t>
            </a:r>
          </a:p>
          <a:p>
            <a:r>
              <a:t>- C:/Users/t-gamer/Documents/Codex/2026-09-01/files-pasted-by-the-user-projeto/insurance-world-model/PROJECT_SPEC.md</a:t>
            </a:r>
          </a:p>
          <a:p>
            <a:r>
              <a:t>- C:/Users/t-gamer/Documents/Codex/2026-09-01/files-pasted-by-the-user-projeto/insurance-world-model/metodologia/treinamento-baseline-mlp.md</a:t>
            </a:r>
          </a:p>
          <a:p>
            <a:r>
              <a:t>- C:/Users/t-gamer/Documents/Codex/2026-09-01/files-pasted-by-the-user-projeto/insurance-world-model/README.md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[Sources]</a:t>
            </a:r>
          </a:p>
          <a:p>
            <a:r>
              <a:t>- C:/Users/t-gamer/Documents/Codex/2026-09-01/files-pasted-by-the-user-projeto/insurance-world-model/PROJECT_SPEC.md</a:t>
            </a:r>
          </a:p>
          <a:p>
            <a:r>
              <a:t>- C:/Users/t-gamer/Documents/Codex/2026-09-01/files-pasted-by-the-user-projeto/insurance-world-model/README.md</a:t>
            </a:r>
          </a:p>
          <a:p>
            <a:r>
              <a:t>- C:/Users/t-gamer/Documents/Codex/2026-09-01/files-pasted-by-the-user-projeto/insurance-world-model/simulation/README.md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[Sources]</a:t>
            </a:r>
          </a:p>
          <a:p>
            <a:r>
              <a:t>- C:/Users/t-gamer/Documents/Codex/2026-09-01/files-pasted-by-the-user-projeto/insurance-world-model/PROJECT_SPEC.md</a:t>
            </a:r>
          </a:p>
          <a:p>
            <a:r>
              <a:t>- C:/Users/t-gamer/Documents/Codex/2026-09-01/files-pasted-by-the-user-projeto/insurance-world-model/EXPERIMENTS.md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">
            <a:extLst>
              <a:ext uri="{FF2B5EF4-FFF2-40B4-BE49-F238E27FC236}">
                <a16:creationId xmlns:a16="http://schemas.microsoft.com/office/drawing/2014/main" id="{F9987F18-6FA8-49CC-AC80-30D72A38A5B8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590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606772"/>
                </a:solidFill>
              </a:defRPr>
            </a:pPr>
            <a:r>
              <a:rPr sz="1200" b="1">
                <a:solidFill>
                  <a:srgbClr val="606772"/>
                </a:solidFill>
              </a:rPr>
              <a:t>P&amp;D • WORLD MODEL PARA SEGUROS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DB198509-3CC4-456A-BA71-8FAB7EE71248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54292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4350" b="1">
                <a:solidFill>
                  <a:srgbClr val="111318"/>
                </a:solidFill>
              </a:defRPr>
            </a:pPr>
            <a:r>
              <a:rPr sz="4350" b="1" dirty="0">
                <a:solidFill>
                  <a:srgbClr val="111318"/>
                </a:solidFill>
              </a:rPr>
              <a:t>Do </a:t>
            </a:r>
            <a:r>
              <a:rPr sz="4350" b="1" dirty="0" err="1">
                <a:solidFill>
                  <a:srgbClr val="111318"/>
                </a:solidFill>
              </a:rPr>
              <a:t>conceito</a:t>
            </a:r>
            <a:r>
              <a:rPr sz="4350" b="1" dirty="0">
                <a:solidFill>
                  <a:srgbClr val="111318"/>
                </a:solidFill>
              </a:rPr>
              <a:t> à</a:t>
            </a:r>
          </a:p>
          <a:p>
            <a:pPr algn="l">
              <a:defRPr sz="4350" b="1">
                <a:solidFill>
                  <a:srgbClr val="111318"/>
                </a:solidFill>
              </a:defRPr>
            </a:pPr>
            <a:r>
              <a:rPr sz="4350" b="1" dirty="0" err="1">
                <a:solidFill>
                  <a:srgbClr val="111318"/>
                </a:solidFill>
              </a:rPr>
              <a:t>simulação</a:t>
            </a:r>
            <a:r>
              <a:rPr sz="4350" b="1" dirty="0">
                <a:solidFill>
                  <a:srgbClr val="111318"/>
                </a:solidFill>
              </a:rPr>
              <a:t> de </a:t>
            </a:r>
            <a:r>
              <a:rPr sz="4350" b="1" dirty="0" err="1">
                <a:solidFill>
                  <a:srgbClr val="111318"/>
                </a:solidFill>
              </a:rPr>
              <a:t>futuros</a:t>
            </a:r>
            <a:endParaRPr sz="4350" b="1" dirty="0">
              <a:solidFill>
                <a:srgbClr val="111318"/>
              </a:solidFill>
            </a:endParaRP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EF14FE1E-0421-49E1-93CF-6A2517B99FE1}"/>
              </a:ext>
            </a:extLst>
          </p:cNvPr>
          <p:cNvSpPr>
            <a:spLocks noGrp="1"/>
          </p:cNvSpPr>
          <p:nvPr/>
        </p:nvSpPr>
        <p:spPr>
          <a:xfrm>
            <a:off x="400050" y="3524250"/>
            <a:ext cx="4953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0">
                <a:solidFill>
                  <a:srgbClr val="606772"/>
                </a:solidFill>
              </a:defRPr>
            </a:pPr>
            <a:r>
              <a:rPr sz="1875" b="0" dirty="0">
                <a:solidFill>
                  <a:srgbClr val="606772"/>
                </a:solidFill>
              </a:rPr>
              <a:t>O </a:t>
            </a:r>
            <a:r>
              <a:rPr sz="1875" b="0" dirty="0" err="1">
                <a:solidFill>
                  <a:srgbClr val="606772"/>
                </a:solidFill>
              </a:rPr>
              <a:t>que</a:t>
            </a:r>
            <a:r>
              <a:rPr sz="1875" b="0" dirty="0">
                <a:solidFill>
                  <a:srgbClr val="606772"/>
                </a:solidFill>
              </a:rPr>
              <a:t> </a:t>
            </a:r>
            <a:r>
              <a:rPr sz="1875" b="0" dirty="0" err="1">
                <a:solidFill>
                  <a:srgbClr val="606772"/>
                </a:solidFill>
              </a:rPr>
              <a:t>construímos</a:t>
            </a:r>
            <a:r>
              <a:rPr sz="1875" b="0" dirty="0">
                <a:solidFill>
                  <a:srgbClr val="606772"/>
                </a:solidFill>
              </a:rPr>
              <a:t>, </a:t>
            </a:r>
            <a:r>
              <a:rPr sz="1875" b="0" dirty="0" err="1">
                <a:solidFill>
                  <a:srgbClr val="606772"/>
                </a:solidFill>
              </a:rPr>
              <a:t>como</a:t>
            </a:r>
            <a:r>
              <a:rPr sz="1875" b="0" dirty="0">
                <a:solidFill>
                  <a:srgbClr val="606772"/>
                </a:solidFill>
              </a:rPr>
              <a:t> </a:t>
            </a:r>
            <a:r>
              <a:rPr sz="1875" b="0" dirty="0" err="1">
                <a:solidFill>
                  <a:srgbClr val="606772"/>
                </a:solidFill>
              </a:rPr>
              <a:t>decidimos</a:t>
            </a:r>
            <a:r>
              <a:rPr sz="1875" b="0" dirty="0">
                <a:solidFill>
                  <a:srgbClr val="606772"/>
                </a:solidFill>
              </a:rPr>
              <a:t> e </a:t>
            </a:r>
            <a:r>
              <a:rPr sz="1875" b="0" dirty="0" err="1">
                <a:solidFill>
                  <a:srgbClr val="606772"/>
                </a:solidFill>
              </a:rPr>
              <a:t>onde</a:t>
            </a:r>
            <a:r>
              <a:rPr sz="1875" b="0" dirty="0">
                <a:solidFill>
                  <a:srgbClr val="606772"/>
                </a:solidFill>
              </a:rPr>
              <a:t> o </a:t>
            </a:r>
            <a:r>
              <a:rPr sz="1875" b="0" dirty="0" err="1">
                <a:solidFill>
                  <a:srgbClr val="606772"/>
                </a:solidFill>
              </a:rPr>
              <a:t>modelo</a:t>
            </a:r>
            <a:r>
              <a:rPr sz="1875" b="0" dirty="0">
                <a:solidFill>
                  <a:srgbClr val="606772"/>
                </a:solidFill>
              </a:rPr>
              <a:t> </a:t>
            </a:r>
            <a:r>
              <a:rPr sz="1875" b="0" dirty="0" err="1">
                <a:solidFill>
                  <a:srgbClr val="606772"/>
                </a:solidFill>
              </a:rPr>
              <a:t>ainda</a:t>
            </a:r>
            <a:r>
              <a:rPr sz="1875" b="0" dirty="0">
                <a:solidFill>
                  <a:srgbClr val="606772"/>
                </a:solidFill>
              </a:rPr>
              <a:t> </a:t>
            </a:r>
            <a:r>
              <a:rPr sz="1875" b="0" dirty="0" err="1">
                <a:solidFill>
                  <a:srgbClr val="606772"/>
                </a:solidFill>
              </a:rPr>
              <a:t>não</a:t>
            </a:r>
            <a:r>
              <a:rPr sz="1875" b="0" dirty="0">
                <a:solidFill>
                  <a:srgbClr val="606772"/>
                </a:solidFill>
              </a:rPr>
              <a:t> </a:t>
            </a:r>
            <a:r>
              <a:rPr sz="1875" b="0" dirty="0" err="1">
                <a:solidFill>
                  <a:srgbClr val="606772"/>
                </a:solidFill>
              </a:rPr>
              <a:t>pode</a:t>
            </a:r>
            <a:r>
              <a:rPr sz="1875" b="0" dirty="0">
                <a:solidFill>
                  <a:srgbClr val="606772"/>
                </a:solidFill>
              </a:rPr>
              <a:t> ser </a:t>
            </a:r>
            <a:r>
              <a:rPr sz="1875" b="0" dirty="0" err="1">
                <a:solidFill>
                  <a:srgbClr val="606772"/>
                </a:solidFill>
              </a:rPr>
              <a:t>usado</a:t>
            </a:r>
            <a:endParaRPr sz="1875" b="0" dirty="0">
              <a:solidFill>
                <a:srgbClr val="606772"/>
              </a:solidFill>
            </a:endParaRPr>
          </a:p>
        </p:txBody>
      </p:sp>
      <p:sp>
        <p:nvSpPr>
          <p:cNvPr id="4" name="box">
            <a:extLst>
              <a:ext uri="{FF2B5EF4-FFF2-40B4-BE49-F238E27FC236}">
                <a16:creationId xmlns:a16="http://schemas.microsoft.com/office/drawing/2014/main" id="{B214AF50-86DE-4FD0-B001-B59D43A73AED}"/>
              </a:ext>
            </a:extLst>
          </p:cNvPr>
          <p:cNvSpPr>
            <a:spLocks noGrp="1"/>
          </p:cNvSpPr>
          <p:nvPr/>
        </p:nvSpPr>
        <p:spPr>
          <a:xfrm>
            <a:off x="6572250" y="400050"/>
            <a:ext cx="5219700" cy="5581650"/>
          </a:xfrm>
          <a:prstGeom prst="roundRect">
            <a:avLst>
              <a:gd name="adj" fmla="val 1460"/>
            </a:avLst>
          </a:prstGeom>
          <a:solidFill>
            <a:srgbClr val="F0F2F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AC4399AB-7DA8-4F8A-97AA-4E03575E6EBA}"/>
              </a:ext>
            </a:extLst>
          </p:cNvPr>
          <p:cNvSpPr>
            <a:spLocks noGrp="1"/>
          </p:cNvSpPr>
          <p:nvPr/>
        </p:nvSpPr>
        <p:spPr>
          <a:xfrm>
            <a:off x="7086600" y="1238250"/>
            <a:ext cx="95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750" b="1">
                <a:solidFill>
                  <a:srgbClr val="111318"/>
                </a:solidFill>
              </a:defRPr>
            </a:pPr>
            <a:r>
              <a:rPr sz="3750" b="1">
                <a:solidFill>
                  <a:srgbClr val="111318"/>
                </a:solidFill>
              </a:rPr>
              <a:t>Sₜ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CB216A7D-4D45-4B7A-929D-AD65BD576F4C}"/>
              </a:ext>
            </a:extLst>
          </p:cNvPr>
          <p:cNvSpPr>
            <a:spLocks noGrp="1"/>
          </p:cNvSpPr>
          <p:nvPr/>
        </p:nvSpPr>
        <p:spPr>
          <a:xfrm>
            <a:off x="8039100" y="1238250"/>
            <a:ext cx="47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000" b="0">
                <a:solidFill>
                  <a:srgbClr val="606772"/>
                </a:solidFill>
              </a:defRPr>
            </a:pPr>
            <a:r>
              <a:rPr sz="3000" b="0">
                <a:solidFill>
                  <a:srgbClr val="606772"/>
                </a:solidFill>
              </a:rPr>
              <a:t>+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8625A129-1536-46A4-ADB1-144A1CD06520}"/>
              </a:ext>
            </a:extLst>
          </p:cNvPr>
          <p:cNvSpPr>
            <a:spLocks noGrp="1"/>
          </p:cNvSpPr>
          <p:nvPr/>
        </p:nvSpPr>
        <p:spPr>
          <a:xfrm>
            <a:off x="8515350" y="1238250"/>
            <a:ext cx="95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750" b="1">
                <a:solidFill>
                  <a:srgbClr val="3D8DFF"/>
                </a:solidFill>
              </a:defRPr>
            </a:pPr>
            <a:r>
              <a:rPr sz="3750" b="1">
                <a:solidFill>
                  <a:srgbClr val="3D8DFF"/>
                </a:solidFill>
              </a:rPr>
              <a:t>Aₜ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6C167A1F-1F7D-41E0-80B3-CBD433BC8581}"/>
              </a:ext>
            </a:extLst>
          </p:cNvPr>
          <p:cNvSpPr>
            <a:spLocks noGrp="1"/>
          </p:cNvSpPr>
          <p:nvPr/>
        </p:nvSpPr>
        <p:spPr>
          <a:xfrm>
            <a:off x="8039100" y="209550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150" b="1">
                <a:solidFill>
                  <a:srgbClr val="606772"/>
                </a:solidFill>
              </a:defRPr>
            </a:pPr>
            <a:r>
              <a:rPr sz="3150" b="1">
                <a:solidFill>
                  <a:srgbClr val="606772"/>
                </a:solidFill>
              </a:rPr>
              <a:t>↓</a:t>
            </a:r>
          </a:p>
        </p:txBody>
      </p:sp>
      <p:sp>
        <p:nvSpPr>
          <p:cNvPr id="9" name="box">
            <a:extLst>
              <a:ext uri="{FF2B5EF4-FFF2-40B4-BE49-F238E27FC236}">
                <a16:creationId xmlns:a16="http://schemas.microsoft.com/office/drawing/2014/main" id="{871E5D8B-4F92-44F4-9EA6-B649CECE0730}"/>
              </a:ext>
            </a:extLst>
          </p:cNvPr>
          <p:cNvSpPr>
            <a:spLocks noGrp="1"/>
          </p:cNvSpPr>
          <p:nvPr/>
        </p:nvSpPr>
        <p:spPr>
          <a:xfrm>
            <a:off x="7219950" y="2714625"/>
            <a:ext cx="3924300" cy="1000125"/>
          </a:xfrm>
          <a:prstGeom prst="roundRect">
            <a:avLst>
              <a:gd name="adj" fmla="val 7619"/>
            </a:avLst>
          </a:prstGeom>
          <a:solidFill>
            <a:srgbClr val="11131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10C62D5B-983E-4CB2-89A4-25C1D424990D}"/>
              </a:ext>
            </a:extLst>
          </p:cNvPr>
          <p:cNvSpPr>
            <a:spLocks noGrp="1"/>
          </p:cNvSpPr>
          <p:nvPr/>
        </p:nvSpPr>
        <p:spPr>
          <a:xfrm>
            <a:off x="7219950" y="2714625"/>
            <a:ext cx="39243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WORLD MODEL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88A07FB0-CD59-48DE-9C9E-250B10010E59}"/>
              </a:ext>
            </a:extLst>
          </p:cNvPr>
          <p:cNvSpPr>
            <a:spLocks noGrp="1"/>
          </p:cNvSpPr>
          <p:nvPr/>
        </p:nvSpPr>
        <p:spPr>
          <a:xfrm>
            <a:off x="8039100" y="3857625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150" b="1">
                <a:solidFill>
                  <a:srgbClr val="606772"/>
                </a:solidFill>
              </a:defRPr>
            </a:pPr>
            <a:r>
              <a:rPr sz="3150" b="1">
                <a:solidFill>
                  <a:srgbClr val="606772"/>
                </a:solidFill>
              </a:rPr>
              <a:t>↓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58C411F8-FDD1-4017-B0A1-463FF7743A7B}"/>
              </a:ext>
            </a:extLst>
          </p:cNvPr>
          <p:cNvSpPr>
            <a:spLocks noGrp="1"/>
          </p:cNvSpPr>
          <p:nvPr/>
        </p:nvSpPr>
        <p:spPr>
          <a:xfrm>
            <a:off x="7048500" y="4495800"/>
            <a:ext cx="4191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300" b="1">
                <a:solidFill>
                  <a:srgbClr val="3D8DFF"/>
                </a:solidFill>
              </a:defRPr>
            </a:pPr>
            <a:r>
              <a:rPr sz="3300" b="1">
                <a:solidFill>
                  <a:srgbClr val="3D8DFF"/>
                </a:solidFill>
              </a:rPr>
              <a:t>Sₜ₊₁  +  Rₜ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7734734E-312C-43BD-BF00-2DCB32F6AF78}"/>
              </a:ext>
            </a:extLst>
          </p:cNvPr>
          <p:cNvSpPr>
            <a:spLocks noGrp="1"/>
          </p:cNvSpPr>
          <p:nvPr/>
        </p:nvSpPr>
        <p:spPr>
          <a:xfrm>
            <a:off x="400050" y="61912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606772"/>
                </a:solidFill>
              </a:defRPr>
            </a:pPr>
            <a:r>
              <a:rPr sz="1050" b="0">
                <a:solidFill>
                  <a:srgbClr val="606772"/>
                </a:solidFill>
              </a:rPr>
              <a:t>02 SET 2026</a:t>
            </a:r>
          </a:p>
        </p:txBody>
      </p:sp>
    </p:spTree>
    <p:extLst>
      <p:ext uri="{BB962C8B-B14F-4D97-AF65-F5344CB8AC3E}">
        <p14:creationId xmlns:p14="http://schemas.microsoft.com/office/powerpoint/2010/main" val="242102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">
            <a:extLst>
              <a:ext uri="{FF2B5EF4-FFF2-40B4-BE49-F238E27FC236}">
                <a16:creationId xmlns:a16="http://schemas.microsoft.com/office/drawing/2014/main" id="{89EAED2C-2A67-4A1E-80EE-D489A61901D5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606772"/>
                </a:solidFill>
              </a:defRPr>
            </a:pPr>
            <a:r>
              <a:rPr sz="1125" b="1">
                <a:solidFill>
                  <a:srgbClr val="606772"/>
                </a:solidFill>
              </a:rPr>
              <a:t>INSURANCE WORLD MODEL • P&amp;D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145A565C-19A6-44F6-A9AF-CE001C61DB22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049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318"/>
                </a:solidFill>
              </a:defRPr>
            </a:pPr>
            <a:r>
              <a:rPr sz="2850" b="1">
                <a:solidFill>
                  <a:srgbClr val="111318"/>
                </a:solidFill>
              </a:rPr>
              <a:t>A prova de conceito já percorre o ciclo completo — em ambiente sintético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6AD24A0C-9B72-4D61-9E02-A55E672733F5}"/>
              </a:ext>
            </a:extLst>
          </p:cNvPr>
          <p:cNvSpPr>
            <a:spLocks noGrp="1"/>
          </p:cNvSpPr>
          <p:nvPr/>
        </p:nvSpPr>
        <p:spPr>
          <a:xfrm>
            <a:off x="400050" y="1438275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4C5B82E6-0DAB-45A8-B16E-690B66F05401}"/>
              </a:ext>
            </a:extLst>
          </p:cNvPr>
          <p:cNvSpPr>
            <a:spLocks noGrp="1"/>
          </p:cNvSpPr>
          <p:nvPr/>
        </p:nvSpPr>
        <p:spPr>
          <a:xfrm>
            <a:off x="11334750" y="64008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0">
                <a:solidFill>
                  <a:srgbClr val="606772"/>
                </a:solidFill>
              </a:defRPr>
            </a:pPr>
            <a:r>
              <a:rPr sz="975" b="0">
                <a:solidFill>
                  <a:srgbClr val="606772"/>
                </a:solidFill>
              </a:rPr>
              <a:t>02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A2499F70-954E-42BF-BF05-27FFBD4E3514}"/>
              </a:ext>
            </a:extLst>
          </p:cNvPr>
          <p:cNvSpPr>
            <a:spLocks noGrp="1"/>
          </p:cNvSpPr>
          <p:nvPr/>
        </p:nvSpPr>
        <p:spPr>
          <a:xfrm>
            <a:off x="400050" y="1762125"/>
            <a:ext cx="3143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606772"/>
                </a:solidFill>
              </a:defRPr>
            </a:pPr>
            <a:r>
              <a:rPr sz="1500" b="1">
                <a:solidFill>
                  <a:srgbClr val="606772"/>
                </a:solidFill>
              </a:rPr>
              <a:t>A hipótese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A36CCC57-B92C-4439-A89C-4CFDF4A45DDB}"/>
              </a:ext>
            </a:extLst>
          </p:cNvPr>
          <p:cNvSpPr>
            <a:spLocks noGrp="1"/>
          </p:cNvSpPr>
          <p:nvPr/>
        </p:nvSpPr>
        <p:spPr>
          <a:xfrm>
            <a:off x="400050" y="2190750"/>
            <a:ext cx="385762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Aprender como o estado de um cliente evolui depois de uma ação da seguradora.</a:t>
            </a:r>
          </a:p>
        </p:txBody>
      </p:sp>
      <p:sp>
        <p:nvSpPr>
          <p:cNvPr id="7" name="box">
            <a:extLst>
              <a:ext uri="{FF2B5EF4-FFF2-40B4-BE49-F238E27FC236}">
                <a16:creationId xmlns:a16="http://schemas.microsoft.com/office/drawing/2014/main" id="{6E3C6B66-68FC-46BD-A933-E0920C227052}"/>
              </a:ext>
            </a:extLst>
          </p:cNvPr>
          <p:cNvSpPr>
            <a:spLocks noGrp="1"/>
          </p:cNvSpPr>
          <p:nvPr/>
        </p:nvSpPr>
        <p:spPr>
          <a:xfrm>
            <a:off x="4953000" y="1752600"/>
            <a:ext cx="6477000" cy="800100"/>
          </a:xfrm>
          <a:prstGeom prst="roundRect">
            <a:avLst>
              <a:gd name="adj" fmla="val 9524"/>
            </a:avLst>
          </a:prstGeom>
          <a:solidFill>
            <a:srgbClr val="F0F2F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93FF6291-E759-47A2-83C0-5044163D2D8C}"/>
              </a:ext>
            </a:extLst>
          </p:cNvPr>
          <p:cNvSpPr>
            <a:spLocks noGrp="1"/>
          </p:cNvSpPr>
          <p:nvPr/>
        </p:nvSpPr>
        <p:spPr>
          <a:xfrm>
            <a:off x="5143500" y="1752600"/>
            <a:ext cx="42862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2EC08C7A-D185-4B67-8137-D6BACFF256C1}"/>
              </a:ext>
            </a:extLst>
          </p:cNvPr>
          <p:cNvSpPr>
            <a:spLocks noGrp="1"/>
          </p:cNvSpPr>
          <p:nvPr/>
        </p:nvSpPr>
        <p:spPr>
          <a:xfrm>
            <a:off x="5715000" y="18097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11318"/>
                </a:solidFill>
              </a:defRPr>
            </a:pPr>
            <a:r>
              <a:rPr sz="1650" b="1">
                <a:solidFill>
                  <a:srgbClr val="111318"/>
                </a:solidFill>
              </a:rPr>
              <a:t>Mundo conhecido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6051C35B-C4A6-4E1E-B862-6E1F15256B18}"/>
              </a:ext>
            </a:extLst>
          </p:cNvPr>
          <p:cNvSpPr>
            <a:spLocks noGrp="1"/>
          </p:cNvSpPr>
          <p:nvPr/>
        </p:nvSpPr>
        <p:spPr>
          <a:xfrm>
            <a:off x="5715000" y="2114550"/>
            <a:ext cx="533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06772"/>
                </a:solidFill>
              </a:defRPr>
            </a:pPr>
            <a:r>
              <a:rPr sz="1350" b="0">
                <a:solidFill>
                  <a:srgbClr val="606772"/>
                </a:solidFill>
              </a:rPr>
              <a:t>Regras sintéticas + variáveis latentes</a:t>
            </a:r>
          </a:p>
        </p:txBody>
      </p:sp>
      <p:sp>
        <p:nvSpPr>
          <p:cNvPr id="11" name="box">
            <a:extLst>
              <a:ext uri="{FF2B5EF4-FFF2-40B4-BE49-F238E27FC236}">
                <a16:creationId xmlns:a16="http://schemas.microsoft.com/office/drawing/2014/main" id="{AF3B0128-B4C1-4B2E-ADC8-F73DB78CB3E3}"/>
              </a:ext>
            </a:extLst>
          </p:cNvPr>
          <p:cNvSpPr>
            <a:spLocks noGrp="1"/>
          </p:cNvSpPr>
          <p:nvPr/>
        </p:nvSpPr>
        <p:spPr>
          <a:xfrm>
            <a:off x="4953000" y="2781300"/>
            <a:ext cx="6477000" cy="800100"/>
          </a:xfrm>
          <a:prstGeom prst="roundRect">
            <a:avLst>
              <a:gd name="adj" fmla="val 9524"/>
            </a:avLst>
          </a:prstGeom>
          <a:solidFill>
            <a:srgbClr val="F0F2F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6A6A5CBE-AA35-4D1B-8E0A-23972EC71BF1}"/>
              </a:ext>
            </a:extLst>
          </p:cNvPr>
          <p:cNvSpPr>
            <a:spLocks noGrp="1"/>
          </p:cNvSpPr>
          <p:nvPr/>
        </p:nvSpPr>
        <p:spPr>
          <a:xfrm>
            <a:off x="5143500" y="2781300"/>
            <a:ext cx="42862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F11039F4-D0D4-47DC-9D99-6EBBEF5392AD}"/>
              </a:ext>
            </a:extLst>
          </p:cNvPr>
          <p:cNvSpPr>
            <a:spLocks noGrp="1"/>
          </p:cNvSpPr>
          <p:nvPr/>
        </p:nvSpPr>
        <p:spPr>
          <a:xfrm>
            <a:off x="5715000" y="28384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11318"/>
                </a:solidFill>
              </a:defRPr>
            </a:pPr>
            <a:r>
              <a:rPr sz="1650" b="1">
                <a:solidFill>
                  <a:srgbClr val="111318"/>
                </a:solidFill>
              </a:rPr>
              <a:t>Aprendizado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180F49D5-1D28-41B2-B58D-6A8E6C0A387D}"/>
              </a:ext>
            </a:extLst>
          </p:cNvPr>
          <p:cNvSpPr>
            <a:spLocks noGrp="1"/>
          </p:cNvSpPr>
          <p:nvPr/>
        </p:nvSpPr>
        <p:spPr>
          <a:xfrm>
            <a:off x="5715000" y="3143250"/>
            <a:ext cx="533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06772"/>
                </a:solidFill>
              </a:defRPr>
            </a:pPr>
            <a:r>
              <a:rPr sz="1350" b="0">
                <a:solidFill>
                  <a:srgbClr val="606772"/>
                </a:solidFill>
              </a:rPr>
              <a:t>Trajetórias → modelo de dinâmica</a:t>
            </a:r>
          </a:p>
        </p:txBody>
      </p:sp>
      <p:sp>
        <p:nvSpPr>
          <p:cNvPr id="15" name="box">
            <a:extLst>
              <a:ext uri="{FF2B5EF4-FFF2-40B4-BE49-F238E27FC236}">
                <a16:creationId xmlns:a16="http://schemas.microsoft.com/office/drawing/2014/main" id="{C4158AEB-D8CE-4434-B306-A66E435FC72B}"/>
              </a:ext>
            </a:extLst>
          </p:cNvPr>
          <p:cNvSpPr>
            <a:spLocks noGrp="1"/>
          </p:cNvSpPr>
          <p:nvPr/>
        </p:nvSpPr>
        <p:spPr>
          <a:xfrm>
            <a:off x="4953000" y="3810000"/>
            <a:ext cx="6477000" cy="800100"/>
          </a:xfrm>
          <a:prstGeom prst="roundRect">
            <a:avLst>
              <a:gd name="adj" fmla="val 9524"/>
            </a:avLst>
          </a:prstGeom>
          <a:solidFill>
            <a:srgbClr val="F0F2F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FFBA8CFA-FA5A-40EE-903F-18102EC7CF83}"/>
              </a:ext>
            </a:extLst>
          </p:cNvPr>
          <p:cNvSpPr>
            <a:spLocks noGrp="1"/>
          </p:cNvSpPr>
          <p:nvPr/>
        </p:nvSpPr>
        <p:spPr>
          <a:xfrm>
            <a:off x="5143500" y="3810000"/>
            <a:ext cx="42862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3C7029FF-EFDE-488E-887B-E75AB624AA79}"/>
              </a:ext>
            </a:extLst>
          </p:cNvPr>
          <p:cNvSpPr>
            <a:spLocks noGrp="1"/>
          </p:cNvSpPr>
          <p:nvPr/>
        </p:nvSpPr>
        <p:spPr>
          <a:xfrm>
            <a:off x="5715000" y="38671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11318"/>
                </a:solidFill>
              </a:defRPr>
            </a:pPr>
            <a:r>
              <a:rPr sz="1650" b="1">
                <a:solidFill>
                  <a:srgbClr val="111318"/>
                </a:solidFill>
              </a:rPr>
              <a:t>Imaginação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90736224-D26A-49C9-85B2-7EC3AC49E637}"/>
              </a:ext>
            </a:extLst>
          </p:cNvPr>
          <p:cNvSpPr>
            <a:spLocks noGrp="1"/>
          </p:cNvSpPr>
          <p:nvPr/>
        </p:nvSpPr>
        <p:spPr>
          <a:xfrm>
            <a:off x="5715000" y="4171950"/>
            <a:ext cx="533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06772"/>
                </a:solidFill>
              </a:defRPr>
            </a:pPr>
            <a:r>
              <a:rPr sz="1350" b="0">
                <a:solidFill>
                  <a:srgbClr val="606772"/>
                </a:solidFill>
              </a:rPr>
              <a:t>O modelo projeta futuros sem consultar o ambiente</a:t>
            </a:r>
          </a:p>
        </p:txBody>
      </p:sp>
      <p:sp>
        <p:nvSpPr>
          <p:cNvPr id="19" name="box">
            <a:extLst>
              <a:ext uri="{FF2B5EF4-FFF2-40B4-BE49-F238E27FC236}">
                <a16:creationId xmlns:a16="http://schemas.microsoft.com/office/drawing/2014/main" id="{9DD187B8-29E0-4B79-8696-BB7B6F3438A4}"/>
              </a:ext>
            </a:extLst>
          </p:cNvPr>
          <p:cNvSpPr>
            <a:spLocks noGrp="1"/>
          </p:cNvSpPr>
          <p:nvPr/>
        </p:nvSpPr>
        <p:spPr>
          <a:xfrm>
            <a:off x="4953000" y="4838700"/>
            <a:ext cx="6477000" cy="800100"/>
          </a:xfrm>
          <a:prstGeom prst="roundRect">
            <a:avLst>
              <a:gd name="adj" fmla="val 9524"/>
            </a:avLst>
          </a:prstGeom>
          <a:solidFill>
            <a:srgbClr val="D0ED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F1ED2719-43FB-4E20-A652-DA2F767C11D1}"/>
              </a:ext>
            </a:extLst>
          </p:cNvPr>
          <p:cNvSpPr>
            <a:spLocks noGrp="1"/>
          </p:cNvSpPr>
          <p:nvPr/>
        </p:nvSpPr>
        <p:spPr>
          <a:xfrm>
            <a:off x="5143500" y="4838700"/>
            <a:ext cx="42862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40720862-0E5F-411D-ABD9-8EEFA54208D1}"/>
              </a:ext>
            </a:extLst>
          </p:cNvPr>
          <p:cNvSpPr>
            <a:spLocks noGrp="1"/>
          </p:cNvSpPr>
          <p:nvPr/>
        </p:nvSpPr>
        <p:spPr>
          <a:xfrm>
            <a:off x="5715000" y="48958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11318"/>
                </a:solidFill>
              </a:defRPr>
            </a:pPr>
            <a:r>
              <a:rPr sz="1650" b="1">
                <a:solidFill>
                  <a:srgbClr val="111318"/>
                </a:solidFill>
              </a:rPr>
              <a:t>Demonstração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75767CBF-3C51-47FB-93FB-AB0499133A55}"/>
              </a:ext>
            </a:extLst>
          </p:cNvPr>
          <p:cNvSpPr>
            <a:spLocks noGrp="1"/>
          </p:cNvSpPr>
          <p:nvPr/>
        </p:nvSpPr>
        <p:spPr>
          <a:xfrm>
            <a:off x="5715000" y="5200650"/>
            <a:ext cx="533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06772"/>
                </a:solidFill>
              </a:defRPr>
            </a:pPr>
            <a:r>
              <a:rPr sz="1350" b="0">
                <a:solidFill>
                  <a:srgbClr val="606772"/>
                </a:solidFill>
              </a:rPr>
              <a:t>Cenários fechados em uma interface local</a:t>
            </a:r>
          </a:p>
        </p:txBody>
      </p:sp>
    </p:spTree>
    <p:extLst>
      <p:ext uri="{BB962C8B-B14F-4D97-AF65-F5344CB8AC3E}">
        <p14:creationId xmlns:p14="http://schemas.microsoft.com/office/powerpoint/2010/main" val="821916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">
            <a:extLst>
              <a:ext uri="{FF2B5EF4-FFF2-40B4-BE49-F238E27FC236}">
                <a16:creationId xmlns:a16="http://schemas.microsoft.com/office/drawing/2014/main" id="{452037CA-DB75-46EB-B4C5-F7EA45BF98D6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606772"/>
                </a:solidFill>
              </a:defRPr>
            </a:pPr>
            <a:r>
              <a:rPr sz="1125" b="1">
                <a:solidFill>
                  <a:srgbClr val="606772"/>
                </a:solidFill>
              </a:rPr>
              <a:t>INSURANCE WORLD MODEL • P&amp;D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4D571D34-CE5C-463C-9C88-2BDDD89A9BFF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049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318"/>
                </a:solidFill>
              </a:defRPr>
            </a:pPr>
            <a:r>
              <a:rPr sz="2850" b="1">
                <a:solidFill>
                  <a:srgbClr val="111318"/>
                </a:solidFill>
              </a:rPr>
              <a:t>Predizer um resultado e simular um mundo são problemas diferentes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B2E0D15F-7CFB-4837-9089-0D01E2B61933}"/>
              </a:ext>
            </a:extLst>
          </p:cNvPr>
          <p:cNvSpPr>
            <a:spLocks noGrp="1"/>
          </p:cNvSpPr>
          <p:nvPr/>
        </p:nvSpPr>
        <p:spPr>
          <a:xfrm>
            <a:off x="400050" y="1438275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4239AD22-61CC-46E4-A11A-4BA897F58075}"/>
              </a:ext>
            </a:extLst>
          </p:cNvPr>
          <p:cNvSpPr>
            <a:spLocks noGrp="1"/>
          </p:cNvSpPr>
          <p:nvPr/>
        </p:nvSpPr>
        <p:spPr>
          <a:xfrm>
            <a:off x="11334750" y="64008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0">
                <a:solidFill>
                  <a:srgbClr val="606772"/>
                </a:solidFill>
              </a:defRPr>
            </a:pPr>
            <a:r>
              <a:rPr sz="975" b="0">
                <a:solidFill>
                  <a:srgbClr val="606772"/>
                </a:solidFill>
              </a:rPr>
              <a:t>03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509306B2-F521-4779-9F44-C4AF43F9C137}"/>
              </a:ext>
            </a:extLst>
          </p:cNvPr>
          <p:cNvSpPr>
            <a:spLocks noGrp="1"/>
          </p:cNvSpPr>
          <p:nvPr/>
        </p:nvSpPr>
        <p:spPr>
          <a:xfrm>
            <a:off x="400050" y="1714500"/>
            <a:ext cx="504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606772"/>
                </a:solidFill>
              </a:defRPr>
            </a:pPr>
            <a:r>
              <a:rPr sz="1350" b="1">
                <a:solidFill>
                  <a:srgbClr val="606772"/>
                </a:solidFill>
              </a:rPr>
              <a:t>ML PREDITIVO CLÁSSICO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C660C14B-82A8-4D76-8612-E724C6E3439E}"/>
              </a:ext>
            </a:extLst>
          </p:cNvPr>
          <p:cNvSpPr>
            <a:spLocks noGrp="1"/>
          </p:cNvSpPr>
          <p:nvPr/>
        </p:nvSpPr>
        <p:spPr>
          <a:xfrm>
            <a:off x="400050" y="2143125"/>
            <a:ext cx="4476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111318"/>
                </a:solidFill>
              </a:defRPr>
            </a:pPr>
            <a:r>
              <a:rPr sz="2550" b="1">
                <a:solidFill>
                  <a:srgbClr val="111318"/>
                </a:solidFill>
              </a:rPr>
              <a:t>Uma pergunta,</a:t>
            </a:r>
          </a:p>
          <a:p>
            <a:pPr algn="l">
              <a:defRPr sz="2550" b="1">
                <a:solidFill>
                  <a:srgbClr val="111318"/>
                </a:solidFill>
              </a:defRPr>
            </a:pPr>
            <a:r>
              <a:rPr sz="2550" b="1">
                <a:solidFill>
                  <a:srgbClr val="111318"/>
                </a:solidFill>
              </a:rPr>
              <a:t>uma resposta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8CA5F99A-8CB9-40C5-B6F9-0882B0D91E67}"/>
              </a:ext>
            </a:extLst>
          </p:cNvPr>
          <p:cNvSpPr>
            <a:spLocks noGrp="1"/>
          </p:cNvSpPr>
          <p:nvPr/>
        </p:nvSpPr>
        <p:spPr>
          <a:xfrm>
            <a:off x="400050" y="3333750"/>
            <a:ext cx="447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606772"/>
                </a:solidFill>
              </a:defRPr>
            </a:pPr>
            <a:r>
              <a:rPr sz="1425" b="0">
                <a:solidFill>
                  <a:srgbClr val="606772"/>
                </a:solidFill>
              </a:rPr>
              <a:t>Dados históricos + atributos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FE53CF75-BC3D-4436-A769-68ED36666249}"/>
              </a:ext>
            </a:extLst>
          </p:cNvPr>
          <p:cNvSpPr>
            <a:spLocks noGrp="1"/>
          </p:cNvSpPr>
          <p:nvPr/>
        </p:nvSpPr>
        <p:spPr>
          <a:xfrm>
            <a:off x="2095500" y="3695700"/>
            <a:ext cx="571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B8BCC4"/>
                </a:solidFill>
              </a:defRPr>
            </a:pPr>
            <a:r>
              <a:rPr sz="2100" b="1">
                <a:solidFill>
                  <a:srgbClr val="B8BCC4"/>
                </a:solidFill>
              </a:rPr>
              <a:t>↓</a:t>
            </a:r>
          </a:p>
        </p:txBody>
      </p:sp>
      <p:sp>
        <p:nvSpPr>
          <p:cNvPr id="9" name="box">
            <a:extLst>
              <a:ext uri="{FF2B5EF4-FFF2-40B4-BE49-F238E27FC236}">
                <a16:creationId xmlns:a16="http://schemas.microsoft.com/office/drawing/2014/main" id="{8F4D0B9A-663D-499F-ABF5-5DE246747CDE}"/>
              </a:ext>
            </a:extLst>
          </p:cNvPr>
          <p:cNvSpPr>
            <a:spLocks noGrp="1"/>
          </p:cNvSpPr>
          <p:nvPr/>
        </p:nvSpPr>
        <p:spPr>
          <a:xfrm>
            <a:off x="781050" y="4114800"/>
            <a:ext cx="3714750" cy="647700"/>
          </a:xfrm>
          <a:prstGeom prst="roundRect">
            <a:avLst>
              <a:gd name="adj" fmla="val 11765"/>
            </a:avLst>
          </a:prstGeom>
          <a:solidFill>
            <a:srgbClr val="F0F2F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CB624557-D70B-4F6B-96F2-1DE0570D3394}"/>
              </a:ext>
            </a:extLst>
          </p:cNvPr>
          <p:cNvSpPr>
            <a:spLocks noGrp="1"/>
          </p:cNvSpPr>
          <p:nvPr/>
        </p:nvSpPr>
        <p:spPr>
          <a:xfrm>
            <a:off x="781050" y="4114800"/>
            <a:ext cx="371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111318"/>
                </a:solidFill>
              </a:defRPr>
            </a:pPr>
            <a:r>
              <a:rPr sz="2025" b="1">
                <a:solidFill>
                  <a:srgbClr val="111318"/>
                </a:solidFill>
              </a:rPr>
              <a:t>P(compra) = 16%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0679CA95-1B0F-4ED1-9B42-D6E5B77B0E01}"/>
              </a:ext>
            </a:extLst>
          </p:cNvPr>
          <p:cNvSpPr>
            <a:spLocks noGrp="1"/>
          </p:cNvSpPr>
          <p:nvPr/>
        </p:nvSpPr>
        <p:spPr>
          <a:xfrm>
            <a:off x="400050" y="5000625"/>
            <a:ext cx="4667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606772"/>
                </a:solidFill>
              </a:defRPr>
            </a:pPr>
            <a:r>
              <a:rPr sz="1425" b="0">
                <a:solidFill>
                  <a:srgbClr val="606772"/>
                </a:solidFill>
              </a:rPr>
              <a:t>O algoritmo estima um alvo definido: propensão, fraude, churn, sinistro ou valor.</a:t>
            </a:r>
          </a:p>
        </p:txBody>
      </p:sp>
      <p:sp>
        <p:nvSpPr>
          <p:cNvPr id="12" name="rule">
            <a:extLst>
              <a:ext uri="{FF2B5EF4-FFF2-40B4-BE49-F238E27FC236}">
                <a16:creationId xmlns:a16="http://schemas.microsoft.com/office/drawing/2014/main" id="{925DBCA7-7400-49E8-93BE-FD46D86F8675}"/>
              </a:ext>
            </a:extLst>
          </p:cNvPr>
          <p:cNvSpPr>
            <a:spLocks noGrp="1"/>
          </p:cNvSpPr>
          <p:nvPr/>
        </p:nvSpPr>
        <p:spPr>
          <a:xfrm>
            <a:off x="5905500" y="1714500"/>
            <a:ext cx="19050" cy="40957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C6F39707-0018-42A0-B85C-875201854907}"/>
              </a:ext>
            </a:extLst>
          </p:cNvPr>
          <p:cNvSpPr>
            <a:spLocks noGrp="1"/>
          </p:cNvSpPr>
          <p:nvPr/>
        </p:nvSpPr>
        <p:spPr>
          <a:xfrm>
            <a:off x="6572250" y="1714500"/>
            <a:ext cx="466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WORLD MODEL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E3AC1AD9-6B0E-49FB-8117-06073FC967C6}"/>
              </a:ext>
            </a:extLst>
          </p:cNvPr>
          <p:cNvSpPr>
            <a:spLocks noGrp="1"/>
          </p:cNvSpPr>
          <p:nvPr/>
        </p:nvSpPr>
        <p:spPr>
          <a:xfrm>
            <a:off x="6572250" y="2143125"/>
            <a:ext cx="4476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111318"/>
                </a:solidFill>
              </a:defRPr>
            </a:pPr>
            <a:r>
              <a:rPr sz="2550" b="1">
                <a:solidFill>
                  <a:srgbClr val="111318"/>
                </a:solidFill>
              </a:rPr>
              <a:t>Uma ação,</a:t>
            </a:r>
          </a:p>
          <a:p>
            <a:pPr algn="l">
              <a:defRPr sz="2550" b="1">
                <a:solidFill>
                  <a:srgbClr val="111318"/>
                </a:solidFill>
              </a:defRPr>
            </a:pPr>
            <a:r>
              <a:rPr sz="2550" b="1">
                <a:solidFill>
                  <a:srgbClr val="111318"/>
                </a:solidFill>
              </a:rPr>
              <a:t>vários futuros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648E38AE-39A0-414C-A924-618AEBD5C04E}"/>
              </a:ext>
            </a:extLst>
          </p:cNvPr>
          <p:cNvSpPr>
            <a:spLocks noGrp="1"/>
          </p:cNvSpPr>
          <p:nvPr/>
        </p:nvSpPr>
        <p:spPr>
          <a:xfrm>
            <a:off x="6572250" y="3333750"/>
            <a:ext cx="447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606772"/>
                </a:solidFill>
              </a:defRPr>
            </a:pPr>
            <a:r>
              <a:rPr sz="1425" b="0">
                <a:solidFill>
                  <a:srgbClr val="606772"/>
                </a:solidFill>
              </a:rPr>
              <a:t>Estado atual + ação proposta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EABDFCDD-A6F7-4F3E-BECD-6A0A1746A44D}"/>
              </a:ext>
            </a:extLst>
          </p:cNvPr>
          <p:cNvSpPr>
            <a:spLocks noGrp="1"/>
          </p:cNvSpPr>
          <p:nvPr/>
        </p:nvSpPr>
        <p:spPr>
          <a:xfrm>
            <a:off x="8286750" y="3695700"/>
            <a:ext cx="571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↓</a:t>
            </a:r>
          </a:p>
        </p:txBody>
      </p:sp>
      <p:sp>
        <p:nvSpPr>
          <p:cNvPr id="17" name="box">
            <a:extLst>
              <a:ext uri="{FF2B5EF4-FFF2-40B4-BE49-F238E27FC236}">
                <a16:creationId xmlns:a16="http://schemas.microsoft.com/office/drawing/2014/main" id="{8863F4D8-9BD1-41DD-82E3-2B4BFF4B7C10}"/>
              </a:ext>
            </a:extLst>
          </p:cNvPr>
          <p:cNvSpPr>
            <a:spLocks noGrp="1"/>
          </p:cNvSpPr>
          <p:nvPr/>
        </p:nvSpPr>
        <p:spPr>
          <a:xfrm>
            <a:off x="6953250" y="4114800"/>
            <a:ext cx="3714750" cy="647700"/>
          </a:xfrm>
          <a:prstGeom prst="roundRect">
            <a:avLst>
              <a:gd name="adj" fmla="val 11765"/>
            </a:avLst>
          </a:prstGeom>
          <a:solidFill>
            <a:srgbClr val="D0ED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F0D4F130-8869-4008-9FC5-EE0D79186BBB}"/>
              </a:ext>
            </a:extLst>
          </p:cNvPr>
          <p:cNvSpPr>
            <a:spLocks noGrp="1"/>
          </p:cNvSpPr>
          <p:nvPr/>
        </p:nvSpPr>
        <p:spPr>
          <a:xfrm>
            <a:off x="6953250" y="4114800"/>
            <a:ext cx="371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 b="1">
                <a:solidFill>
                  <a:srgbClr val="111318"/>
                </a:solidFill>
              </a:defRPr>
            </a:pPr>
            <a:r>
              <a:rPr sz="1875" b="1">
                <a:solidFill>
                  <a:srgbClr val="111318"/>
                </a:solidFill>
              </a:rPr>
              <a:t>Sₜ₊₁ + Rₜ → trajetória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3EFA54A1-EC79-4554-B027-204D5499D56C}"/>
              </a:ext>
            </a:extLst>
          </p:cNvPr>
          <p:cNvSpPr>
            <a:spLocks noGrp="1"/>
          </p:cNvSpPr>
          <p:nvPr/>
        </p:nvSpPr>
        <p:spPr>
          <a:xfrm>
            <a:off x="6572250" y="5000625"/>
            <a:ext cx="4667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606772"/>
                </a:solidFill>
              </a:defRPr>
            </a:pPr>
            <a:r>
              <a:rPr sz="1425" b="0">
                <a:solidFill>
                  <a:srgbClr val="606772"/>
                </a:solidFill>
              </a:rPr>
              <a:t>O modelo aprende a dinâmica para encadear transições, comparar ações e projetar horizontes.</a:t>
            </a:r>
          </a:p>
        </p:txBody>
      </p:sp>
      <p:sp>
        <p:nvSpPr>
          <p:cNvPr id="20" name="box">
            <a:extLst>
              <a:ext uri="{FF2B5EF4-FFF2-40B4-BE49-F238E27FC236}">
                <a16:creationId xmlns:a16="http://schemas.microsoft.com/office/drawing/2014/main" id="{934C38ED-7CED-4B4A-B546-C39F0BA050D6}"/>
              </a:ext>
            </a:extLst>
          </p:cNvPr>
          <p:cNvSpPr>
            <a:spLocks noGrp="1"/>
          </p:cNvSpPr>
          <p:nvPr/>
        </p:nvSpPr>
        <p:spPr>
          <a:xfrm>
            <a:off x="2428875" y="5953125"/>
            <a:ext cx="7334250" cy="400050"/>
          </a:xfrm>
          <a:prstGeom prst="roundRect">
            <a:avLst>
              <a:gd name="adj" fmla="val 19048"/>
            </a:avLst>
          </a:prstGeom>
          <a:solidFill>
            <a:srgbClr val="11131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CEFF62B3-170D-4DB2-8569-6A725A9E69C8}"/>
              </a:ext>
            </a:extLst>
          </p:cNvPr>
          <p:cNvSpPr>
            <a:spLocks noGrp="1"/>
          </p:cNvSpPr>
          <p:nvPr/>
        </p:nvSpPr>
        <p:spPr>
          <a:xfrm>
            <a:off x="2619375" y="5953125"/>
            <a:ext cx="695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Ambos são ML; muda a unidade de previsão e a finalidade da decisão.</a:t>
            </a:r>
          </a:p>
        </p:txBody>
      </p:sp>
    </p:spTree>
    <p:extLst>
      <p:ext uri="{BB962C8B-B14F-4D97-AF65-F5344CB8AC3E}">
        <p14:creationId xmlns:p14="http://schemas.microsoft.com/office/powerpoint/2010/main" val="684720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">
            <a:extLst>
              <a:ext uri="{FF2B5EF4-FFF2-40B4-BE49-F238E27FC236}">
                <a16:creationId xmlns:a16="http://schemas.microsoft.com/office/drawing/2014/main" id="{CC83F55B-1F3D-435E-98D7-9AD9F88A3ECA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606772"/>
                </a:solidFill>
              </a:defRPr>
            </a:pPr>
            <a:r>
              <a:rPr sz="1125" b="1">
                <a:solidFill>
                  <a:srgbClr val="606772"/>
                </a:solidFill>
              </a:rPr>
              <a:t>INSURANCE WORLD MODEL • P&amp;D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54443E31-74F8-4131-99B8-27AFDBA2FAC3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049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318"/>
                </a:solidFill>
              </a:defRPr>
            </a:pPr>
            <a:r>
              <a:rPr sz="2850" b="1">
                <a:solidFill>
                  <a:srgbClr val="111318"/>
                </a:solidFill>
              </a:rPr>
              <a:t>Chat, projeto e repositório cumprem papéis diferentes na rastreabilidade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F9DF8A8F-7479-48EF-97E3-85BED28F7A65}"/>
              </a:ext>
            </a:extLst>
          </p:cNvPr>
          <p:cNvSpPr>
            <a:spLocks noGrp="1"/>
          </p:cNvSpPr>
          <p:nvPr/>
        </p:nvSpPr>
        <p:spPr>
          <a:xfrm>
            <a:off x="400050" y="1438275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9E27292C-48FA-4ACF-AEDE-6A2430E8F6CD}"/>
              </a:ext>
            </a:extLst>
          </p:cNvPr>
          <p:cNvSpPr>
            <a:spLocks noGrp="1"/>
          </p:cNvSpPr>
          <p:nvPr/>
        </p:nvSpPr>
        <p:spPr>
          <a:xfrm>
            <a:off x="11334750" y="64008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0">
                <a:solidFill>
                  <a:srgbClr val="606772"/>
                </a:solidFill>
              </a:defRPr>
            </a:pPr>
            <a:r>
              <a:rPr sz="975" b="0">
                <a:solidFill>
                  <a:srgbClr val="606772"/>
                </a:solidFill>
              </a:rPr>
              <a:t>04</a:t>
            </a:r>
          </a:p>
        </p:txBody>
      </p:sp>
      <p:sp>
        <p:nvSpPr>
          <p:cNvPr id="5" name="box">
            <a:extLst>
              <a:ext uri="{FF2B5EF4-FFF2-40B4-BE49-F238E27FC236}">
                <a16:creationId xmlns:a16="http://schemas.microsoft.com/office/drawing/2014/main" id="{C5EE84D6-3441-4022-8E7F-1795DAE4CFB1}"/>
              </a:ext>
            </a:extLst>
          </p:cNvPr>
          <p:cNvSpPr>
            <a:spLocks noGrp="1"/>
          </p:cNvSpPr>
          <p:nvPr/>
        </p:nvSpPr>
        <p:spPr>
          <a:xfrm>
            <a:off x="400050" y="1952625"/>
            <a:ext cx="3429000" cy="3238500"/>
          </a:xfrm>
          <a:prstGeom prst="roundRect">
            <a:avLst>
              <a:gd name="adj" fmla="val 2353"/>
            </a:avLst>
          </a:prstGeom>
          <a:solidFill>
            <a:srgbClr val="D0ED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6EA30DC7-0839-497F-AFF1-6FB43CA60AFF}"/>
              </a:ext>
            </a:extLst>
          </p:cNvPr>
          <p:cNvSpPr>
            <a:spLocks noGrp="1"/>
          </p:cNvSpPr>
          <p:nvPr/>
        </p:nvSpPr>
        <p:spPr>
          <a:xfrm>
            <a:off x="628650" y="215265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CHAT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95F20444-B5DB-4E42-9BB5-64138AF7C3AC}"/>
              </a:ext>
            </a:extLst>
          </p:cNvPr>
          <p:cNvSpPr>
            <a:spLocks noGrp="1"/>
          </p:cNvSpPr>
          <p:nvPr/>
        </p:nvSpPr>
        <p:spPr>
          <a:xfrm>
            <a:off x="628650" y="2667000"/>
            <a:ext cx="2952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111318"/>
                </a:solidFill>
              </a:defRPr>
            </a:pPr>
            <a:r>
              <a:rPr sz="2100" b="1">
                <a:solidFill>
                  <a:srgbClr val="111318"/>
                </a:solidFill>
              </a:rPr>
              <a:t>Raciocínio e decisões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0D60CF86-8C20-442A-9A28-8EB467E6F3DC}"/>
              </a:ext>
            </a:extLst>
          </p:cNvPr>
          <p:cNvSpPr>
            <a:spLocks noGrp="1"/>
          </p:cNvSpPr>
          <p:nvPr/>
        </p:nvSpPr>
        <p:spPr>
          <a:xfrm>
            <a:off x="628650" y="3543300"/>
            <a:ext cx="29527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606772"/>
                </a:solidFill>
              </a:defRPr>
            </a:pPr>
            <a:r>
              <a:rPr sz="1500" b="0">
                <a:solidFill>
                  <a:srgbClr val="606772"/>
                </a:solidFill>
              </a:rPr>
              <a:t>Evolução conceitual; perguntas; correções semânticas; escolhas de escopo.</a:t>
            </a:r>
          </a:p>
        </p:txBody>
      </p:sp>
      <p:sp>
        <p:nvSpPr>
          <p:cNvPr id="9" name="box">
            <a:extLst>
              <a:ext uri="{FF2B5EF4-FFF2-40B4-BE49-F238E27FC236}">
                <a16:creationId xmlns:a16="http://schemas.microsoft.com/office/drawing/2014/main" id="{543986D3-A273-4062-922B-3F5921A5D385}"/>
              </a:ext>
            </a:extLst>
          </p:cNvPr>
          <p:cNvSpPr>
            <a:spLocks noGrp="1"/>
          </p:cNvSpPr>
          <p:nvPr/>
        </p:nvSpPr>
        <p:spPr>
          <a:xfrm>
            <a:off x="4210050" y="1952625"/>
            <a:ext cx="3429000" cy="3238500"/>
          </a:xfrm>
          <a:prstGeom prst="roundRect">
            <a:avLst>
              <a:gd name="adj" fmla="val 2353"/>
            </a:avLst>
          </a:prstGeom>
          <a:solidFill>
            <a:srgbClr val="F0F2F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387B5FDF-46C9-4529-9CD9-1C09EF42C952}"/>
              </a:ext>
            </a:extLst>
          </p:cNvPr>
          <p:cNvSpPr>
            <a:spLocks noGrp="1"/>
          </p:cNvSpPr>
          <p:nvPr/>
        </p:nvSpPr>
        <p:spPr>
          <a:xfrm>
            <a:off x="4438650" y="215265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PROJETO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CAF8F855-4BDA-418E-AEFB-0BF04D22EA1F}"/>
              </a:ext>
            </a:extLst>
          </p:cNvPr>
          <p:cNvSpPr>
            <a:spLocks noGrp="1"/>
          </p:cNvSpPr>
          <p:nvPr/>
        </p:nvSpPr>
        <p:spPr>
          <a:xfrm>
            <a:off x="4438650" y="2667000"/>
            <a:ext cx="2952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111318"/>
                </a:solidFill>
              </a:defRPr>
            </a:pPr>
            <a:r>
              <a:rPr sz="2100" b="1">
                <a:solidFill>
                  <a:srgbClr val="111318"/>
                </a:solidFill>
              </a:rPr>
              <a:t>Contexto persistente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B4E36AE7-09D9-425A-83EC-89AFDE1567E5}"/>
              </a:ext>
            </a:extLst>
          </p:cNvPr>
          <p:cNvSpPr>
            <a:spLocks noGrp="1"/>
          </p:cNvSpPr>
          <p:nvPr/>
        </p:nvSpPr>
        <p:spPr>
          <a:xfrm>
            <a:off x="4438650" y="3543300"/>
            <a:ext cx="29527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606772"/>
                </a:solidFill>
              </a:defRPr>
            </a:pPr>
            <a:r>
              <a:rPr sz="1500" b="0">
                <a:solidFill>
                  <a:srgbClr val="606772"/>
                </a:solidFill>
              </a:rPr>
              <a:t>Especificação, metodologia, experimentos, artefatos e demo local.</a:t>
            </a:r>
          </a:p>
        </p:txBody>
      </p:sp>
      <p:sp>
        <p:nvSpPr>
          <p:cNvPr id="13" name="box">
            <a:extLst>
              <a:ext uri="{FF2B5EF4-FFF2-40B4-BE49-F238E27FC236}">
                <a16:creationId xmlns:a16="http://schemas.microsoft.com/office/drawing/2014/main" id="{965ACD3E-F639-42D7-B4E7-DA065807A8DB}"/>
              </a:ext>
            </a:extLst>
          </p:cNvPr>
          <p:cNvSpPr>
            <a:spLocks noGrp="1"/>
          </p:cNvSpPr>
          <p:nvPr/>
        </p:nvSpPr>
        <p:spPr>
          <a:xfrm>
            <a:off x="8020050" y="1952625"/>
            <a:ext cx="3429000" cy="3238500"/>
          </a:xfrm>
          <a:prstGeom prst="roundRect">
            <a:avLst>
              <a:gd name="adj" fmla="val 2353"/>
            </a:avLst>
          </a:prstGeom>
          <a:solidFill>
            <a:srgbClr val="FCE8E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B970FDF6-C03D-4EE9-986F-759FDFFCF317}"/>
              </a:ext>
            </a:extLst>
          </p:cNvPr>
          <p:cNvSpPr>
            <a:spLocks noGrp="1"/>
          </p:cNvSpPr>
          <p:nvPr/>
        </p:nvSpPr>
        <p:spPr>
          <a:xfrm>
            <a:off x="8248650" y="215265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D94A4A"/>
                </a:solidFill>
              </a:defRPr>
            </a:pPr>
            <a:r>
              <a:rPr sz="1200" b="1">
                <a:solidFill>
                  <a:srgbClr val="D94A4A"/>
                </a:solidFill>
              </a:rPr>
              <a:t>REPOSITÓRIO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99259493-856B-48C6-8752-C39C2A6AF901}"/>
              </a:ext>
            </a:extLst>
          </p:cNvPr>
          <p:cNvSpPr>
            <a:spLocks noGrp="1"/>
          </p:cNvSpPr>
          <p:nvPr/>
        </p:nvSpPr>
        <p:spPr>
          <a:xfrm>
            <a:off x="8248650" y="2667000"/>
            <a:ext cx="2952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111318"/>
                </a:solidFill>
              </a:defRPr>
            </a:pPr>
            <a:r>
              <a:rPr sz="2100" b="1">
                <a:solidFill>
                  <a:srgbClr val="111318"/>
                </a:solidFill>
              </a:rPr>
              <a:t>Histórico verificável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4C6270B3-04EB-41A4-BFD8-FACC3B8D21A1}"/>
              </a:ext>
            </a:extLst>
          </p:cNvPr>
          <p:cNvSpPr>
            <a:spLocks noGrp="1"/>
          </p:cNvSpPr>
          <p:nvPr/>
        </p:nvSpPr>
        <p:spPr>
          <a:xfrm>
            <a:off x="8248650" y="3543300"/>
            <a:ext cx="29527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606772"/>
                </a:solidFill>
              </a:defRPr>
            </a:pPr>
            <a:r>
              <a:rPr sz="1500" b="0">
                <a:solidFill>
                  <a:srgbClr val="606772"/>
                </a:solidFill>
              </a:rPr>
              <a:t>O código entregue existe em uma pasta de trabalho; o repo aberto ainda está sem commits.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E7D3500A-AE30-4545-B9C1-7F359539E0E1}"/>
              </a:ext>
            </a:extLst>
          </p:cNvPr>
          <p:cNvSpPr>
            <a:spLocks noGrp="1"/>
          </p:cNvSpPr>
          <p:nvPr/>
        </p:nvSpPr>
        <p:spPr>
          <a:xfrm>
            <a:off x="400050" y="5572125"/>
            <a:ext cx="11049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D94A4A"/>
                </a:solidFill>
              </a:defRPr>
            </a:pPr>
            <a:r>
              <a:rPr sz="1575" b="1">
                <a:solidFill>
                  <a:srgbClr val="D94A4A"/>
                </a:solidFill>
              </a:rPr>
              <a:t>Implicação: conectar a pasta entregue ao repo permitirá transformar o histórico do chat em evidência versionada por etapa.</a:t>
            </a:r>
          </a:p>
        </p:txBody>
      </p:sp>
    </p:spTree>
    <p:extLst>
      <p:ext uri="{BB962C8B-B14F-4D97-AF65-F5344CB8AC3E}">
        <p14:creationId xmlns:p14="http://schemas.microsoft.com/office/powerpoint/2010/main" val="624241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">
            <a:extLst>
              <a:ext uri="{FF2B5EF4-FFF2-40B4-BE49-F238E27FC236}">
                <a16:creationId xmlns:a16="http://schemas.microsoft.com/office/drawing/2014/main" id="{0BD4DDAE-E2F2-483B-9E93-A72C362A147D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606772"/>
                </a:solidFill>
              </a:defRPr>
            </a:pPr>
            <a:r>
              <a:rPr sz="1125" b="1">
                <a:solidFill>
                  <a:srgbClr val="606772"/>
                </a:solidFill>
              </a:rPr>
              <a:t>INSURANCE WORLD MODEL • P&amp;D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0FED62CA-B7B5-4678-AB62-77E883944681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049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318"/>
                </a:solidFill>
              </a:defRPr>
            </a:pPr>
            <a:r>
              <a:rPr sz="2850" b="1">
                <a:solidFill>
                  <a:srgbClr val="111318"/>
                </a:solidFill>
              </a:rPr>
              <a:t>O trabalho avançou por experimentos controlados, não por um único treinamento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730C8641-2239-48AF-8AC4-9B53E373F075}"/>
              </a:ext>
            </a:extLst>
          </p:cNvPr>
          <p:cNvSpPr>
            <a:spLocks noGrp="1"/>
          </p:cNvSpPr>
          <p:nvPr/>
        </p:nvSpPr>
        <p:spPr>
          <a:xfrm>
            <a:off x="400050" y="1438275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CC52D269-677E-4F3C-AC33-09C61E5C9BEA}"/>
              </a:ext>
            </a:extLst>
          </p:cNvPr>
          <p:cNvSpPr>
            <a:spLocks noGrp="1"/>
          </p:cNvSpPr>
          <p:nvPr/>
        </p:nvSpPr>
        <p:spPr>
          <a:xfrm>
            <a:off x="11334750" y="64008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0">
                <a:solidFill>
                  <a:srgbClr val="606772"/>
                </a:solidFill>
              </a:defRPr>
            </a:pPr>
            <a:r>
              <a:rPr sz="975" b="0">
                <a:solidFill>
                  <a:srgbClr val="606772"/>
                </a:solidFill>
              </a:rPr>
              <a:t>05</a:t>
            </a:r>
          </a:p>
        </p:txBody>
      </p:sp>
      <p:sp>
        <p:nvSpPr>
          <p:cNvPr id="5" name="rule">
            <a:extLst>
              <a:ext uri="{FF2B5EF4-FFF2-40B4-BE49-F238E27FC236}">
                <a16:creationId xmlns:a16="http://schemas.microsoft.com/office/drawing/2014/main" id="{44C096D1-87FC-47AA-86FF-868808312145}"/>
              </a:ext>
            </a:extLst>
          </p:cNvPr>
          <p:cNvSpPr>
            <a:spLocks noGrp="1"/>
          </p:cNvSpPr>
          <p:nvPr/>
        </p:nvSpPr>
        <p:spPr>
          <a:xfrm>
            <a:off x="857250" y="3190875"/>
            <a:ext cx="10287000" cy="2857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box">
            <a:extLst>
              <a:ext uri="{FF2B5EF4-FFF2-40B4-BE49-F238E27FC236}">
                <a16:creationId xmlns:a16="http://schemas.microsoft.com/office/drawing/2014/main" id="{651F0665-064A-448A-B133-B4AD1ABD3FD3}"/>
              </a:ext>
            </a:extLst>
          </p:cNvPr>
          <p:cNvSpPr>
            <a:spLocks noGrp="1"/>
          </p:cNvSpPr>
          <p:nvPr/>
        </p:nvSpPr>
        <p:spPr>
          <a:xfrm>
            <a:off x="1390650" y="3067050"/>
            <a:ext cx="190500" cy="190500"/>
          </a:xfrm>
          <a:prstGeom prst="roundRect">
            <a:avLst>
              <a:gd name="adj" fmla="val 40000"/>
            </a:avLst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D5D770EB-8074-4146-B8BD-B7631FE42DD8}"/>
              </a:ext>
            </a:extLst>
          </p:cNvPr>
          <p:cNvSpPr>
            <a:spLocks noGrp="1"/>
          </p:cNvSpPr>
          <p:nvPr/>
        </p:nvSpPr>
        <p:spPr>
          <a:xfrm>
            <a:off x="476250" y="1952625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S1–S2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B37EE15B-FD15-48C6-A63A-00D0FF5AC4EE}"/>
              </a:ext>
            </a:extLst>
          </p:cNvPr>
          <p:cNvSpPr>
            <a:spLocks noGrp="1"/>
          </p:cNvSpPr>
          <p:nvPr/>
        </p:nvSpPr>
        <p:spPr>
          <a:xfrm>
            <a:off x="476250" y="2343150"/>
            <a:ext cx="200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111318"/>
                </a:solidFill>
              </a:defRPr>
            </a:pPr>
            <a:r>
              <a:rPr sz="1725" b="1">
                <a:solidFill>
                  <a:srgbClr val="111318"/>
                </a:solidFill>
              </a:rPr>
              <a:t>Ambiente + dados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63A19AFB-0F9D-4917-BB6E-CD6DC39AE6EB}"/>
              </a:ext>
            </a:extLst>
          </p:cNvPr>
          <p:cNvSpPr>
            <a:spLocks noGrp="1"/>
          </p:cNvSpPr>
          <p:nvPr/>
        </p:nvSpPr>
        <p:spPr>
          <a:xfrm>
            <a:off x="476250" y="35433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606772"/>
                </a:solidFill>
              </a:defRPr>
            </a:pPr>
            <a:r>
              <a:rPr sz="1275" b="0">
                <a:solidFill>
                  <a:srgbClr val="606772"/>
                </a:solidFill>
              </a:rPr>
              <a:t>120 mil transições</a:t>
            </a:r>
          </a:p>
          <a:p>
            <a:pPr algn="ctr">
              <a:defRPr sz="1275" b="0">
                <a:solidFill>
                  <a:srgbClr val="606772"/>
                </a:solidFill>
              </a:defRPr>
            </a:pPr>
            <a:r>
              <a:rPr sz="1275" b="0">
                <a:solidFill>
                  <a:srgbClr val="606772"/>
                </a:solidFill>
              </a:rPr>
              <a:t>com oracle separado</a:t>
            </a:r>
          </a:p>
        </p:txBody>
      </p:sp>
      <p:sp>
        <p:nvSpPr>
          <p:cNvPr id="10" name="box">
            <a:extLst>
              <a:ext uri="{FF2B5EF4-FFF2-40B4-BE49-F238E27FC236}">
                <a16:creationId xmlns:a16="http://schemas.microsoft.com/office/drawing/2014/main" id="{1BF9B374-8387-4A64-A2CF-632EE9680025}"/>
              </a:ext>
            </a:extLst>
          </p:cNvPr>
          <p:cNvSpPr>
            <a:spLocks noGrp="1"/>
          </p:cNvSpPr>
          <p:nvPr/>
        </p:nvSpPr>
        <p:spPr>
          <a:xfrm>
            <a:off x="3714750" y="3067050"/>
            <a:ext cx="190500" cy="190500"/>
          </a:xfrm>
          <a:prstGeom prst="roundRect">
            <a:avLst>
              <a:gd name="adj" fmla="val 40000"/>
            </a:avLst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304B05D3-4568-4A87-8DFB-FA3D2E8FB4C7}"/>
              </a:ext>
            </a:extLst>
          </p:cNvPr>
          <p:cNvSpPr>
            <a:spLocks noGrp="1"/>
          </p:cNvSpPr>
          <p:nvPr/>
        </p:nvSpPr>
        <p:spPr>
          <a:xfrm>
            <a:off x="2800350" y="1952625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EXP‑001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CF622C1C-6583-4C9C-BE8C-4ECDE438D1E1}"/>
              </a:ext>
            </a:extLst>
          </p:cNvPr>
          <p:cNvSpPr>
            <a:spLocks noGrp="1"/>
          </p:cNvSpPr>
          <p:nvPr/>
        </p:nvSpPr>
        <p:spPr>
          <a:xfrm>
            <a:off x="2800350" y="2343150"/>
            <a:ext cx="200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111318"/>
                </a:solidFill>
              </a:defRPr>
            </a:pPr>
            <a:r>
              <a:rPr sz="1725" b="1">
                <a:solidFill>
                  <a:srgbClr val="111318"/>
                </a:solidFill>
              </a:rPr>
              <a:t>Baseline MLP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B899C7AF-B8BA-4E44-8AA5-5080CB4629FF}"/>
              </a:ext>
            </a:extLst>
          </p:cNvPr>
          <p:cNvSpPr>
            <a:spLocks noGrp="1"/>
          </p:cNvSpPr>
          <p:nvPr/>
        </p:nvSpPr>
        <p:spPr>
          <a:xfrm>
            <a:off x="2800350" y="35433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606772"/>
                </a:solidFill>
              </a:defRPr>
            </a:pPr>
            <a:r>
              <a:rPr sz="1275" b="0">
                <a:solidFill>
                  <a:srgbClr val="606772"/>
                </a:solidFill>
              </a:rPr>
              <a:t>Referência simples</a:t>
            </a:r>
          </a:p>
          <a:p>
            <a:pPr algn="ctr">
              <a:defRPr sz="1275" b="0">
                <a:solidFill>
                  <a:srgbClr val="606772"/>
                </a:solidFill>
              </a:defRPr>
            </a:pPr>
            <a:r>
              <a:rPr sz="1275" b="0">
                <a:solidFill>
                  <a:srgbClr val="606772"/>
                </a:solidFill>
              </a:rPr>
              <a:t>para evitar complexidade gratuita</a:t>
            </a:r>
          </a:p>
        </p:txBody>
      </p:sp>
      <p:sp>
        <p:nvSpPr>
          <p:cNvPr id="14" name="box">
            <a:extLst>
              <a:ext uri="{FF2B5EF4-FFF2-40B4-BE49-F238E27FC236}">
                <a16:creationId xmlns:a16="http://schemas.microsoft.com/office/drawing/2014/main" id="{BE6C49E9-5F55-4B84-977F-B8A5FE615D04}"/>
              </a:ext>
            </a:extLst>
          </p:cNvPr>
          <p:cNvSpPr>
            <a:spLocks noGrp="1"/>
          </p:cNvSpPr>
          <p:nvPr/>
        </p:nvSpPr>
        <p:spPr>
          <a:xfrm>
            <a:off x="6038850" y="3067050"/>
            <a:ext cx="190500" cy="190500"/>
          </a:xfrm>
          <a:prstGeom prst="roundRect">
            <a:avLst>
              <a:gd name="adj" fmla="val 40000"/>
            </a:avLst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99C4C7B1-EA42-48DD-926D-89E06EAB2447}"/>
              </a:ext>
            </a:extLst>
          </p:cNvPr>
          <p:cNvSpPr>
            <a:spLocks noGrp="1"/>
          </p:cNvSpPr>
          <p:nvPr/>
        </p:nvSpPr>
        <p:spPr>
          <a:xfrm>
            <a:off x="5124450" y="1952625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EXP‑002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2354BF8C-8CCE-4B3C-8263-CD3266AC4A2B}"/>
              </a:ext>
            </a:extLst>
          </p:cNvPr>
          <p:cNvSpPr>
            <a:spLocks noGrp="1"/>
          </p:cNvSpPr>
          <p:nvPr/>
        </p:nvSpPr>
        <p:spPr>
          <a:xfrm>
            <a:off x="5124450" y="2343150"/>
            <a:ext cx="200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111318"/>
                </a:solidFill>
              </a:defRPr>
            </a:pPr>
            <a:r>
              <a:rPr sz="1725" b="1">
                <a:solidFill>
                  <a:srgbClr val="111318"/>
                </a:solidFill>
              </a:rPr>
              <a:t>World Model v1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1F9FBA46-47A4-49F6-9F1A-AE0DB5477350}"/>
              </a:ext>
            </a:extLst>
          </p:cNvPr>
          <p:cNvSpPr>
            <a:spLocks noGrp="1"/>
          </p:cNvSpPr>
          <p:nvPr/>
        </p:nvSpPr>
        <p:spPr>
          <a:xfrm>
            <a:off x="5124450" y="35433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606772"/>
                </a:solidFill>
              </a:defRPr>
            </a:pPr>
            <a:r>
              <a:rPr sz="1275" b="0">
                <a:solidFill>
                  <a:srgbClr val="606772"/>
                </a:solidFill>
              </a:rPr>
              <a:t>Separação explícita</a:t>
            </a:r>
          </a:p>
          <a:p>
            <a:pPr algn="ctr">
              <a:defRPr sz="1275" b="0">
                <a:solidFill>
                  <a:srgbClr val="606772"/>
                </a:solidFill>
              </a:defRPr>
            </a:pPr>
            <a:r>
              <a:rPr sz="1275" b="0">
                <a:solidFill>
                  <a:srgbClr val="606772"/>
                </a:solidFill>
              </a:rPr>
              <a:t>de estado, ação e dinâmica</a:t>
            </a:r>
          </a:p>
        </p:txBody>
      </p:sp>
      <p:sp>
        <p:nvSpPr>
          <p:cNvPr id="18" name="box">
            <a:extLst>
              <a:ext uri="{FF2B5EF4-FFF2-40B4-BE49-F238E27FC236}">
                <a16:creationId xmlns:a16="http://schemas.microsoft.com/office/drawing/2014/main" id="{8BAD072E-B415-4B2E-B971-F4E7A25BBC38}"/>
              </a:ext>
            </a:extLst>
          </p:cNvPr>
          <p:cNvSpPr>
            <a:spLocks noGrp="1"/>
          </p:cNvSpPr>
          <p:nvPr/>
        </p:nvSpPr>
        <p:spPr>
          <a:xfrm>
            <a:off x="8362950" y="3067050"/>
            <a:ext cx="190500" cy="190500"/>
          </a:xfrm>
          <a:prstGeom prst="roundRect">
            <a:avLst>
              <a:gd name="adj" fmla="val 40000"/>
            </a:avLst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4D9AE729-579A-4B1C-8A19-0283B726958F}"/>
              </a:ext>
            </a:extLst>
          </p:cNvPr>
          <p:cNvSpPr>
            <a:spLocks noGrp="1"/>
          </p:cNvSpPr>
          <p:nvPr/>
        </p:nvSpPr>
        <p:spPr>
          <a:xfrm>
            <a:off x="7448550" y="1952625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EXP‑003/004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C16DDFD8-2442-48C5-B453-168C1FC14022}"/>
              </a:ext>
            </a:extLst>
          </p:cNvPr>
          <p:cNvSpPr>
            <a:spLocks noGrp="1"/>
          </p:cNvSpPr>
          <p:nvPr/>
        </p:nvSpPr>
        <p:spPr>
          <a:xfrm>
            <a:off x="7448550" y="2343150"/>
            <a:ext cx="200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111318"/>
                </a:solidFill>
              </a:defRPr>
            </a:pPr>
            <a:r>
              <a:rPr sz="1725" b="1">
                <a:solidFill>
                  <a:srgbClr val="111318"/>
                </a:solidFill>
              </a:rPr>
              <a:t>Ajustes controlados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28CC6151-6B30-4BC9-82FD-C27985A91AB9}"/>
              </a:ext>
            </a:extLst>
          </p:cNvPr>
          <p:cNvSpPr>
            <a:spLocks noGrp="1"/>
          </p:cNvSpPr>
          <p:nvPr/>
        </p:nvSpPr>
        <p:spPr>
          <a:xfrm>
            <a:off x="7448550" y="35433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606772"/>
                </a:solidFill>
              </a:defRPr>
            </a:pPr>
            <a:r>
              <a:rPr sz="1275" b="0">
                <a:solidFill>
                  <a:srgbClr val="606772"/>
                </a:solidFill>
              </a:rPr>
              <a:t>Seleção em validação;</a:t>
            </a:r>
          </a:p>
          <a:p>
            <a:pPr algn="ctr">
              <a:defRPr sz="1275" b="0">
                <a:solidFill>
                  <a:srgbClr val="606772"/>
                </a:solidFill>
              </a:defRPr>
            </a:pPr>
            <a:r>
              <a:rPr sz="1275" b="0">
                <a:solidFill>
                  <a:srgbClr val="606772"/>
                </a:solidFill>
              </a:rPr>
              <a:t>reward com Huber + residual</a:t>
            </a:r>
          </a:p>
        </p:txBody>
      </p:sp>
      <p:sp>
        <p:nvSpPr>
          <p:cNvPr id="22" name="box">
            <a:extLst>
              <a:ext uri="{FF2B5EF4-FFF2-40B4-BE49-F238E27FC236}">
                <a16:creationId xmlns:a16="http://schemas.microsoft.com/office/drawing/2014/main" id="{3A8119F5-EE0D-44C3-BB9C-61DFDF2D219E}"/>
              </a:ext>
            </a:extLst>
          </p:cNvPr>
          <p:cNvSpPr>
            <a:spLocks noGrp="1"/>
          </p:cNvSpPr>
          <p:nvPr/>
        </p:nvSpPr>
        <p:spPr>
          <a:xfrm>
            <a:off x="10687050" y="3067050"/>
            <a:ext cx="190500" cy="190500"/>
          </a:xfrm>
          <a:prstGeom prst="roundRect">
            <a:avLst>
              <a:gd name="adj" fmla="val 40000"/>
            </a:avLst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E33A6653-960C-480D-98D1-39759E213293}"/>
              </a:ext>
            </a:extLst>
          </p:cNvPr>
          <p:cNvSpPr>
            <a:spLocks noGrp="1"/>
          </p:cNvSpPr>
          <p:nvPr/>
        </p:nvSpPr>
        <p:spPr>
          <a:xfrm>
            <a:off x="9772650" y="1952625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EXP‑005</a:t>
            </a: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62A4FC08-7F11-40A9-A967-28BAC0FD084F}"/>
              </a:ext>
            </a:extLst>
          </p:cNvPr>
          <p:cNvSpPr>
            <a:spLocks noGrp="1"/>
          </p:cNvSpPr>
          <p:nvPr/>
        </p:nvSpPr>
        <p:spPr>
          <a:xfrm>
            <a:off x="9772650" y="2343150"/>
            <a:ext cx="200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111318"/>
                </a:solidFill>
              </a:defRPr>
            </a:pPr>
            <a:r>
              <a:rPr sz="1725" b="1">
                <a:solidFill>
                  <a:srgbClr val="111318"/>
                </a:solidFill>
              </a:rPr>
              <a:t>Eventos + demo</a:t>
            </a:r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EE18FEDD-7E41-4F58-BD24-205C4461D7AA}"/>
              </a:ext>
            </a:extLst>
          </p:cNvPr>
          <p:cNvSpPr>
            <a:spLocks noGrp="1"/>
          </p:cNvSpPr>
          <p:nvPr/>
        </p:nvSpPr>
        <p:spPr>
          <a:xfrm>
            <a:off x="9772650" y="35433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606772"/>
                </a:solidFill>
              </a:defRPr>
            </a:pPr>
            <a:r>
              <a:rPr sz="1275" b="0">
                <a:solidFill>
                  <a:srgbClr val="606772"/>
                </a:solidFill>
              </a:rPr>
              <a:t>Heads de compra/cancelamento</a:t>
            </a:r>
          </a:p>
          <a:p>
            <a:pPr algn="ctr">
              <a:defRPr sz="1275" b="0">
                <a:solidFill>
                  <a:srgbClr val="606772"/>
                </a:solidFill>
              </a:defRPr>
            </a:pPr>
            <a:r>
              <a:rPr sz="1275" b="0">
                <a:solidFill>
                  <a:srgbClr val="606772"/>
                </a:solidFill>
              </a:rPr>
              <a:t>e simulador fechado</a:t>
            </a:r>
          </a:p>
        </p:txBody>
      </p:sp>
      <p:sp>
        <p:nvSpPr>
          <p:cNvPr id="26" name="text">
            <a:extLst>
              <a:ext uri="{FF2B5EF4-FFF2-40B4-BE49-F238E27FC236}">
                <a16:creationId xmlns:a16="http://schemas.microsoft.com/office/drawing/2014/main" id="{A5256C04-47A8-49B5-969E-11E0363BB099}"/>
              </a:ext>
            </a:extLst>
          </p:cNvPr>
          <p:cNvSpPr>
            <a:spLocks noGrp="1"/>
          </p:cNvSpPr>
          <p:nvPr/>
        </p:nvSpPr>
        <p:spPr>
          <a:xfrm>
            <a:off x="2571750" y="5238750"/>
            <a:ext cx="7048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111318"/>
                </a:solidFill>
              </a:defRPr>
            </a:pPr>
            <a:r>
              <a:rPr sz="1800" b="1">
                <a:solidFill>
                  <a:srgbClr val="111318"/>
                </a:solidFill>
              </a:rPr>
              <a:t>Cada etapa manteve dataset, seed, versões, métricas e artefatos de execução.</a:t>
            </a:r>
          </a:p>
        </p:txBody>
      </p:sp>
    </p:spTree>
    <p:extLst>
      <p:ext uri="{BB962C8B-B14F-4D97-AF65-F5344CB8AC3E}">
        <p14:creationId xmlns:p14="http://schemas.microsoft.com/office/powerpoint/2010/main" val="226825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">
            <a:extLst>
              <a:ext uri="{FF2B5EF4-FFF2-40B4-BE49-F238E27FC236}">
                <a16:creationId xmlns:a16="http://schemas.microsoft.com/office/drawing/2014/main" id="{53C194F2-ECB0-460F-BBCD-CC00588F8DEE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606772"/>
                </a:solidFill>
              </a:defRPr>
            </a:pPr>
            <a:r>
              <a:rPr sz="1125" b="1">
                <a:solidFill>
                  <a:srgbClr val="606772"/>
                </a:solidFill>
              </a:rPr>
              <a:t>INSURANCE WORLD MODEL • P&amp;D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0A97C5D1-8B00-43D4-A18C-6BD120255B0C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049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318"/>
                </a:solidFill>
              </a:defRPr>
            </a:pPr>
            <a:r>
              <a:rPr sz="2850" b="1">
                <a:solidFill>
                  <a:srgbClr val="111318"/>
                </a:solidFill>
              </a:rPr>
              <a:t>A metodologia separa a verdade do simulador da previsão aprendida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82759708-F267-4230-953E-83E198F8B1AD}"/>
              </a:ext>
            </a:extLst>
          </p:cNvPr>
          <p:cNvSpPr>
            <a:spLocks noGrp="1"/>
          </p:cNvSpPr>
          <p:nvPr/>
        </p:nvSpPr>
        <p:spPr>
          <a:xfrm>
            <a:off x="400050" y="1438275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BA19C99D-E29F-48B1-BD32-DEE5C2C91F16}"/>
              </a:ext>
            </a:extLst>
          </p:cNvPr>
          <p:cNvSpPr>
            <a:spLocks noGrp="1"/>
          </p:cNvSpPr>
          <p:nvPr/>
        </p:nvSpPr>
        <p:spPr>
          <a:xfrm>
            <a:off x="11334750" y="64008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0">
                <a:solidFill>
                  <a:srgbClr val="606772"/>
                </a:solidFill>
              </a:defRPr>
            </a:pPr>
            <a:r>
              <a:rPr sz="975" b="0">
                <a:solidFill>
                  <a:srgbClr val="606772"/>
                </a:solidFill>
              </a:rPr>
              <a:t>06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E6B2C1DF-E4F8-42A3-8CC5-71F62E1A98C1}"/>
              </a:ext>
            </a:extLst>
          </p:cNvPr>
          <p:cNvSpPr>
            <a:spLocks noGrp="1"/>
          </p:cNvSpPr>
          <p:nvPr/>
        </p:nvSpPr>
        <p:spPr>
          <a:xfrm>
            <a:off x="400050" y="1714500"/>
            <a:ext cx="523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99B20A6F-ACCC-468D-800F-B14D88597C0B}"/>
              </a:ext>
            </a:extLst>
          </p:cNvPr>
          <p:cNvSpPr>
            <a:spLocks noGrp="1"/>
          </p:cNvSpPr>
          <p:nvPr/>
        </p:nvSpPr>
        <p:spPr>
          <a:xfrm>
            <a:off x="1066800" y="1714500"/>
            <a:ext cx="4667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11318"/>
                </a:solidFill>
              </a:defRPr>
            </a:pPr>
            <a:r>
              <a:rPr sz="1725" b="1">
                <a:solidFill>
                  <a:srgbClr val="111318"/>
                </a:solidFill>
              </a:rPr>
              <a:t>Definir o mundo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EEC04B49-A271-41F2-A48B-567C1CDB8715}"/>
              </a:ext>
            </a:extLst>
          </p:cNvPr>
          <p:cNvSpPr>
            <a:spLocks noGrp="1"/>
          </p:cNvSpPr>
          <p:nvPr/>
        </p:nvSpPr>
        <p:spPr>
          <a:xfrm>
            <a:off x="1066800" y="2133600"/>
            <a:ext cx="4667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06772"/>
                </a:solidFill>
              </a:defRPr>
            </a:pPr>
            <a:r>
              <a:rPr sz="1350" b="0">
                <a:solidFill>
                  <a:srgbClr val="606772"/>
                </a:solidFill>
              </a:rPr>
              <a:t>Regras causais conhecidas + ruído controlado</a:t>
            </a:r>
          </a:p>
        </p:txBody>
      </p:sp>
      <p:sp>
        <p:nvSpPr>
          <p:cNvPr id="8" name="rule">
            <a:extLst>
              <a:ext uri="{FF2B5EF4-FFF2-40B4-BE49-F238E27FC236}">
                <a16:creationId xmlns:a16="http://schemas.microsoft.com/office/drawing/2014/main" id="{A69AB7A9-2BEF-49F9-9D32-D1318123A278}"/>
              </a:ext>
            </a:extLst>
          </p:cNvPr>
          <p:cNvSpPr>
            <a:spLocks noGrp="1"/>
          </p:cNvSpPr>
          <p:nvPr/>
        </p:nvSpPr>
        <p:spPr>
          <a:xfrm>
            <a:off x="400050" y="2781300"/>
            <a:ext cx="52387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6BF0C868-77F3-4D49-B908-8FA0A1E6F506}"/>
              </a:ext>
            </a:extLst>
          </p:cNvPr>
          <p:cNvSpPr>
            <a:spLocks noGrp="1"/>
          </p:cNvSpPr>
          <p:nvPr/>
        </p:nvSpPr>
        <p:spPr>
          <a:xfrm>
            <a:off x="6210300" y="1714500"/>
            <a:ext cx="523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2FC480EB-B737-4CEE-8A42-D41818465260}"/>
              </a:ext>
            </a:extLst>
          </p:cNvPr>
          <p:cNvSpPr>
            <a:spLocks noGrp="1"/>
          </p:cNvSpPr>
          <p:nvPr/>
        </p:nvSpPr>
        <p:spPr>
          <a:xfrm>
            <a:off x="6877050" y="1714500"/>
            <a:ext cx="4667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11318"/>
                </a:solidFill>
              </a:defRPr>
            </a:pPr>
            <a:r>
              <a:rPr sz="1725" b="1">
                <a:solidFill>
                  <a:srgbClr val="111318"/>
                </a:solidFill>
              </a:rPr>
              <a:t>Gerar trajetórias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3382F444-3EF2-40ED-8B46-72690B4AD2D3}"/>
              </a:ext>
            </a:extLst>
          </p:cNvPr>
          <p:cNvSpPr>
            <a:spLocks noGrp="1"/>
          </p:cNvSpPr>
          <p:nvPr/>
        </p:nvSpPr>
        <p:spPr>
          <a:xfrm>
            <a:off x="6877050" y="2133600"/>
            <a:ext cx="4667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06772"/>
                </a:solidFill>
              </a:defRPr>
            </a:pPr>
            <a:r>
              <a:rPr sz="1350" b="0">
                <a:solidFill>
                  <a:srgbClr val="606772"/>
                </a:solidFill>
              </a:rPr>
              <a:t>Sₜ + Aₜ → Sₜ₊₁ + Rₜ em Parquet</a:t>
            </a:r>
          </a:p>
        </p:txBody>
      </p:sp>
      <p:sp>
        <p:nvSpPr>
          <p:cNvPr id="12" name="rule">
            <a:extLst>
              <a:ext uri="{FF2B5EF4-FFF2-40B4-BE49-F238E27FC236}">
                <a16:creationId xmlns:a16="http://schemas.microsoft.com/office/drawing/2014/main" id="{DE236B41-5D67-4B6D-AC3C-2A67A7463BB8}"/>
              </a:ext>
            </a:extLst>
          </p:cNvPr>
          <p:cNvSpPr>
            <a:spLocks noGrp="1"/>
          </p:cNvSpPr>
          <p:nvPr/>
        </p:nvSpPr>
        <p:spPr>
          <a:xfrm>
            <a:off x="6210300" y="2781300"/>
            <a:ext cx="52387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09734433-460E-438A-BFE7-4B3DF881B1B1}"/>
              </a:ext>
            </a:extLst>
          </p:cNvPr>
          <p:cNvSpPr>
            <a:spLocks noGrp="1"/>
          </p:cNvSpPr>
          <p:nvPr/>
        </p:nvSpPr>
        <p:spPr>
          <a:xfrm>
            <a:off x="400050" y="3095625"/>
            <a:ext cx="523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67874BB1-8C37-4412-A249-C9630D731E14}"/>
              </a:ext>
            </a:extLst>
          </p:cNvPr>
          <p:cNvSpPr>
            <a:spLocks noGrp="1"/>
          </p:cNvSpPr>
          <p:nvPr/>
        </p:nvSpPr>
        <p:spPr>
          <a:xfrm>
            <a:off x="1066800" y="3095625"/>
            <a:ext cx="4667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11318"/>
                </a:solidFill>
              </a:defRPr>
            </a:pPr>
            <a:r>
              <a:rPr sz="1725" b="1">
                <a:solidFill>
                  <a:srgbClr val="111318"/>
                </a:solidFill>
              </a:rPr>
              <a:t>Bloquear vazamento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2BB85AA3-5124-40E1-ABD6-C4482C3C4C03}"/>
              </a:ext>
            </a:extLst>
          </p:cNvPr>
          <p:cNvSpPr>
            <a:spLocks noGrp="1"/>
          </p:cNvSpPr>
          <p:nvPr/>
        </p:nvSpPr>
        <p:spPr>
          <a:xfrm>
            <a:off x="1066800" y="3514725"/>
            <a:ext cx="4667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06772"/>
                </a:solidFill>
              </a:defRPr>
            </a:pPr>
            <a:r>
              <a:rPr sz="1350" b="0">
                <a:solidFill>
                  <a:srgbClr val="606772"/>
                </a:solidFill>
              </a:rPr>
              <a:t>Oracle fora do treino; split por cliente 70/15/15</a:t>
            </a:r>
          </a:p>
        </p:txBody>
      </p:sp>
      <p:sp>
        <p:nvSpPr>
          <p:cNvPr id="16" name="rule">
            <a:extLst>
              <a:ext uri="{FF2B5EF4-FFF2-40B4-BE49-F238E27FC236}">
                <a16:creationId xmlns:a16="http://schemas.microsoft.com/office/drawing/2014/main" id="{9C60A8AC-1EBA-4A45-B188-AB75245A4119}"/>
              </a:ext>
            </a:extLst>
          </p:cNvPr>
          <p:cNvSpPr>
            <a:spLocks noGrp="1"/>
          </p:cNvSpPr>
          <p:nvPr/>
        </p:nvSpPr>
        <p:spPr>
          <a:xfrm>
            <a:off x="400050" y="4162425"/>
            <a:ext cx="52387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20B218E8-9626-4FDD-BB59-FF089E47EAD5}"/>
              </a:ext>
            </a:extLst>
          </p:cNvPr>
          <p:cNvSpPr>
            <a:spLocks noGrp="1"/>
          </p:cNvSpPr>
          <p:nvPr/>
        </p:nvSpPr>
        <p:spPr>
          <a:xfrm>
            <a:off x="6210300" y="3095625"/>
            <a:ext cx="523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3669A731-3233-4FA2-A501-21202F5CFE21}"/>
              </a:ext>
            </a:extLst>
          </p:cNvPr>
          <p:cNvSpPr>
            <a:spLocks noGrp="1"/>
          </p:cNvSpPr>
          <p:nvPr/>
        </p:nvSpPr>
        <p:spPr>
          <a:xfrm>
            <a:off x="6877050" y="3095625"/>
            <a:ext cx="4667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11318"/>
                </a:solidFill>
              </a:defRPr>
            </a:pPr>
            <a:r>
              <a:rPr sz="1725" b="1">
                <a:solidFill>
                  <a:srgbClr val="111318"/>
                </a:solidFill>
              </a:rPr>
              <a:t>Comparar modelos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22ED1909-A6F1-4E59-B2B7-303073D25EB7}"/>
              </a:ext>
            </a:extLst>
          </p:cNvPr>
          <p:cNvSpPr>
            <a:spLocks noGrp="1"/>
          </p:cNvSpPr>
          <p:nvPr/>
        </p:nvSpPr>
        <p:spPr>
          <a:xfrm>
            <a:off x="6877050" y="3514725"/>
            <a:ext cx="4667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06772"/>
                </a:solidFill>
              </a:defRPr>
            </a:pPr>
            <a:r>
              <a:rPr sz="1350" b="0">
                <a:solidFill>
                  <a:srgbClr val="606772"/>
                </a:solidFill>
              </a:rPr>
              <a:t>Baseline antes do world model</a:t>
            </a:r>
          </a:p>
        </p:txBody>
      </p:sp>
      <p:sp>
        <p:nvSpPr>
          <p:cNvPr id="20" name="rule">
            <a:extLst>
              <a:ext uri="{FF2B5EF4-FFF2-40B4-BE49-F238E27FC236}">
                <a16:creationId xmlns:a16="http://schemas.microsoft.com/office/drawing/2014/main" id="{DC2E50C5-1344-4A4E-A7D5-6C51119374A6}"/>
              </a:ext>
            </a:extLst>
          </p:cNvPr>
          <p:cNvSpPr>
            <a:spLocks noGrp="1"/>
          </p:cNvSpPr>
          <p:nvPr/>
        </p:nvSpPr>
        <p:spPr>
          <a:xfrm>
            <a:off x="6210300" y="4162425"/>
            <a:ext cx="52387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89B2C865-9EC9-4EB9-B954-83A97E9F89CC}"/>
              </a:ext>
            </a:extLst>
          </p:cNvPr>
          <p:cNvSpPr>
            <a:spLocks noGrp="1"/>
          </p:cNvSpPr>
          <p:nvPr/>
        </p:nvSpPr>
        <p:spPr>
          <a:xfrm>
            <a:off x="400050" y="4476750"/>
            <a:ext cx="523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D95A71E9-AAD5-45E7-9DC4-55DE9D0E9C56}"/>
              </a:ext>
            </a:extLst>
          </p:cNvPr>
          <p:cNvSpPr>
            <a:spLocks noGrp="1"/>
          </p:cNvSpPr>
          <p:nvPr/>
        </p:nvSpPr>
        <p:spPr>
          <a:xfrm>
            <a:off x="1066800" y="4476750"/>
            <a:ext cx="4667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11318"/>
                </a:solidFill>
              </a:defRPr>
            </a:pPr>
            <a:r>
              <a:rPr sz="1725" b="1">
                <a:solidFill>
                  <a:srgbClr val="111318"/>
                </a:solidFill>
              </a:rPr>
              <a:t>Selecionar sem olhar o teste</a:t>
            </a:r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60AD0719-0C15-4DB8-9663-14F03C520400}"/>
              </a:ext>
            </a:extLst>
          </p:cNvPr>
          <p:cNvSpPr>
            <a:spLocks noGrp="1"/>
          </p:cNvSpPr>
          <p:nvPr/>
        </p:nvSpPr>
        <p:spPr>
          <a:xfrm>
            <a:off x="1066800" y="4895850"/>
            <a:ext cx="4667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06772"/>
                </a:solidFill>
              </a:defRPr>
            </a:pPr>
            <a:r>
              <a:rPr sz="1350" b="0">
                <a:solidFill>
                  <a:srgbClr val="606772"/>
                </a:solidFill>
              </a:rPr>
              <a:t>Hiperparâmetros pela validação; teste uma vez</a:t>
            </a:r>
          </a:p>
        </p:txBody>
      </p:sp>
      <p:sp>
        <p:nvSpPr>
          <p:cNvPr id="24" name="rule">
            <a:extLst>
              <a:ext uri="{FF2B5EF4-FFF2-40B4-BE49-F238E27FC236}">
                <a16:creationId xmlns:a16="http://schemas.microsoft.com/office/drawing/2014/main" id="{53EC5CD2-E0AB-44CC-9C03-34810A05C199}"/>
              </a:ext>
            </a:extLst>
          </p:cNvPr>
          <p:cNvSpPr>
            <a:spLocks noGrp="1"/>
          </p:cNvSpPr>
          <p:nvPr/>
        </p:nvSpPr>
        <p:spPr>
          <a:xfrm>
            <a:off x="400050" y="5543550"/>
            <a:ext cx="52387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C5EB3C3C-346A-4420-9A4A-09FD3E244199}"/>
              </a:ext>
            </a:extLst>
          </p:cNvPr>
          <p:cNvSpPr>
            <a:spLocks noGrp="1"/>
          </p:cNvSpPr>
          <p:nvPr/>
        </p:nvSpPr>
        <p:spPr>
          <a:xfrm>
            <a:off x="6210300" y="4476750"/>
            <a:ext cx="523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06</a:t>
            </a:r>
          </a:p>
        </p:txBody>
      </p:sp>
      <p:sp>
        <p:nvSpPr>
          <p:cNvPr id="26" name="text">
            <a:extLst>
              <a:ext uri="{FF2B5EF4-FFF2-40B4-BE49-F238E27FC236}">
                <a16:creationId xmlns:a16="http://schemas.microsoft.com/office/drawing/2014/main" id="{EFB117F5-7429-40B1-824B-600931448632}"/>
              </a:ext>
            </a:extLst>
          </p:cNvPr>
          <p:cNvSpPr>
            <a:spLocks noGrp="1"/>
          </p:cNvSpPr>
          <p:nvPr/>
        </p:nvSpPr>
        <p:spPr>
          <a:xfrm>
            <a:off x="6877050" y="4476750"/>
            <a:ext cx="4667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11318"/>
                </a:solidFill>
              </a:defRPr>
            </a:pPr>
            <a:r>
              <a:rPr sz="1725" b="1">
                <a:solidFill>
                  <a:srgbClr val="111318"/>
                </a:solidFill>
              </a:rPr>
              <a:t>Simular e confrontar</a:t>
            </a:r>
          </a:p>
        </p:txBody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E7C1184F-F4FF-4A55-A6C2-71B26C00DFD2}"/>
              </a:ext>
            </a:extLst>
          </p:cNvPr>
          <p:cNvSpPr>
            <a:spLocks noGrp="1"/>
          </p:cNvSpPr>
          <p:nvPr/>
        </p:nvSpPr>
        <p:spPr>
          <a:xfrm>
            <a:off x="6877050" y="4895850"/>
            <a:ext cx="4667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06772"/>
                </a:solidFill>
              </a:defRPr>
            </a:pPr>
            <a:r>
              <a:rPr sz="1350" b="0">
                <a:solidFill>
                  <a:srgbClr val="606772"/>
                </a:solidFill>
              </a:rPr>
              <a:t>Multi-step, contrafactuais e mudança de regime ainda a validar</a:t>
            </a:r>
          </a:p>
        </p:txBody>
      </p:sp>
      <p:sp>
        <p:nvSpPr>
          <p:cNvPr id="28" name="rule">
            <a:extLst>
              <a:ext uri="{FF2B5EF4-FFF2-40B4-BE49-F238E27FC236}">
                <a16:creationId xmlns:a16="http://schemas.microsoft.com/office/drawing/2014/main" id="{323E37A6-5C27-40D6-ABDD-080F9946DEEC}"/>
              </a:ext>
            </a:extLst>
          </p:cNvPr>
          <p:cNvSpPr>
            <a:spLocks noGrp="1"/>
          </p:cNvSpPr>
          <p:nvPr/>
        </p:nvSpPr>
        <p:spPr>
          <a:xfrm>
            <a:off x="6210300" y="5543550"/>
            <a:ext cx="52387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1946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">
            <a:extLst>
              <a:ext uri="{FF2B5EF4-FFF2-40B4-BE49-F238E27FC236}">
                <a16:creationId xmlns:a16="http://schemas.microsoft.com/office/drawing/2014/main" id="{ABADB719-28E2-4A47-A496-D49A38FB7DD5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606772"/>
                </a:solidFill>
              </a:defRPr>
            </a:pPr>
            <a:r>
              <a:rPr sz="1125" b="1">
                <a:solidFill>
                  <a:srgbClr val="606772"/>
                </a:solidFill>
              </a:rPr>
              <a:t>INSURANCE WORLD MODEL • P&amp;D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C6216CBE-6F1F-4DE8-9191-598F76068876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049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318"/>
                </a:solidFill>
              </a:defRPr>
            </a:pPr>
            <a:r>
              <a:rPr sz="2850" b="1">
                <a:solidFill>
                  <a:srgbClr val="111318"/>
                </a:solidFill>
              </a:rPr>
              <a:t>O world model combina encoders separados, dinâmica latente e saídas especializadas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657EA83B-0DC1-4924-904F-E5CB74377379}"/>
              </a:ext>
            </a:extLst>
          </p:cNvPr>
          <p:cNvSpPr>
            <a:spLocks noGrp="1"/>
          </p:cNvSpPr>
          <p:nvPr/>
        </p:nvSpPr>
        <p:spPr>
          <a:xfrm>
            <a:off x="400050" y="1438275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9C786B28-1A99-4300-B0ED-4227223E625D}"/>
              </a:ext>
            </a:extLst>
          </p:cNvPr>
          <p:cNvSpPr>
            <a:spLocks noGrp="1"/>
          </p:cNvSpPr>
          <p:nvPr/>
        </p:nvSpPr>
        <p:spPr>
          <a:xfrm>
            <a:off x="11334750" y="64008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0">
                <a:solidFill>
                  <a:srgbClr val="606772"/>
                </a:solidFill>
              </a:defRPr>
            </a:pPr>
            <a:r>
              <a:rPr sz="975" b="0">
                <a:solidFill>
                  <a:srgbClr val="606772"/>
                </a:solidFill>
              </a:rPr>
              <a:t>07</a:t>
            </a:r>
          </a:p>
        </p:txBody>
      </p:sp>
      <p:sp>
        <p:nvSpPr>
          <p:cNvPr id="5" name="rule">
            <a:extLst>
              <a:ext uri="{FF2B5EF4-FFF2-40B4-BE49-F238E27FC236}">
                <a16:creationId xmlns:a16="http://schemas.microsoft.com/office/drawing/2014/main" id="{F7DE8ABA-45FF-4F5B-92F2-959B4F6BD58F}"/>
              </a:ext>
            </a:extLst>
          </p:cNvPr>
          <p:cNvSpPr>
            <a:spLocks noGrp="1"/>
          </p:cNvSpPr>
          <p:nvPr/>
        </p:nvSpPr>
        <p:spPr>
          <a:xfrm>
            <a:off x="1952625" y="2952750"/>
            <a:ext cx="1047750" cy="381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rule">
            <a:extLst>
              <a:ext uri="{FF2B5EF4-FFF2-40B4-BE49-F238E27FC236}">
                <a16:creationId xmlns:a16="http://schemas.microsoft.com/office/drawing/2014/main" id="{DD08A9DC-0049-4176-8C55-0D12CB3098EF}"/>
              </a:ext>
            </a:extLst>
          </p:cNvPr>
          <p:cNvSpPr>
            <a:spLocks noGrp="1"/>
          </p:cNvSpPr>
          <p:nvPr/>
        </p:nvSpPr>
        <p:spPr>
          <a:xfrm>
            <a:off x="4238625" y="2952750"/>
            <a:ext cx="1047750" cy="381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ule">
            <a:extLst>
              <a:ext uri="{FF2B5EF4-FFF2-40B4-BE49-F238E27FC236}">
                <a16:creationId xmlns:a16="http://schemas.microsoft.com/office/drawing/2014/main" id="{1287D17D-C92D-44BC-A2D7-829B0738D1B8}"/>
              </a:ext>
            </a:extLst>
          </p:cNvPr>
          <p:cNvSpPr>
            <a:spLocks noGrp="1"/>
          </p:cNvSpPr>
          <p:nvPr/>
        </p:nvSpPr>
        <p:spPr>
          <a:xfrm>
            <a:off x="6524625" y="2952750"/>
            <a:ext cx="1047750" cy="381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rule">
            <a:extLst>
              <a:ext uri="{FF2B5EF4-FFF2-40B4-BE49-F238E27FC236}">
                <a16:creationId xmlns:a16="http://schemas.microsoft.com/office/drawing/2014/main" id="{1DA721A2-37D2-40F9-941F-D0FCA41266BA}"/>
              </a:ext>
            </a:extLst>
          </p:cNvPr>
          <p:cNvSpPr>
            <a:spLocks noGrp="1"/>
          </p:cNvSpPr>
          <p:nvPr/>
        </p:nvSpPr>
        <p:spPr>
          <a:xfrm>
            <a:off x="8810625" y="2952750"/>
            <a:ext cx="1047750" cy="381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box">
            <a:extLst>
              <a:ext uri="{FF2B5EF4-FFF2-40B4-BE49-F238E27FC236}">
                <a16:creationId xmlns:a16="http://schemas.microsoft.com/office/drawing/2014/main" id="{EF71D637-475B-48A2-AB30-E435C6B54718}"/>
              </a:ext>
            </a:extLst>
          </p:cNvPr>
          <p:cNvSpPr>
            <a:spLocks noGrp="1"/>
          </p:cNvSpPr>
          <p:nvPr/>
        </p:nvSpPr>
        <p:spPr>
          <a:xfrm>
            <a:off x="523875" y="2095500"/>
            <a:ext cx="1809750" cy="1714500"/>
          </a:xfrm>
          <a:prstGeom prst="roundRect">
            <a:avLst>
              <a:gd name="adj" fmla="val 4444"/>
            </a:avLst>
          </a:prstGeom>
          <a:solidFill>
            <a:srgbClr val="F0F2F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D2D85096-B4C7-4AC9-868D-C54CBFBF5496}"/>
              </a:ext>
            </a:extLst>
          </p:cNvPr>
          <p:cNvSpPr>
            <a:spLocks noGrp="1"/>
          </p:cNvSpPr>
          <p:nvPr/>
        </p:nvSpPr>
        <p:spPr>
          <a:xfrm>
            <a:off x="666750" y="2266950"/>
            <a:ext cx="1524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11318"/>
                </a:solidFill>
              </a:defRPr>
            </a:pPr>
            <a:r>
              <a:rPr sz="1650" b="1">
                <a:solidFill>
                  <a:srgbClr val="111318"/>
                </a:solidFill>
              </a:rPr>
              <a:t>Estado observável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495E89EA-C0A2-48C6-A154-38B3F286132F}"/>
              </a:ext>
            </a:extLst>
          </p:cNvPr>
          <p:cNvSpPr>
            <a:spLocks noGrp="1"/>
          </p:cNvSpPr>
          <p:nvPr/>
        </p:nvSpPr>
        <p:spPr>
          <a:xfrm>
            <a:off x="666750" y="2952750"/>
            <a:ext cx="152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606772"/>
                </a:solidFill>
              </a:defRPr>
            </a:pPr>
            <a:r>
              <a:rPr sz="1125" b="0">
                <a:solidFill>
                  <a:srgbClr val="606772"/>
                </a:solidFill>
              </a:rPr>
              <a:t>idade • apólices • sinistros</a:t>
            </a:r>
          </a:p>
          <a:p>
            <a:pPr algn="ctr">
              <a:defRPr sz="1125" b="0">
                <a:solidFill>
                  <a:srgbClr val="606772"/>
                </a:solidFill>
              </a:defRPr>
            </a:pPr>
            <a:r>
              <a:rPr sz="1125" b="0">
                <a:solidFill>
                  <a:srgbClr val="606772"/>
                </a:solidFill>
              </a:rPr>
              <a:t>prêmio • engajamento • jornada</a:t>
            </a:r>
          </a:p>
        </p:txBody>
      </p:sp>
      <p:sp>
        <p:nvSpPr>
          <p:cNvPr id="12" name="box">
            <a:extLst>
              <a:ext uri="{FF2B5EF4-FFF2-40B4-BE49-F238E27FC236}">
                <a16:creationId xmlns:a16="http://schemas.microsoft.com/office/drawing/2014/main" id="{8BFF960F-7CF4-415F-BA5F-DCAA01378380}"/>
              </a:ext>
            </a:extLst>
          </p:cNvPr>
          <p:cNvSpPr>
            <a:spLocks noGrp="1"/>
          </p:cNvSpPr>
          <p:nvPr/>
        </p:nvSpPr>
        <p:spPr>
          <a:xfrm>
            <a:off x="2809875" y="2095500"/>
            <a:ext cx="1809750" cy="1714500"/>
          </a:xfrm>
          <a:prstGeom prst="roundRect">
            <a:avLst>
              <a:gd name="adj" fmla="val 4444"/>
            </a:avLst>
          </a:prstGeom>
          <a:solidFill>
            <a:srgbClr val="F0F2F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A4450998-DA7B-4150-B27B-CE645CCE736B}"/>
              </a:ext>
            </a:extLst>
          </p:cNvPr>
          <p:cNvSpPr>
            <a:spLocks noGrp="1"/>
          </p:cNvSpPr>
          <p:nvPr/>
        </p:nvSpPr>
        <p:spPr>
          <a:xfrm>
            <a:off x="2952750" y="2266950"/>
            <a:ext cx="1524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11318"/>
                </a:solidFill>
              </a:defRPr>
            </a:pPr>
            <a:r>
              <a:rPr sz="1650" b="1">
                <a:solidFill>
                  <a:srgbClr val="111318"/>
                </a:solidFill>
              </a:rPr>
              <a:t>State + Action</a:t>
            </a:r>
          </a:p>
          <a:p>
            <a:pPr algn="ctr">
              <a:defRPr sz="1650" b="1">
                <a:solidFill>
                  <a:srgbClr val="111318"/>
                </a:solidFill>
              </a:defRPr>
            </a:pPr>
            <a:r>
              <a:rPr sz="1650" b="1">
                <a:solidFill>
                  <a:srgbClr val="111318"/>
                </a:solidFill>
              </a:rPr>
              <a:t>Encoders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D12D5237-FA94-4D9C-AA5E-81A3CD947256}"/>
              </a:ext>
            </a:extLst>
          </p:cNvPr>
          <p:cNvSpPr>
            <a:spLocks noGrp="1"/>
          </p:cNvSpPr>
          <p:nvPr/>
        </p:nvSpPr>
        <p:spPr>
          <a:xfrm>
            <a:off x="2952750" y="2952750"/>
            <a:ext cx="152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606772"/>
                </a:solidFill>
              </a:defRPr>
            </a:pPr>
            <a:r>
              <a:rPr sz="1125" b="0">
                <a:solidFill>
                  <a:srgbClr val="606772"/>
                </a:solidFill>
              </a:rPr>
              <a:t>normalização + one-hot</a:t>
            </a:r>
          </a:p>
          <a:p>
            <a:pPr algn="ctr">
              <a:defRPr sz="1125" b="0">
                <a:solidFill>
                  <a:srgbClr val="606772"/>
                </a:solidFill>
              </a:defRPr>
            </a:pPr>
            <a:r>
              <a:rPr sz="1125" b="0">
                <a:solidFill>
                  <a:srgbClr val="606772"/>
                </a:solidFill>
              </a:rPr>
              <a:t>representações separadas</a:t>
            </a:r>
          </a:p>
        </p:txBody>
      </p:sp>
      <p:sp>
        <p:nvSpPr>
          <p:cNvPr id="15" name="box">
            <a:extLst>
              <a:ext uri="{FF2B5EF4-FFF2-40B4-BE49-F238E27FC236}">
                <a16:creationId xmlns:a16="http://schemas.microsoft.com/office/drawing/2014/main" id="{1B5A2135-7EF0-4AC5-A401-212B67D8715C}"/>
              </a:ext>
            </a:extLst>
          </p:cNvPr>
          <p:cNvSpPr>
            <a:spLocks noGrp="1"/>
          </p:cNvSpPr>
          <p:nvPr/>
        </p:nvSpPr>
        <p:spPr>
          <a:xfrm>
            <a:off x="5095875" y="2095500"/>
            <a:ext cx="1809750" cy="1714500"/>
          </a:xfrm>
          <a:prstGeom prst="roundRect">
            <a:avLst>
              <a:gd name="adj" fmla="val 4444"/>
            </a:avLst>
          </a:prstGeom>
          <a:solidFill>
            <a:srgbClr val="11131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DC49E5AF-DE0D-4587-94D7-F85C498A30DF}"/>
              </a:ext>
            </a:extLst>
          </p:cNvPr>
          <p:cNvSpPr>
            <a:spLocks noGrp="1"/>
          </p:cNvSpPr>
          <p:nvPr/>
        </p:nvSpPr>
        <p:spPr>
          <a:xfrm>
            <a:off x="5238750" y="2266950"/>
            <a:ext cx="1524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Dynamics Model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84E34E62-3C28-4807-BD43-797C642022F1}"/>
              </a:ext>
            </a:extLst>
          </p:cNvPr>
          <p:cNvSpPr>
            <a:spLocks noGrp="1"/>
          </p:cNvSpPr>
          <p:nvPr/>
        </p:nvSpPr>
        <p:spPr>
          <a:xfrm>
            <a:off x="5238750" y="2952750"/>
            <a:ext cx="152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D0EDFA"/>
                </a:solidFill>
              </a:defRPr>
            </a:pPr>
            <a:r>
              <a:rPr sz="1125" b="0">
                <a:solidFill>
                  <a:srgbClr val="D0EDFA"/>
                </a:solidFill>
              </a:rPr>
              <a:t>fusão dos latentes</a:t>
            </a:r>
          </a:p>
          <a:p>
            <a:pPr algn="ctr">
              <a:defRPr sz="1125" b="0">
                <a:solidFill>
                  <a:srgbClr val="D0EDFA"/>
                </a:solidFill>
              </a:defRPr>
            </a:pPr>
            <a:r>
              <a:rPr sz="1125" b="0">
                <a:solidFill>
                  <a:srgbClr val="D0EDFA"/>
                </a:solidFill>
              </a:rPr>
              <a:t>e transição aprendida</a:t>
            </a:r>
          </a:p>
        </p:txBody>
      </p:sp>
      <p:sp>
        <p:nvSpPr>
          <p:cNvPr id="18" name="box">
            <a:extLst>
              <a:ext uri="{FF2B5EF4-FFF2-40B4-BE49-F238E27FC236}">
                <a16:creationId xmlns:a16="http://schemas.microsoft.com/office/drawing/2014/main" id="{A78EDD95-0A88-4220-8238-2D65D6FA6EEC}"/>
              </a:ext>
            </a:extLst>
          </p:cNvPr>
          <p:cNvSpPr>
            <a:spLocks noGrp="1"/>
          </p:cNvSpPr>
          <p:nvPr/>
        </p:nvSpPr>
        <p:spPr>
          <a:xfrm>
            <a:off x="7381875" y="2095500"/>
            <a:ext cx="1809750" cy="1714500"/>
          </a:xfrm>
          <a:prstGeom prst="roundRect">
            <a:avLst>
              <a:gd name="adj" fmla="val 4444"/>
            </a:avLst>
          </a:prstGeom>
          <a:solidFill>
            <a:srgbClr val="F0F2F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9387F907-E09D-437B-BE57-405C6FA5BA15}"/>
              </a:ext>
            </a:extLst>
          </p:cNvPr>
          <p:cNvSpPr>
            <a:spLocks noGrp="1"/>
          </p:cNvSpPr>
          <p:nvPr/>
        </p:nvSpPr>
        <p:spPr>
          <a:xfrm>
            <a:off x="7524750" y="2266950"/>
            <a:ext cx="1524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11318"/>
                </a:solidFill>
              </a:defRPr>
            </a:pPr>
            <a:r>
              <a:rPr sz="1650" b="1">
                <a:solidFill>
                  <a:srgbClr val="111318"/>
                </a:solidFill>
              </a:rPr>
              <a:t>Decoders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071CCD67-B095-4093-8EB1-868502E1EE78}"/>
              </a:ext>
            </a:extLst>
          </p:cNvPr>
          <p:cNvSpPr>
            <a:spLocks noGrp="1"/>
          </p:cNvSpPr>
          <p:nvPr/>
        </p:nvSpPr>
        <p:spPr>
          <a:xfrm>
            <a:off x="7524750" y="2952750"/>
            <a:ext cx="152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606772"/>
                </a:solidFill>
              </a:defRPr>
            </a:pPr>
            <a:r>
              <a:rPr sz="1125" b="0">
                <a:solidFill>
                  <a:srgbClr val="606772"/>
                </a:solidFill>
              </a:rPr>
              <a:t>próximo estado • jornada</a:t>
            </a:r>
          </a:p>
          <a:p>
            <a:pPr algn="ctr">
              <a:defRPr sz="1125" b="0">
                <a:solidFill>
                  <a:srgbClr val="606772"/>
                </a:solidFill>
              </a:defRPr>
            </a:pPr>
            <a:r>
              <a:rPr sz="1125" b="0">
                <a:solidFill>
                  <a:srgbClr val="606772"/>
                </a:solidFill>
              </a:rPr>
              <a:t>reward • compra • cancelamento</a:t>
            </a:r>
          </a:p>
        </p:txBody>
      </p:sp>
      <p:sp>
        <p:nvSpPr>
          <p:cNvPr id="21" name="box">
            <a:extLst>
              <a:ext uri="{FF2B5EF4-FFF2-40B4-BE49-F238E27FC236}">
                <a16:creationId xmlns:a16="http://schemas.microsoft.com/office/drawing/2014/main" id="{22678212-8C47-490B-8A54-8A5AA94DF69C}"/>
              </a:ext>
            </a:extLst>
          </p:cNvPr>
          <p:cNvSpPr>
            <a:spLocks noGrp="1"/>
          </p:cNvSpPr>
          <p:nvPr/>
        </p:nvSpPr>
        <p:spPr>
          <a:xfrm>
            <a:off x="9667875" y="2095500"/>
            <a:ext cx="1809750" cy="1714500"/>
          </a:xfrm>
          <a:prstGeom prst="roundRect">
            <a:avLst>
              <a:gd name="adj" fmla="val 4444"/>
            </a:avLst>
          </a:prstGeom>
          <a:solidFill>
            <a:srgbClr val="F0F2F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EC4AA498-CF53-4721-98D2-8B6E6E3ADC17}"/>
              </a:ext>
            </a:extLst>
          </p:cNvPr>
          <p:cNvSpPr>
            <a:spLocks noGrp="1"/>
          </p:cNvSpPr>
          <p:nvPr/>
        </p:nvSpPr>
        <p:spPr>
          <a:xfrm>
            <a:off x="9810750" y="2266950"/>
            <a:ext cx="1524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11318"/>
                </a:solidFill>
              </a:defRPr>
            </a:pPr>
            <a:r>
              <a:rPr sz="1650" b="1">
                <a:solidFill>
                  <a:srgbClr val="111318"/>
                </a:solidFill>
              </a:rPr>
              <a:t>Simulator</a:t>
            </a:r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B1B5C1F6-4AB7-47AC-83CA-98E147AA90C6}"/>
              </a:ext>
            </a:extLst>
          </p:cNvPr>
          <p:cNvSpPr>
            <a:spLocks noGrp="1"/>
          </p:cNvSpPr>
          <p:nvPr/>
        </p:nvSpPr>
        <p:spPr>
          <a:xfrm>
            <a:off x="9810750" y="2952750"/>
            <a:ext cx="152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606772"/>
                </a:solidFill>
              </a:defRPr>
            </a:pPr>
            <a:r>
              <a:rPr sz="1125" b="0">
                <a:solidFill>
                  <a:srgbClr val="606772"/>
                </a:solidFill>
              </a:rPr>
              <a:t>rollout mensal</a:t>
            </a:r>
          </a:p>
          <a:p>
            <a:pPr algn="ctr">
              <a:defRPr sz="1125" b="0">
                <a:solidFill>
                  <a:srgbClr val="606772"/>
                </a:solidFill>
              </a:defRPr>
            </a:pPr>
            <a:r>
              <a:rPr sz="1125" b="0">
                <a:solidFill>
                  <a:srgbClr val="606772"/>
                </a:solidFill>
              </a:rPr>
              <a:t>+ estatísticas agregadas</a:t>
            </a:r>
          </a:p>
        </p:txBody>
      </p:sp>
      <p:sp>
        <p:nvSpPr>
          <p:cNvPr id="24" name="box">
            <a:extLst>
              <a:ext uri="{FF2B5EF4-FFF2-40B4-BE49-F238E27FC236}">
                <a16:creationId xmlns:a16="http://schemas.microsoft.com/office/drawing/2014/main" id="{66A4C98C-2FB9-4356-A590-A201589A22C1}"/>
              </a:ext>
            </a:extLst>
          </p:cNvPr>
          <p:cNvSpPr>
            <a:spLocks noGrp="1"/>
          </p:cNvSpPr>
          <p:nvPr/>
        </p:nvSpPr>
        <p:spPr>
          <a:xfrm>
            <a:off x="1552575" y="4429125"/>
            <a:ext cx="1238250" cy="342900"/>
          </a:xfrm>
          <a:prstGeom prst="roundRect">
            <a:avLst>
              <a:gd name="adj" fmla="val 22222"/>
            </a:avLst>
          </a:prstGeom>
          <a:solidFill>
            <a:srgbClr val="D0ED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FA60A577-35B4-4D31-B793-56E857ECEDD2}"/>
              </a:ext>
            </a:extLst>
          </p:cNvPr>
          <p:cNvSpPr>
            <a:spLocks noGrp="1"/>
          </p:cNvSpPr>
          <p:nvPr/>
        </p:nvSpPr>
        <p:spPr>
          <a:xfrm>
            <a:off x="1666875" y="4429125"/>
            <a:ext cx="1009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PyTorch</a:t>
            </a:r>
          </a:p>
        </p:txBody>
      </p:sp>
      <p:sp>
        <p:nvSpPr>
          <p:cNvPr id="26" name="box">
            <a:extLst>
              <a:ext uri="{FF2B5EF4-FFF2-40B4-BE49-F238E27FC236}">
                <a16:creationId xmlns:a16="http://schemas.microsoft.com/office/drawing/2014/main" id="{E4B5C2A5-001B-4F23-9E24-9835294CD3A2}"/>
              </a:ext>
            </a:extLst>
          </p:cNvPr>
          <p:cNvSpPr>
            <a:spLocks noGrp="1"/>
          </p:cNvSpPr>
          <p:nvPr/>
        </p:nvSpPr>
        <p:spPr>
          <a:xfrm>
            <a:off x="2981325" y="4429125"/>
            <a:ext cx="1571625" cy="342900"/>
          </a:xfrm>
          <a:prstGeom prst="roundRect">
            <a:avLst>
              <a:gd name="adj" fmla="val 22222"/>
            </a:avLst>
          </a:prstGeom>
          <a:solidFill>
            <a:srgbClr val="D0ED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770595F4-D8FE-4A5E-8C66-C2BEA5180082}"/>
              </a:ext>
            </a:extLst>
          </p:cNvPr>
          <p:cNvSpPr>
            <a:spLocks noGrp="1"/>
          </p:cNvSpPr>
          <p:nvPr/>
        </p:nvSpPr>
        <p:spPr>
          <a:xfrm>
            <a:off x="3095625" y="4429125"/>
            <a:ext cx="13430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scikit-learn</a:t>
            </a:r>
          </a:p>
        </p:txBody>
      </p:sp>
      <p:sp>
        <p:nvSpPr>
          <p:cNvPr id="28" name="box">
            <a:extLst>
              <a:ext uri="{FF2B5EF4-FFF2-40B4-BE49-F238E27FC236}">
                <a16:creationId xmlns:a16="http://schemas.microsoft.com/office/drawing/2014/main" id="{23546BC3-BF73-4A84-881D-624DD64DA8DC}"/>
              </a:ext>
            </a:extLst>
          </p:cNvPr>
          <p:cNvSpPr>
            <a:spLocks noGrp="1"/>
          </p:cNvSpPr>
          <p:nvPr/>
        </p:nvSpPr>
        <p:spPr>
          <a:xfrm>
            <a:off x="4743450" y="4429125"/>
            <a:ext cx="1809750" cy="342900"/>
          </a:xfrm>
          <a:prstGeom prst="roundRect">
            <a:avLst>
              <a:gd name="adj" fmla="val 22222"/>
            </a:avLst>
          </a:prstGeom>
          <a:solidFill>
            <a:srgbClr val="D0ED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">
            <a:extLst>
              <a:ext uri="{FF2B5EF4-FFF2-40B4-BE49-F238E27FC236}">
                <a16:creationId xmlns:a16="http://schemas.microsoft.com/office/drawing/2014/main" id="{5738C8BE-FC03-4007-B91C-C0F99DD34FC8}"/>
              </a:ext>
            </a:extLst>
          </p:cNvPr>
          <p:cNvSpPr>
            <a:spLocks noGrp="1"/>
          </p:cNvSpPr>
          <p:nvPr/>
        </p:nvSpPr>
        <p:spPr>
          <a:xfrm>
            <a:off x="4857750" y="4429125"/>
            <a:ext cx="1581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11318"/>
                </a:solidFill>
              </a:defRPr>
            </a:pPr>
            <a:r>
              <a:rPr sz="1200" b="1" dirty="0">
                <a:solidFill>
                  <a:srgbClr val="111318"/>
                </a:solidFill>
              </a:rPr>
              <a:t>Pandas / Parquet</a:t>
            </a:r>
          </a:p>
        </p:txBody>
      </p:sp>
      <p:sp>
        <p:nvSpPr>
          <p:cNvPr id="30" name="box">
            <a:extLst>
              <a:ext uri="{FF2B5EF4-FFF2-40B4-BE49-F238E27FC236}">
                <a16:creationId xmlns:a16="http://schemas.microsoft.com/office/drawing/2014/main" id="{D641D2B4-CAB1-4C6C-A527-06C89F143191}"/>
              </a:ext>
            </a:extLst>
          </p:cNvPr>
          <p:cNvSpPr>
            <a:spLocks noGrp="1"/>
          </p:cNvSpPr>
          <p:nvPr/>
        </p:nvSpPr>
        <p:spPr>
          <a:xfrm>
            <a:off x="6743700" y="4429125"/>
            <a:ext cx="1190625" cy="342900"/>
          </a:xfrm>
          <a:prstGeom prst="roundRect">
            <a:avLst>
              <a:gd name="adj" fmla="val 22222"/>
            </a:avLst>
          </a:prstGeom>
          <a:solidFill>
            <a:srgbClr val="D0ED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">
            <a:extLst>
              <a:ext uri="{FF2B5EF4-FFF2-40B4-BE49-F238E27FC236}">
                <a16:creationId xmlns:a16="http://schemas.microsoft.com/office/drawing/2014/main" id="{C0220DD0-A18F-4CD0-8134-25AC6DE3E155}"/>
              </a:ext>
            </a:extLst>
          </p:cNvPr>
          <p:cNvSpPr>
            <a:spLocks noGrp="1"/>
          </p:cNvSpPr>
          <p:nvPr/>
        </p:nvSpPr>
        <p:spPr>
          <a:xfrm>
            <a:off x="6858000" y="4429125"/>
            <a:ext cx="9620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11318"/>
                </a:solidFill>
              </a:defRPr>
            </a:pPr>
            <a:r>
              <a:rPr sz="1200" b="1" dirty="0" err="1">
                <a:solidFill>
                  <a:srgbClr val="111318"/>
                </a:solidFill>
              </a:rPr>
              <a:t>MLflow</a:t>
            </a:r>
            <a:endParaRPr sz="1200" b="1" dirty="0">
              <a:solidFill>
                <a:srgbClr val="111318"/>
              </a:solidFill>
            </a:endParaRPr>
          </a:p>
        </p:txBody>
      </p:sp>
      <p:sp>
        <p:nvSpPr>
          <p:cNvPr id="32" name="box">
            <a:extLst>
              <a:ext uri="{FF2B5EF4-FFF2-40B4-BE49-F238E27FC236}">
                <a16:creationId xmlns:a16="http://schemas.microsoft.com/office/drawing/2014/main" id="{8AB1184F-45FA-4246-930E-8F0260EF88CF}"/>
              </a:ext>
            </a:extLst>
          </p:cNvPr>
          <p:cNvSpPr>
            <a:spLocks noGrp="1"/>
          </p:cNvSpPr>
          <p:nvPr/>
        </p:nvSpPr>
        <p:spPr>
          <a:xfrm>
            <a:off x="8124825" y="4429125"/>
            <a:ext cx="1238250" cy="342900"/>
          </a:xfrm>
          <a:prstGeom prst="roundRect">
            <a:avLst>
              <a:gd name="adj" fmla="val 22222"/>
            </a:avLst>
          </a:prstGeom>
          <a:solidFill>
            <a:srgbClr val="D0ED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">
            <a:extLst>
              <a:ext uri="{FF2B5EF4-FFF2-40B4-BE49-F238E27FC236}">
                <a16:creationId xmlns:a16="http://schemas.microsoft.com/office/drawing/2014/main" id="{31BDA6E4-6969-4DA4-BE16-D6E84A401EC9}"/>
              </a:ext>
            </a:extLst>
          </p:cNvPr>
          <p:cNvSpPr>
            <a:spLocks noGrp="1"/>
          </p:cNvSpPr>
          <p:nvPr/>
        </p:nvSpPr>
        <p:spPr>
          <a:xfrm>
            <a:off x="8239125" y="4429125"/>
            <a:ext cx="1009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FastAPI</a:t>
            </a:r>
          </a:p>
        </p:txBody>
      </p:sp>
      <p:sp>
        <p:nvSpPr>
          <p:cNvPr id="34" name="box">
            <a:extLst>
              <a:ext uri="{FF2B5EF4-FFF2-40B4-BE49-F238E27FC236}">
                <a16:creationId xmlns:a16="http://schemas.microsoft.com/office/drawing/2014/main" id="{516BFDF5-0EC6-4585-89CE-88839273F244}"/>
              </a:ext>
            </a:extLst>
          </p:cNvPr>
          <p:cNvSpPr>
            <a:spLocks noGrp="1"/>
          </p:cNvSpPr>
          <p:nvPr/>
        </p:nvSpPr>
        <p:spPr>
          <a:xfrm>
            <a:off x="9553575" y="4429125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D0ED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">
            <a:extLst>
              <a:ext uri="{FF2B5EF4-FFF2-40B4-BE49-F238E27FC236}">
                <a16:creationId xmlns:a16="http://schemas.microsoft.com/office/drawing/2014/main" id="{21EBA379-6BA9-41D8-8051-481DA6F0BBB5}"/>
              </a:ext>
            </a:extLst>
          </p:cNvPr>
          <p:cNvSpPr>
            <a:spLocks noGrp="1"/>
          </p:cNvSpPr>
          <p:nvPr/>
        </p:nvSpPr>
        <p:spPr>
          <a:xfrm>
            <a:off x="9667875" y="4429125"/>
            <a:ext cx="819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11318"/>
                </a:solidFill>
              </a:defRPr>
            </a:pPr>
            <a:r>
              <a:rPr sz="1200" b="1" dirty="0" err="1">
                <a:solidFill>
                  <a:srgbClr val="111318"/>
                </a:solidFill>
              </a:rPr>
              <a:t>pytest</a:t>
            </a:r>
            <a:endParaRPr sz="1200" b="1" dirty="0">
              <a:solidFill>
                <a:srgbClr val="111318"/>
              </a:solidFill>
            </a:endParaRPr>
          </a:p>
        </p:txBody>
      </p:sp>
      <p:sp>
        <p:nvSpPr>
          <p:cNvPr id="36" name="text">
            <a:extLst>
              <a:ext uri="{FF2B5EF4-FFF2-40B4-BE49-F238E27FC236}">
                <a16:creationId xmlns:a16="http://schemas.microsoft.com/office/drawing/2014/main" id="{BC574912-39AB-48F8-9C9A-04737A584475}"/>
              </a:ext>
            </a:extLst>
          </p:cNvPr>
          <p:cNvSpPr>
            <a:spLocks noGrp="1"/>
          </p:cNvSpPr>
          <p:nvPr/>
        </p:nvSpPr>
        <p:spPr>
          <a:xfrm>
            <a:off x="1428750" y="5286375"/>
            <a:ext cx="933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11318"/>
                </a:solidFill>
              </a:defRPr>
            </a:pPr>
            <a:r>
              <a:rPr sz="1650" b="1">
                <a:solidFill>
                  <a:srgbClr val="111318"/>
                </a:solidFill>
              </a:rPr>
              <a:t>O ambiente sintético gera a ground truth; o simulador da demo usa exclusivamente o checkpoint EXP‑005.</a:t>
            </a:r>
          </a:p>
        </p:txBody>
      </p:sp>
    </p:spTree>
    <p:extLst>
      <p:ext uri="{BB962C8B-B14F-4D97-AF65-F5344CB8AC3E}">
        <p14:creationId xmlns:p14="http://schemas.microsoft.com/office/powerpoint/2010/main" val="1458839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">
            <a:extLst>
              <a:ext uri="{FF2B5EF4-FFF2-40B4-BE49-F238E27FC236}">
                <a16:creationId xmlns:a16="http://schemas.microsoft.com/office/drawing/2014/main" id="{4B56632E-F407-4C42-9198-6ACE658D70AE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606772"/>
                </a:solidFill>
              </a:defRPr>
            </a:pPr>
            <a:r>
              <a:rPr sz="1125" b="1">
                <a:solidFill>
                  <a:srgbClr val="606772"/>
                </a:solidFill>
              </a:rPr>
              <a:t>INSURANCE WORLD MODEL • P&amp;D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37638C80-B508-4551-B863-1D449F493DCE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049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318"/>
                </a:solidFill>
              </a:defRPr>
            </a:pPr>
            <a:r>
              <a:rPr sz="2850" b="1">
                <a:solidFill>
                  <a:srgbClr val="111318"/>
                </a:solidFill>
              </a:rPr>
              <a:t>O EXP‑005 melhora transição, jornada e reward — mas a comparação exige nuance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EACE4314-4742-4680-ACBA-66D8AD8C7EF5}"/>
              </a:ext>
            </a:extLst>
          </p:cNvPr>
          <p:cNvSpPr>
            <a:spLocks noGrp="1"/>
          </p:cNvSpPr>
          <p:nvPr/>
        </p:nvSpPr>
        <p:spPr>
          <a:xfrm>
            <a:off x="400050" y="1438275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AC2632D7-8B7A-4EB2-806A-8077FA73B6E6}"/>
              </a:ext>
            </a:extLst>
          </p:cNvPr>
          <p:cNvSpPr>
            <a:spLocks noGrp="1"/>
          </p:cNvSpPr>
          <p:nvPr/>
        </p:nvSpPr>
        <p:spPr>
          <a:xfrm>
            <a:off x="11334750" y="64008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0">
                <a:solidFill>
                  <a:srgbClr val="606772"/>
                </a:solidFill>
              </a:defRPr>
            </a:pPr>
            <a:r>
              <a:rPr sz="975" b="0">
                <a:solidFill>
                  <a:srgbClr val="606772"/>
                </a:solidFill>
              </a:rPr>
              <a:t>08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="428625" y="1809750"/>
          <a:ext cx="657225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box">
            <a:extLst>
              <a:ext uri="{FF2B5EF4-FFF2-40B4-BE49-F238E27FC236}">
                <a16:creationId xmlns:a16="http://schemas.microsoft.com/office/drawing/2014/main" id="{8F5D8AEE-3291-4C1E-8D42-355C26200A15}"/>
              </a:ext>
            </a:extLst>
          </p:cNvPr>
          <p:cNvSpPr>
            <a:spLocks noGrp="1"/>
          </p:cNvSpPr>
          <p:nvPr/>
        </p:nvSpPr>
        <p:spPr>
          <a:xfrm>
            <a:off x="7524750" y="1809750"/>
            <a:ext cx="3905250" cy="1123950"/>
          </a:xfrm>
          <a:prstGeom prst="roundRect">
            <a:avLst>
              <a:gd name="adj" fmla="val 6780"/>
            </a:avLst>
          </a:prstGeom>
          <a:solidFill>
            <a:srgbClr val="D0ED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72BE4C04-B4AD-4B94-AC05-C8DD82FB51F8}"/>
              </a:ext>
            </a:extLst>
          </p:cNvPr>
          <p:cNvSpPr>
            <a:spLocks noGrp="1"/>
          </p:cNvSpPr>
          <p:nvPr/>
        </p:nvSpPr>
        <p:spPr>
          <a:xfrm>
            <a:off x="7762875" y="1952625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3D8DFF"/>
                </a:solidFill>
              </a:defRPr>
            </a:pPr>
            <a:r>
              <a:rPr sz="2400" b="1">
                <a:solidFill>
                  <a:srgbClr val="3D8DFF"/>
                </a:solidFill>
              </a:rPr>
              <a:t>+4,0 p.p.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15D9B8BA-C5B7-48D3-8C55-4E94DA4E6237}"/>
              </a:ext>
            </a:extLst>
          </p:cNvPr>
          <p:cNvSpPr>
            <a:spLocks noGrp="1"/>
          </p:cNvSpPr>
          <p:nvPr/>
        </p:nvSpPr>
        <p:spPr>
          <a:xfrm>
            <a:off x="7762875" y="2409825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06772"/>
                </a:solidFill>
              </a:defRPr>
            </a:pPr>
            <a:r>
              <a:rPr sz="1275" b="0">
                <a:solidFill>
                  <a:srgbClr val="606772"/>
                </a:solidFill>
              </a:rPr>
              <a:t>acurácia de jornada vs. baseline</a:t>
            </a:r>
          </a:p>
        </p:txBody>
      </p:sp>
      <p:sp>
        <p:nvSpPr>
          <p:cNvPr id="9" name="box">
            <a:extLst>
              <a:ext uri="{FF2B5EF4-FFF2-40B4-BE49-F238E27FC236}">
                <a16:creationId xmlns:a16="http://schemas.microsoft.com/office/drawing/2014/main" id="{C42AA0BF-7F82-4D01-B714-5A7037F9E804}"/>
              </a:ext>
            </a:extLst>
          </p:cNvPr>
          <p:cNvSpPr>
            <a:spLocks noGrp="1"/>
          </p:cNvSpPr>
          <p:nvPr/>
        </p:nvSpPr>
        <p:spPr>
          <a:xfrm>
            <a:off x="7524750" y="3143250"/>
            <a:ext cx="3905250" cy="1123950"/>
          </a:xfrm>
          <a:prstGeom prst="roundRect">
            <a:avLst>
              <a:gd name="adj" fmla="val 6780"/>
            </a:avLst>
          </a:prstGeom>
          <a:solidFill>
            <a:srgbClr val="F0F2F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3C70BCC1-7405-4B82-950F-FA1C38568627}"/>
              </a:ext>
            </a:extLst>
          </p:cNvPr>
          <p:cNvSpPr>
            <a:spLocks noGrp="1"/>
          </p:cNvSpPr>
          <p:nvPr/>
        </p:nvSpPr>
        <p:spPr>
          <a:xfrm>
            <a:off x="7762875" y="3286125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158466"/>
                </a:solidFill>
              </a:defRPr>
            </a:pPr>
            <a:r>
              <a:rPr sz="2400" b="1">
                <a:solidFill>
                  <a:srgbClr val="158466"/>
                </a:solidFill>
              </a:rPr>
              <a:t>−15,1%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C7010FE1-1356-4038-B6FC-96E01E3E566F}"/>
              </a:ext>
            </a:extLst>
          </p:cNvPr>
          <p:cNvSpPr>
            <a:spLocks noGrp="1"/>
          </p:cNvSpPr>
          <p:nvPr/>
        </p:nvSpPr>
        <p:spPr>
          <a:xfrm>
            <a:off x="7762875" y="3743325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06772"/>
                </a:solidFill>
              </a:defRPr>
            </a:pPr>
            <a:r>
              <a:rPr sz="1275" b="0">
                <a:solidFill>
                  <a:srgbClr val="606772"/>
                </a:solidFill>
              </a:rPr>
              <a:t>erro absoluto de reward vs. baseline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4DD2234C-7EF1-4645-9FCC-C201915A3199}"/>
              </a:ext>
            </a:extLst>
          </p:cNvPr>
          <p:cNvSpPr>
            <a:spLocks noGrp="1"/>
          </p:cNvSpPr>
          <p:nvPr/>
        </p:nvSpPr>
        <p:spPr>
          <a:xfrm>
            <a:off x="7524750" y="4572000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11318"/>
                </a:solidFill>
              </a:defRPr>
            </a:pPr>
            <a:r>
              <a:rPr sz="1500" b="1">
                <a:solidFill>
                  <a:srgbClr val="111318"/>
                </a:solidFill>
              </a:rPr>
              <a:t>Leitura correta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F3157D86-93A1-4DDA-B442-CF05D4D01C85}"/>
              </a:ext>
            </a:extLst>
          </p:cNvPr>
          <p:cNvSpPr>
            <a:spLocks noGrp="1"/>
          </p:cNvSpPr>
          <p:nvPr/>
        </p:nvSpPr>
        <p:spPr>
          <a:xfrm>
            <a:off x="7524750" y="4953000"/>
            <a:ext cx="3905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606772"/>
                </a:solidFill>
              </a:defRPr>
            </a:pPr>
            <a:r>
              <a:rPr sz="1425" b="0">
                <a:solidFill>
                  <a:srgbClr val="606772"/>
                </a:solidFill>
              </a:rPr>
              <a:t>Resultados held-out são promissores dentro do mesmo mundo sintético. Eles não demonstram desempenho com clientes reais nem robustez fora da distribuição.</a:t>
            </a:r>
          </a:p>
        </p:txBody>
      </p:sp>
    </p:spTree>
    <p:extLst>
      <p:ext uri="{BB962C8B-B14F-4D97-AF65-F5344CB8AC3E}">
        <p14:creationId xmlns:p14="http://schemas.microsoft.com/office/powerpoint/2010/main" val="157180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">
            <a:extLst>
              <a:ext uri="{FF2B5EF4-FFF2-40B4-BE49-F238E27FC236}">
                <a16:creationId xmlns:a16="http://schemas.microsoft.com/office/drawing/2014/main" id="{B5E0CEBA-CB7B-40D1-B492-F58649584ADB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606772"/>
                </a:solidFill>
              </a:defRPr>
            </a:pPr>
            <a:r>
              <a:rPr sz="1125" b="1">
                <a:solidFill>
                  <a:srgbClr val="606772"/>
                </a:solidFill>
              </a:rPr>
              <a:t>INSURANCE WORLD MODEL • P&amp;D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D1600D9D-D5C4-40D8-BB50-CC71B033D64D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049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318"/>
                </a:solidFill>
              </a:defRPr>
            </a:pPr>
            <a:r>
              <a:rPr sz="2850" b="1">
                <a:solidFill>
                  <a:srgbClr val="111318"/>
                </a:solidFill>
              </a:rPr>
              <a:t>As decisões tomadas reduziram risco de interpretação e de engenharia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86878757-4C31-433D-83BB-F6A88FA67B2C}"/>
              </a:ext>
            </a:extLst>
          </p:cNvPr>
          <p:cNvSpPr>
            <a:spLocks noGrp="1"/>
          </p:cNvSpPr>
          <p:nvPr/>
        </p:nvSpPr>
        <p:spPr>
          <a:xfrm>
            <a:off x="400050" y="1438275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83060ACA-FC98-469B-A02A-351FAFC720E9}"/>
              </a:ext>
            </a:extLst>
          </p:cNvPr>
          <p:cNvSpPr>
            <a:spLocks noGrp="1"/>
          </p:cNvSpPr>
          <p:nvPr/>
        </p:nvSpPr>
        <p:spPr>
          <a:xfrm>
            <a:off x="11334750" y="64008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0">
                <a:solidFill>
                  <a:srgbClr val="606772"/>
                </a:solidFill>
              </a:defRPr>
            </a:pPr>
            <a:r>
              <a:rPr sz="975" b="0">
                <a:solidFill>
                  <a:srgbClr val="606772"/>
                </a:solidFill>
              </a:rPr>
              <a:t>09</a:t>
            </a:r>
          </a:p>
        </p:txBody>
      </p:sp>
      <p:sp>
        <p:nvSpPr>
          <p:cNvPr id="5" name="box">
            <a:extLst>
              <a:ext uri="{FF2B5EF4-FFF2-40B4-BE49-F238E27FC236}">
                <a16:creationId xmlns:a16="http://schemas.microsoft.com/office/drawing/2014/main" id="{BC301305-88A2-4315-A88C-75EA9B1DFAD8}"/>
              </a:ext>
            </a:extLst>
          </p:cNvPr>
          <p:cNvSpPr>
            <a:spLocks noGrp="1"/>
          </p:cNvSpPr>
          <p:nvPr/>
        </p:nvSpPr>
        <p:spPr>
          <a:xfrm>
            <a:off x="400050" y="1619250"/>
            <a:ext cx="5334000" cy="933450"/>
          </a:xfrm>
          <a:prstGeom prst="roundRect">
            <a:avLst>
              <a:gd name="adj" fmla="val 8163"/>
            </a:avLst>
          </a:prstGeom>
          <a:solidFill>
            <a:srgbClr val="F0F2F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9187DC66-25C9-4DE6-B108-5710EBB6B32A}"/>
              </a:ext>
            </a:extLst>
          </p:cNvPr>
          <p:cNvSpPr>
            <a:spLocks noGrp="1"/>
          </p:cNvSpPr>
          <p:nvPr/>
        </p:nvSpPr>
        <p:spPr>
          <a:xfrm>
            <a:off x="590550" y="17335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Baseline primeiro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7F9E5610-C02F-44AA-A73A-1DAF70A06B37}"/>
              </a:ext>
            </a:extLst>
          </p:cNvPr>
          <p:cNvSpPr>
            <a:spLocks noGrp="1"/>
          </p:cNvSpPr>
          <p:nvPr/>
        </p:nvSpPr>
        <p:spPr>
          <a:xfrm>
            <a:off x="2686050" y="1714500"/>
            <a:ext cx="2857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06772"/>
                </a:solidFill>
              </a:defRPr>
            </a:pPr>
            <a:r>
              <a:rPr sz="1200" b="0">
                <a:solidFill>
                  <a:srgbClr val="606772"/>
                </a:solidFill>
              </a:rPr>
              <a:t>Evita atribuir ao world model ganhos que uma MLP simples já entrega.</a:t>
            </a:r>
          </a:p>
        </p:txBody>
      </p:sp>
      <p:sp>
        <p:nvSpPr>
          <p:cNvPr id="8" name="box">
            <a:extLst>
              <a:ext uri="{FF2B5EF4-FFF2-40B4-BE49-F238E27FC236}">
                <a16:creationId xmlns:a16="http://schemas.microsoft.com/office/drawing/2014/main" id="{543B0A33-CE5D-4449-BC6F-7DD8E7D6DB3C}"/>
              </a:ext>
            </a:extLst>
          </p:cNvPr>
          <p:cNvSpPr>
            <a:spLocks noGrp="1"/>
          </p:cNvSpPr>
          <p:nvPr/>
        </p:nvSpPr>
        <p:spPr>
          <a:xfrm>
            <a:off x="6210300" y="1619250"/>
            <a:ext cx="5334000" cy="933450"/>
          </a:xfrm>
          <a:prstGeom prst="roundRect">
            <a:avLst>
              <a:gd name="adj" fmla="val 8163"/>
            </a:avLst>
          </a:prstGeom>
          <a:solidFill>
            <a:srgbClr val="F0F2F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FF33F9F9-A9BC-4665-8E84-BCA83BFA4AE8}"/>
              </a:ext>
            </a:extLst>
          </p:cNvPr>
          <p:cNvSpPr>
            <a:spLocks noGrp="1"/>
          </p:cNvSpPr>
          <p:nvPr/>
        </p:nvSpPr>
        <p:spPr>
          <a:xfrm>
            <a:off x="6400800" y="17335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Oracle bloqueado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86ACCFB1-AD0C-4EAE-836D-FFABFC7FD6B8}"/>
              </a:ext>
            </a:extLst>
          </p:cNvPr>
          <p:cNvSpPr>
            <a:spLocks noGrp="1"/>
          </p:cNvSpPr>
          <p:nvPr/>
        </p:nvSpPr>
        <p:spPr>
          <a:xfrm>
            <a:off x="8496300" y="1714500"/>
            <a:ext cx="2857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06772"/>
                </a:solidFill>
              </a:defRPr>
            </a:pPr>
            <a:r>
              <a:rPr sz="1200" b="0">
                <a:solidFill>
                  <a:srgbClr val="606772"/>
                </a:solidFill>
              </a:rPr>
              <a:t>Variáveis latentes ficam disponíveis para ciência, não para treinar.</a:t>
            </a:r>
          </a:p>
        </p:txBody>
      </p:sp>
      <p:sp>
        <p:nvSpPr>
          <p:cNvPr id="11" name="box">
            <a:extLst>
              <a:ext uri="{FF2B5EF4-FFF2-40B4-BE49-F238E27FC236}">
                <a16:creationId xmlns:a16="http://schemas.microsoft.com/office/drawing/2014/main" id="{C0EF0C02-2E2C-4419-A022-DD720AD98330}"/>
              </a:ext>
            </a:extLst>
          </p:cNvPr>
          <p:cNvSpPr>
            <a:spLocks noGrp="1"/>
          </p:cNvSpPr>
          <p:nvPr/>
        </p:nvSpPr>
        <p:spPr>
          <a:xfrm>
            <a:off x="400050" y="2762250"/>
            <a:ext cx="5334000" cy="933450"/>
          </a:xfrm>
          <a:prstGeom prst="roundRect">
            <a:avLst>
              <a:gd name="adj" fmla="val 8163"/>
            </a:avLst>
          </a:prstGeom>
          <a:solidFill>
            <a:srgbClr val="F0F2F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83004A36-8EA8-47E1-B6E4-E17D69A0ADCF}"/>
              </a:ext>
            </a:extLst>
          </p:cNvPr>
          <p:cNvSpPr>
            <a:spLocks noGrp="1"/>
          </p:cNvSpPr>
          <p:nvPr/>
        </p:nvSpPr>
        <p:spPr>
          <a:xfrm>
            <a:off x="590550" y="28765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Split por cliente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8CB863A9-0057-4AE4-83D1-316A40C76FB6}"/>
              </a:ext>
            </a:extLst>
          </p:cNvPr>
          <p:cNvSpPr>
            <a:spLocks noGrp="1"/>
          </p:cNvSpPr>
          <p:nvPr/>
        </p:nvSpPr>
        <p:spPr>
          <a:xfrm>
            <a:off x="2686050" y="2857500"/>
            <a:ext cx="2857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06772"/>
                </a:solidFill>
              </a:defRPr>
            </a:pPr>
            <a:r>
              <a:rPr sz="1200" b="0">
                <a:solidFill>
                  <a:srgbClr val="606772"/>
                </a:solidFill>
              </a:rPr>
              <a:t>A mesma trajetória individual não vaza entre treino, validação e teste.</a:t>
            </a:r>
          </a:p>
        </p:txBody>
      </p:sp>
      <p:sp>
        <p:nvSpPr>
          <p:cNvPr id="14" name="box">
            <a:extLst>
              <a:ext uri="{FF2B5EF4-FFF2-40B4-BE49-F238E27FC236}">
                <a16:creationId xmlns:a16="http://schemas.microsoft.com/office/drawing/2014/main" id="{8EED1BE8-7C95-4D6D-A456-1655E9AD0419}"/>
              </a:ext>
            </a:extLst>
          </p:cNvPr>
          <p:cNvSpPr>
            <a:spLocks noGrp="1"/>
          </p:cNvSpPr>
          <p:nvPr/>
        </p:nvSpPr>
        <p:spPr>
          <a:xfrm>
            <a:off x="6210300" y="2762250"/>
            <a:ext cx="5334000" cy="933450"/>
          </a:xfrm>
          <a:prstGeom prst="roundRect">
            <a:avLst>
              <a:gd name="adj" fmla="val 8163"/>
            </a:avLst>
          </a:prstGeom>
          <a:solidFill>
            <a:srgbClr val="F0F2F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6EC60270-E956-439E-BF24-8BF2754F3E5E}"/>
              </a:ext>
            </a:extLst>
          </p:cNvPr>
          <p:cNvSpPr>
            <a:spLocks noGrp="1"/>
          </p:cNvSpPr>
          <p:nvPr/>
        </p:nvSpPr>
        <p:spPr>
          <a:xfrm>
            <a:off x="6400800" y="28765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Teste preservado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12958691-1EE6-439C-9E30-D90145598E1A}"/>
              </a:ext>
            </a:extLst>
          </p:cNvPr>
          <p:cNvSpPr>
            <a:spLocks noGrp="1"/>
          </p:cNvSpPr>
          <p:nvPr/>
        </p:nvSpPr>
        <p:spPr>
          <a:xfrm>
            <a:off x="8496300" y="2857500"/>
            <a:ext cx="2857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06772"/>
                </a:solidFill>
              </a:defRPr>
            </a:pPr>
            <a:r>
              <a:rPr sz="1200" b="0">
                <a:solidFill>
                  <a:srgbClr val="606772"/>
                </a:solidFill>
              </a:rPr>
              <a:t>EXP‑003 escolhe candidatos pela validação e confirma apenas o vencedor.</a:t>
            </a:r>
          </a:p>
        </p:txBody>
      </p:sp>
      <p:sp>
        <p:nvSpPr>
          <p:cNvPr id="17" name="box">
            <a:extLst>
              <a:ext uri="{FF2B5EF4-FFF2-40B4-BE49-F238E27FC236}">
                <a16:creationId xmlns:a16="http://schemas.microsoft.com/office/drawing/2014/main" id="{E588D05E-2ACA-4D05-AE02-35F253FE4CA2}"/>
              </a:ext>
            </a:extLst>
          </p:cNvPr>
          <p:cNvSpPr>
            <a:spLocks noGrp="1"/>
          </p:cNvSpPr>
          <p:nvPr/>
        </p:nvSpPr>
        <p:spPr>
          <a:xfrm>
            <a:off x="400050" y="3905250"/>
            <a:ext cx="5334000" cy="933450"/>
          </a:xfrm>
          <a:prstGeom prst="roundRect">
            <a:avLst>
              <a:gd name="adj" fmla="val 8163"/>
            </a:avLst>
          </a:prstGeom>
          <a:solidFill>
            <a:srgbClr val="F0F2F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A4EEF32C-8F04-4007-B000-06CC6A79D2A0}"/>
              </a:ext>
            </a:extLst>
          </p:cNvPr>
          <p:cNvSpPr>
            <a:spLocks noGrp="1"/>
          </p:cNvSpPr>
          <p:nvPr/>
        </p:nvSpPr>
        <p:spPr>
          <a:xfrm>
            <a:off x="590550" y="40195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Reward redefinido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FD7EB317-472C-4BD7-A552-9EC2D28BDD0A}"/>
              </a:ext>
            </a:extLst>
          </p:cNvPr>
          <p:cNvSpPr>
            <a:spLocks noGrp="1"/>
          </p:cNvSpPr>
          <p:nvPr/>
        </p:nvSpPr>
        <p:spPr>
          <a:xfrm>
            <a:off x="2686050" y="4000500"/>
            <a:ext cx="2857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06772"/>
                </a:solidFill>
              </a:defRPr>
            </a:pPr>
            <a:r>
              <a:rPr sz="1200" b="0">
                <a:solidFill>
                  <a:srgbClr val="606772"/>
                </a:solidFill>
              </a:rPr>
              <a:t>Huber e maior peso reduziram erro sem declarar vitória total prematura.</a:t>
            </a:r>
          </a:p>
        </p:txBody>
      </p:sp>
      <p:sp>
        <p:nvSpPr>
          <p:cNvPr id="20" name="box">
            <a:extLst>
              <a:ext uri="{FF2B5EF4-FFF2-40B4-BE49-F238E27FC236}">
                <a16:creationId xmlns:a16="http://schemas.microsoft.com/office/drawing/2014/main" id="{E395E417-FEB6-4D1A-B0AA-20FB6BEF57F3}"/>
              </a:ext>
            </a:extLst>
          </p:cNvPr>
          <p:cNvSpPr>
            <a:spLocks noGrp="1"/>
          </p:cNvSpPr>
          <p:nvPr/>
        </p:nvSpPr>
        <p:spPr>
          <a:xfrm>
            <a:off x="6210300" y="3905250"/>
            <a:ext cx="5334000" cy="933450"/>
          </a:xfrm>
          <a:prstGeom prst="roundRect">
            <a:avLst>
              <a:gd name="adj" fmla="val 8163"/>
            </a:avLst>
          </a:prstGeom>
          <a:solidFill>
            <a:srgbClr val="F0F2F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CC75D258-59E8-47C8-BDB2-58AAD89F1EB1}"/>
              </a:ext>
            </a:extLst>
          </p:cNvPr>
          <p:cNvSpPr>
            <a:spLocks noGrp="1"/>
          </p:cNvSpPr>
          <p:nvPr/>
        </p:nvSpPr>
        <p:spPr>
          <a:xfrm>
            <a:off x="6400800" y="40195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Semântica da demo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4FFBF245-3DF7-421E-9D7F-9EFF92281282}"/>
              </a:ext>
            </a:extLst>
          </p:cNvPr>
          <p:cNvSpPr>
            <a:spLocks noGrp="1"/>
          </p:cNvSpPr>
          <p:nvPr/>
        </p:nvSpPr>
        <p:spPr>
          <a:xfrm>
            <a:off x="8496300" y="4000500"/>
            <a:ext cx="2857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06772"/>
                </a:solidFill>
              </a:defRPr>
            </a:pPr>
            <a:r>
              <a:rPr sz="1200" b="0">
                <a:solidFill>
                  <a:srgbClr val="606772"/>
                </a:solidFill>
              </a:rPr>
              <a:t>“Trajetórias”, não “clientes impactados”; exposição, não receita realizada.</a:t>
            </a:r>
          </a:p>
        </p:txBody>
      </p:sp>
      <p:sp>
        <p:nvSpPr>
          <p:cNvPr id="26" name="box">
            <a:extLst>
              <a:ext uri="{FF2B5EF4-FFF2-40B4-BE49-F238E27FC236}">
                <a16:creationId xmlns:a16="http://schemas.microsoft.com/office/drawing/2014/main" id="{DD264E9F-A961-4F7C-9ECB-E7FE685880A9}"/>
              </a:ext>
            </a:extLst>
          </p:cNvPr>
          <p:cNvSpPr>
            <a:spLocks noGrp="1"/>
          </p:cNvSpPr>
          <p:nvPr/>
        </p:nvSpPr>
        <p:spPr>
          <a:xfrm>
            <a:off x="6210300" y="5048250"/>
            <a:ext cx="5334000" cy="933450"/>
          </a:xfrm>
          <a:prstGeom prst="roundRect">
            <a:avLst>
              <a:gd name="adj" fmla="val 8163"/>
            </a:avLst>
          </a:prstGeom>
          <a:solidFill>
            <a:srgbClr val="F0F2F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2D866FE5-3ED7-420B-809C-05DC4C85C48D}"/>
              </a:ext>
            </a:extLst>
          </p:cNvPr>
          <p:cNvSpPr>
            <a:spLocks noGrp="1"/>
          </p:cNvSpPr>
          <p:nvPr/>
        </p:nvSpPr>
        <p:spPr>
          <a:xfrm>
            <a:off x="6400800" y="51625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Domínio fechado</a:t>
            </a:r>
          </a:p>
        </p:txBody>
      </p:sp>
      <p:sp>
        <p:nvSpPr>
          <p:cNvPr id="28" name="text">
            <a:extLst>
              <a:ext uri="{FF2B5EF4-FFF2-40B4-BE49-F238E27FC236}">
                <a16:creationId xmlns:a16="http://schemas.microsoft.com/office/drawing/2014/main" id="{8162A255-205D-45E2-9658-B88C032847E2}"/>
              </a:ext>
            </a:extLst>
          </p:cNvPr>
          <p:cNvSpPr>
            <a:spLocks noGrp="1"/>
          </p:cNvSpPr>
          <p:nvPr/>
        </p:nvSpPr>
        <p:spPr>
          <a:xfrm>
            <a:off x="8496300" y="5143500"/>
            <a:ext cx="2857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06772"/>
                </a:solidFill>
              </a:defRPr>
            </a:pPr>
            <a:r>
              <a:rPr sz="1200" b="0">
                <a:solidFill>
                  <a:srgbClr val="606772"/>
                </a:solidFill>
              </a:rPr>
              <a:t>Perfis, produtos, canais e preços limitados para evitar extrapolação silenciosa.</a:t>
            </a:r>
          </a:p>
        </p:txBody>
      </p:sp>
    </p:spTree>
    <p:extLst>
      <p:ext uri="{BB962C8B-B14F-4D97-AF65-F5344CB8AC3E}">
        <p14:creationId xmlns:p14="http://schemas.microsoft.com/office/powerpoint/2010/main" val="15821488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">
            <a:extLst>
              <a:ext uri="{FF2B5EF4-FFF2-40B4-BE49-F238E27FC236}">
                <a16:creationId xmlns:a16="http://schemas.microsoft.com/office/drawing/2014/main" id="{F77AD592-4117-471A-8855-9B2FC5266C2F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606772"/>
                </a:solidFill>
              </a:defRPr>
            </a:pPr>
            <a:r>
              <a:rPr sz="1125" b="1">
                <a:solidFill>
                  <a:srgbClr val="606772"/>
                </a:solidFill>
              </a:rPr>
              <a:t>INSURANCE WORLD MODEL • P&amp;D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082EF995-8CDD-4AE1-92F1-848D78991A8B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049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318"/>
                </a:solidFill>
              </a:defRPr>
            </a:pPr>
            <a:r>
              <a:rPr sz="2850" b="1">
                <a:solidFill>
                  <a:srgbClr val="111318"/>
                </a:solidFill>
              </a:rPr>
              <a:t>Overfitting aqui não é apenas memorizar linhas — é aprender o mundo que nós inventamos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1D9706A2-D13F-4B8A-A342-862EAC9E4A18}"/>
              </a:ext>
            </a:extLst>
          </p:cNvPr>
          <p:cNvSpPr>
            <a:spLocks noGrp="1"/>
          </p:cNvSpPr>
          <p:nvPr/>
        </p:nvSpPr>
        <p:spPr>
          <a:xfrm>
            <a:off x="400050" y="1438275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805A670E-CBB6-455B-8D23-1AE2B27B7BE0}"/>
              </a:ext>
            </a:extLst>
          </p:cNvPr>
          <p:cNvSpPr>
            <a:spLocks noGrp="1"/>
          </p:cNvSpPr>
          <p:nvPr/>
        </p:nvSpPr>
        <p:spPr>
          <a:xfrm>
            <a:off x="11334750" y="64008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0">
                <a:solidFill>
                  <a:srgbClr val="606772"/>
                </a:solidFill>
              </a:defRPr>
            </a:pPr>
            <a:r>
              <a:rPr sz="975" b="0">
                <a:solidFill>
                  <a:srgbClr val="606772"/>
                </a:solidFill>
              </a:rPr>
              <a:t>10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9C9E2EF7-6B54-44A2-BE92-1F4242C3177B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D94A4A"/>
                </a:solidFill>
              </a:defRPr>
            </a:pPr>
            <a:r>
              <a:rPr sz="1650" b="1">
                <a:solidFill>
                  <a:srgbClr val="D94A4A"/>
                </a:solidFill>
              </a:rPr>
              <a:t>Onde ele pode ocorrer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17F143AC-8814-49FB-AB14-D624BD37EB47}"/>
              </a:ext>
            </a:extLst>
          </p:cNvPr>
          <p:cNvSpPr>
            <a:spLocks noGrp="1"/>
          </p:cNvSpPr>
          <p:nvPr/>
        </p:nvSpPr>
        <p:spPr>
          <a:xfrm>
            <a:off x="428625" y="2266950"/>
            <a:ext cx="323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D94A4A"/>
                </a:solidFill>
              </a:defRPr>
            </a:pPr>
            <a:r>
              <a:rPr sz="1800" b="1">
                <a:solidFill>
                  <a:srgbClr val="D94A4A"/>
                </a:solidFill>
              </a:rPr>
              <a:t>×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1C88B7B0-BD8B-45B1-BC9E-A01896953731}"/>
              </a:ext>
            </a:extLst>
          </p:cNvPr>
          <p:cNvSpPr>
            <a:spLocks noGrp="1"/>
          </p:cNvSpPr>
          <p:nvPr/>
        </p:nvSpPr>
        <p:spPr>
          <a:xfrm>
            <a:off x="857250" y="226695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Ajuste ao dataset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84F7087A-0A9E-4FA7-87B2-4CCD290C6A59}"/>
              </a:ext>
            </a:extLst>
          </p:cNvPr>
          <p:cNvSpPr>
            <a:spLocks noGrp="1"/>
          </p:cNvSpPr>
          <p:nvPr/>
        </p:nvSpPr>
        <p:spPr>
          <a:xfrm>
            <a:off x="2809875" y="2266950"/>
            <a:ext cx="2619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06772"/>
                </a:solidFill>
              </a:defRPr>
            </a:pPr>
            <a:r>
              <a:rPr sz="1200" b="0">
                <a:solidFill>
                  <a:srgbClr val="606772"/>
                </a:solidFill>
              </a:rPr>
              <a:t>Mesmo seed, regras e distribuição favorecem padrões repetidos.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17A62026-D5E0-43ED-A8BC-BB2262CB94C1}"/>
              </a:ext>
            </a:extLst>
          </p:cNvPr>
          <p:cNvSpPr>
            <a:spLocks noGrp="1"/>
          </p:cNvSpPr>
          <p:nvPr/>
        </p:nvSpPr>
        <p:spPr>
          <a:xfrm>
            <a:off x="428625" y="3152775"/>
            <a:ext cx="323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D94A4A"/>
                </a:solidFill>
              </a:defRPr>
            </a:pPr>
            <a:r>
              <a:rPr sz="1800" b="1">
                <a:solidFill>
                  <a:srgbClr val="D94A4A"/>
                </a:solidFill>
              </a:rPr>
              <a:t>×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D864F211-98FD-4315-AD42-29FDB2BC8662}"/>
              </a:ext>
            </a:extLst>
          </p:cNvPr>
          <p:cNvSpPr>
            <a:spLocks noGrp="1"/>
          </p:cNvSpPr>
          <p:nvPr/>
        </p:nvSpPr>
        <p:spPr>
          <a:xfrm>
            <a:off x="857250" y="3152775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Ajuste à validação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D9F9179A-BC4A-4895-A3B8-05C0D3EB4A13}"/>
              </a:ext>
            </a:extLst>
          </p:cNvPr>
          <p:cNvSpPr>
            <a:spLocks noGrp="1"/>
          </p:cNvSpPr>
          <p:nvPr/>
        </p:nvSpPr>
        <p:spPr>
          <a:xfrm>
            <a:off x="2809875" y="3152775"/>
            <a:ext cx="2619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06772"/>
                </a:solidFill>
              </a:defRPr>
            </a:pPr>
            <a:r>
              <a:rPr sz="1200" b="0">
                <a:solidFill>
                  <a:srgbClr val="606772"/>
                </a:solidFill>
              </a:rPr>
              <a:t>Muitos ciclos de tuning transformam validação em teste informal.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8A04CE66-02F0-4AC4-BA65-7DC45B3683D2}"/>
              </a:ext>
            </a:extLst>
          </p:cNvPr>
          <p:cNvSpPr>
            <a:spLocks noGrp="1"/>
          </p:cNvSpPr>
          <p:nvPr/>
        </p:nvSpPr>
        <p:spPr>
          <a:xfrm>
            <a:off x="428625" y="4038600"/>
            <a:ext cx="323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D94A4A"/>
                </a:solidFill>
              </a:defRPr>
            </a:pPr>
            <a:r>
              <a:rPr sz="1800" b="1">
                <a:solidFill>
                  <a:srgbClr val="D94A4A"/>
                </a:solidFill>
              </a:rPr>
              <a:t>×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CD195C95-F0C4-4379-8739-47D7210BED22}"/>
              </a:ext>
            </a:extLst>
          </p:cNvPr>
          <p:cNvSpPr>
            <a:spLocks noGrp="1"/>
          </p:cNvSpPr>
          <p:nvPr/>
        </p:nvSpPr>
        <p:spPr>
          <a:xfrm>
            <a:off x="857250" y="403860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Ajuste ao simulador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09E526CB-007B-4517-A683-D345D929481D}"/>
              </a:ext>
            </a:extLst>
          </p:cNvPr>
          <p:cNvSpPr>
            <a:spLocks noGrp="1"/>
          </p:cNvSpPr>
          <p:nvPr/>
        </p:nvSpPr>
        <p:spPr>
          <a:xfrm>
            <a:off x="2809875" y="4038600"/>
            <a:ext cx="2619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06772"/>
                </a:solidFill>
              </a:defRPr>
            </a:pPr>
            <a:r>
              <a:rPr sz="1200" b="0">
                <a:solidFill>
                  <a:srgbClr val="606772"/>
                </a:solidFill>
              </a:rPr>
              <a:t>Ótima fidelidade à v0.1 pode não transferir para o mundo real.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777EB578-5D5D-4886-BD52-68B7C14FC745}"/>
              </a:ext>
            </a:extLst>
          </p:cNvPr>
          <p:cNvSpPr>
            <a:spLocks noGrp="1"/>
          </p:cNvSpPr>
          <p:nvPr/>
        </p:nvSpPr>
        <p:spPr>
          <a:xfrm>
            <a:off x="428625" y="4924425"/>
            <a:ext cx="323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D94A4A"/>
                </a:solidFill>
              </a:defRPr>
            </a:pPr>
            <a:r>
              <a:rPr sz="1800" b="1">
                <a:solidFill>
                  <a:srgbClr val="D94A4A"/>
                </a:solidFill>
              </a:rPr>
              <a:t>×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EC490A49-614C-48F7-A7BB-883D04E1EA45}"/>
              </a:ext>
            </a:extLst>
          </p:cNvPr>
          <p:cNvSpPr>
            <a:spLocks noGrp="1"/>
          </p:cNvSpPr>
          <p:nvPr/>
        </p:nvSpPr>
        <p:spPr>
          <a:xfrm>
            <a:off x="857250" y="4924425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Erro acumulado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3CD82EE1-5287-46DB-B3F9-4D957A4F8312}"/>
              </a:ext>
            </a:extLst>
          </p:cNvPr>
          <p:cNvSpPr>
            <a:spLocks noGrp="1"/>
          </p:cNvSpPr>
          <p:nvPr/>
        </p:nvSpPr>
        <p:spPr>
          <a:xfrm>
            <a:off x="2809875" y="4924425"/>
            <a:ext cx="2619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06772"/>
                </a:solidFill>
              </a:defRPr>
            </a:pPr>
            <a:r>
              <a:rPr sz="1200" b="0">
                <a:solidFill>
                  <a:srgbClr val="606772"/>
                </a:solidFill>
              </a:rPr>
              <a:t>Pequenos vieses one-step crescem em rollouts de 12–24 meses.</a:t>
            </a:r>
          </a:p>
        </p:txBody>
      </p:sp>
      <p:sp>
        <p:nvSpPr>
          <p:cNvPr id="18" name="box">
            <a:extLst>
              <a:ext uri="{FF2B5EF4-FFF2-40B4-BE49-F238E27FC236}">
                <a16:creationId xmlns:a16="http://schemas.microsoft.com/office/drawing/2014/main" id="{8599E62E-7FC5-4B8C-80A0-E660B901BE95}"/>
              </a:ext>
            </a:extLst>
          </p:cNvPr>
          <p:cNvSpPr>
            <a:spLocks noGrp="1"/>
          </p:cNvSpPr>
          <p:nvPr/>
        </p:nvSpPr>
        <p:spPr>
          <a:xfrm>
            <a:off x="6191250" y="1809750"/>
            <a:ext cx="5238750" cy="3714750"/>
          </a:xfrm>
          <a:prstGeom prst="roundRect">
            <a:avLst>
              <a:gd name="adj" fmla="val 2051"/>
            </a:avLst>
          </a:prstGeom>
          <a:solidFill>
            <a:srgbClr val="11131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A57B0574-D0A8-495B-980A-D955B69C8861}"/>
              </a:ext>
            </a:extLst>
          </p:cNvPr>
          <p:cNvSpPr>
            <a:spLocks noGrp="1"/>
          </p:cNvSpPr>
          <p:nvPr/>
        </p:nvSpPr>
        <p:spPr>
          <a:xfrm>
            <a:off x="6524625" y="2095500"/>
            <a:ext cx="447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Como controlar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4820E63C-707C-40F1-A230-F74E22B628A9}"/>
              </a:ext>
            </a:extLst>
          </p:cNvPr>
          <p:cNvSpPr>
            <a:spLocks noGrp="1"/>
          </p:cNvSpPr>
          <p:nvPr/>
        </p:nvSpPr>
        <p:spPr>
          <a:xfrm>
            <a:off x="6524625" y="26860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D0EDFA"/>
                </a:solidFill>
              </a:defRPr>
            </a:pPr>
            <a:r>
              <a:rPr sz="1125" b="1">
                <a:solidFill>
                  <a:srgbClr val="D0EDFA"/>
                </a:solidFill>
              </a:rPr>
              <a:t>01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30669928-6C3A-4FBC-87BE-89878E3569B3}"/>
              </a:ext>
            </a:extLst>
          </p:cNvPr>
          <p:cNvSpPr>
            <a:spLocks noGrp="1"/>
          </p:cNvSpPr>
          <p:nvPr/>
        </p:nvSpPr>
        <p:spPr>
          <a:xfrm>
            <a:off x="7029450" y="2647950"/>
            <a:ext cx="381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Holdout temporal e por coorte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C57ED612-804D-41D7-B26F-64869501CCC8}"/>
              </a:ext>
            </a:extLst>
          </p:cNvPr>
          <p:cNvSpPr>
            <a:spLocks noGrp="1"/>
          </p:cNvSpPr>
          <p:nvPr/>
        </p:nvSpPr>
        <p:spPr>
          <a:xfrm>
            <a:off x="6524625" y="31051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D0EDFA"/>
                </a:solidFill>
              </a:defRPr>
            </a:pPr>
            <a:r>
              <a:rPr sz="1125" b="1">
                <a:solidFill>
                  <a:srgbClr val="D0EDFA"/>
                </a:solidFill>
              </a:rPr>
              <a:t>02</a:t>
            </a:r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0AABB56F-BECE-422F-A161-0BB2D29D8319}"/>
              </a:ext>
            </a:extLst>
          </p:cNvPr>
          <p:cNvSpPr>
            <a:spLocks noGrp="1"/>
          </p:cNvSpPr>
          <p:nvPr/>
        </p:nvSpPr>
        <p:spPr>
          <a:xfrm>
            <a:off x="7029450" y="3067050"/>
            <a:ext cx="381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Seeds, dinâmicas e populações novas</a:t>
            </a: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3037CAF3-5537-45E0-9866-CF36E720B66E}"/>
              </a:ext>
            </a:extLst>
          </p:cNvPr>
          <p:cNvSpPr>
            <a:spLocks noGrp="1"/>
          </p:cNvSpPr>
          <p:nvPr/>
        </p:nvSpPr>
        <p:spPr>
          <a:xfrm>
            <a:off x="6524625" y="35242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D0EDFA"/>
                </a:solidFill>
              </a:defRPr>
            </a:pPr>
            <a:r>
              <a:rPr sz="1125" b="1">
                <a:solidFill>
                  <a:srgbClr val="D0EDFA"/>
                </a:solidFill>
              </a:rPr>
              <a:t>03</a:t>
            </a:r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E7788E70-67D2-4706-ACC6-24DB6A4EB2E5}"/>
              </a:ext>
            </a:extLst>
          </p:cNvPr>
          <p:cNvSpPr>
            <a:spLocks noGrp="1"/>
          </p:cNvSpPr>
          <p:nvPr/>
        </p:nvSpPr>
        <p:spPr>
          <a:xfrm>
            <a:off x="7029450" y="3486150"/>
            <a:ext cx="381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Teste de ações/preços não observados</a:t>
            </a:r>
          </a:p>
        </p:txBody>
      </p:sp>
      <p:sp>
        <p:nvSpPr>
          <p:cNvPr id="26" name="text">
            <a:extLst>
              <a:ext uri="{FF2B5EF4-FFF2-40B4-BE49-F238E27FC236}">
                <a16:creationId xmlns:a16="http://schemas.microsoft.com/office/drawing/2014/main" id="{8C1E1CA0-0521-43AB-B4F8-7B676DBE23DA}"/>
              </a:ext>
            </a:extLst>
          </p:cNvPr>
          <p:cNvSpPr>
            <a:spLocks noGrp="1"/>
          </p:cNvSpPr>
          <p:nvPr/>
        </p:nvSpPr>
        <p:spPr>
          <a:xfrm>
            <a:off x="6524625" y="39433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D0EDFA"/>
                </a:solidFill>
              </a:defRPr>
            </a:pPr>
            <a:r>
              <a:rPr sz="1125" b="1">
                <a:solidFill>
                  <a:srgbClr val="D0EDFA"/>
                </a:solidFill>
              </a:rPr>
              <a:t>04</a:t>
            </a:r>
          </a:p>
        </p:txBody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470BCC55-96C6-482B-BFCE-A2FFBB5FF165}"/>
              </a:ext>
            </a:extLst>
          </p:cNvPr>
          <p:cNvSpPr>
            <a:spLocks noGrp="1"/>
          </p:cNvSpPr>
          <p:nvPr/>
        </p:nvSpPr>
        <p:spPr>
          <a:xfrm>
            <a:off x="7029450" y="3905250"/>
            <a:ext cx="381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Curvas de calibração por evento</a:t>
            </a:r>
          </a:p>
        </p:txBody>
      </p:sp>
      <p:sp>
        <p:nvSpPr>
          <p:cNvPr id="28" name="text">
            <a:extLst>
              <a:ext uri="{FF2B5EF4-FFF2-40B4-BE49-F238E27FC236}">
                <a16:creationId xmlns:a16="http://schemas.microsoft.com/office/drawing/2014/main" id="{EFCB1FDD-292C-4780-B1FC-5F6BB324FEF5}"/>
              </a:ext>
            </a:extLst>
          </p:cNvPr>
          <p:cNvSpPr>
            <a:spLocks noGrp="1"/>
          </p:cNvSpPr>
          <p:nvPr/>
        </p:nvSpPr>
        <p:spPr>
          <a:xfrm>
            <a:off x="6524625" y="43624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D0EDFA"/>
                </a:solidFill>
              </a:defRPr>
            </a:pPr>
            <a:r>
              <a:rPr sz="1125" b="1">
                <a:solidFill>
                  <a:srgbClr val="D0EDFA"/>
                </a:solidFill>
              </a:rPr>
              <a:t>05</a:t>
            </a:r>
          </a:p>
        </p:txBody>
      </p:sp>
      <p:sp>
        <p:nvSpPr>
          <p:cNvPr id="29" name="text">
            <a:extLst>
              <a:ext uri="{FF2B5EF4-FFF2-40B4-BE49-F238E27FC236}">
                <a16:creationId xmlns:a16="http://schemas.microsoft.com/office/drawing/2014/main" id="{F0BC6F06-61A9-47DE-9AF9-0E115030B66C}"/>
              </a:ext>
            </a:extLst>
          </p:cNvPr>
          <p:cNvSpPr>
            <a:spLocks noGrp="1"/>
          </p:cNvSpPr>
          <p:nvPr/>
        </p:nvSpPr>
        <p:spPr>
          <a:xfrm>
            <a:off x="7029450" y="4324350"/>
            <a:ext cx="381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Métrica por horizonte, não só one-step</a:t>
            </a:r>
          </a:p>
        </p:txBody>
      </p:sp>
      <p:sp>
        <p:nvSpPr>
          <p:cNvPr id="30" name="text">
            <a:extLst>
              <a:ext uri="{FF2B5EF4-FFF2-40B4-BE49-F238E27FC236}">
                <a16:creationId xmlns:a16="http://schemas.microsoft.com/office/drawing/2014/main" id="{E851B7B3-908C-4CA7-B124-EDB2E58E6B7E}"/>
              </a:ext>
            </a:extLst>
          </p:cNvPr>
          <p:cNvSpPr>
            <a:spLocks noGrp="1"/>
          </p:cNvSpPr>
          <p:nvPr/>
        </p:nvSpPr>
        <p:spPr>
          <a:xfrm>
            <a:off x="6524625" y="47815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D0EDFA"/>
                </a:solidFill>
              </a:defRPr>
            </a:pPr>
            <a:r>
              <a:rPr sz="1125" b="1">
                <a:solidFill>
                  <a:srgbClr val="D0EDFA"/>
                </a:solidFill>
              </a:rPr>
              <a:t>06</a:t>
            </a:r>
          </a:p>
        </p:txBody>
      </p:sp>
      <p:sp>
        <p:nvSpPr>
          <p:cNvPr id="31" name="text">
            <a:extLst>
              <a:ext uri="{FF2B5EF4-FFF2-40B4-BE49-F238E27FC236}">
                <a16:creationId xmlns:a16="http://schemas.microsoft.com/office/drawing/2014/main" id="{83780A5C-1401-4D9D-A1D5-F326C17730C7}"/>
              </a:ext>
            </a:extLst>
          </p:cNvPr>
          <p:cNvSpPr>
            <a:spLocks noGrp="1"/>
          </p:cNvSpPr>
          <p:nvPr/>
        </p:nvSpPr>
        <p:spPr>
          <a:xfrm>
            <a:off x="7029450" y="4743450"/>
            <a:ext cx="381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Comparação contínua com baseline e oracle</a:t>
            </a:r>
          </a:p>
        </p:txBody>
      </p:sp>
      <p:sp>
        <p:nvSpPr>
          <p:cNvPr id="32" name="text">
            <a:extLst>
              <a:ext uri="{FF2B5EF4-FFF2-40B4-BE49-F238E27FC236}">
                <a16:creationId xmlns:a16="http://schemas.microsoft.com/office/drawing/2014/main" id="{94CB02DD-9B3F-423A-AB3F-E96118A6551D}"/>
              </a:ext>
            </a:extLst>
          </p:cNvPr>
          <p:cNvSpPr>
            <a:spLocks noGrp="1"/>
          </p:cNvSpPr>
          <p:nvPr/>
        </p:nvSpPr>
        <p:spPr>
          <a:xfrm>
            <a:off x="6191250" y="5762625"/>
            <a:ext cx="5238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D94A4A"/>
                </a:solidFill>
              </a:defRPr>
            </a:pPr>
            <a:r>
              <a:rPr sz="1425" b="1">
                <a:solidFill>
                  <a:srgbClr val="D94A4A"/>
                </a:solidFill>
              </a:rPr>
              <a:t>Regra de decisão: nenhum resultado sintético deve ser traduzido diretamente em impacto comercial.</a:t>
            </a:r>
          </a:p>
        </p:txBody>
      </p:sp>
    </p:spTree>
    <p:extLst>
      <p:ext uri="{BB962C8B-B14F-4D97-AF65-F5344CB8AC3E}">
        <p14:creationId xmlns:p14="http://schemas.microsoft.com/office/powerpoint/2010/main" val="1007343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">
            <a:extLst>
              <a:ext uri="{FF2B5EF4-FFF2-40B4-BE49-F238E27FC236}">
                <a16:creationId xmlns:a16="http://schemas.microsoft.com/office/drawing/2014/main" id="{7A590153-4270-41DC-A734-E1C420187872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606772"/>
                </a:solidFill>
              </a:defRPr>
            </a:pPr>
            <a:r>
              <a:rPr sz="1125" b="1">
                <a:solidFill>
                  <a:srgbClr val="606772"/>
                </a:solidFill>
              </a:rPr>
              <a:t>INSURANCE WORLD MODEL • P&amp;D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B2C44FF5-C51C-4FAF-AB76-2DEF40E65EFD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049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318"/>
                </a:solidFill>
              </a:defRPr>
            </a:pPr>
            <a:r>
              <a:rPr sz="2850" b="1">
                <a:solidFill>
                  <a:srgbClr val="111318"/>
                </a:solidFill>
              </a:rPr>
              <a:t>A demo é uma ferramenta de P&amp;D; seus limites precisam acompanhar cada resultado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37E5EEDC-4EFF-4274-AED5-748D408F3442}"/>
              </a:ext>
            </a:extLst>
          </p:cNvPr>
          <p:cNvSpPr>
            <a:spLocks noGrp="1"/>
          </p:cNvSpPr>
          <p:nvPr/>
        </p:nvSpPr>
        <p:spPr>
          <a:xfrm>
            <a:off x="400050" y="1438275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BC255962-D00B-4901-9910-2E2FF099632D}"/>
              </a:ext>
            </a:extLst>
          </p:cNvPr>
          <p:cNvSpPr>
            <a:spLocks noGrp="1"/>
          </p:cNvSpPr>
          <p:nvPr/>
        </p:nvSpPr>
        <p:spPr>
          <a:xfrm>
            <a:off x="11334750" y="64008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0">
                <a:solidFill>
                  <a:srgbClr val="606772"/>
                </a:solidFill>
              </a:defRPr>
            </a:pPr>
            <a:r>
              <a:rPr sz="975" b="0">
                <a:solidFill>
                  <a:srgbClr val="606772"/>
                </a:solidFill>
              </a:rPr>
              <a:t>11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E18703F5-133F-4591-AF49-8FE6F418B911}"/>
              </a:ext>
            </a:extLst>
          </p:cNvPr>
          <p:cNvSpPr>
            <a:spLocks noGrp="1"/>
          </p:cNvSpPr>
          <p:nvPr/>
        </p:nvSpPr>
        <p:spPr>
          <a:xfrm>
            <a:off x="400050" y="1762125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D94A4A"/>
                </a:solidFill>
              </a:defRPr>
            </a:pPr>
            <a:r>
              <a:rPr sz="1725" b="1">
                <a:solidFill>
                  <a:srgbClr val="D94A4A"/>
                </a:solidFill>
              </a:rPr>
              <a:t>O que não podemos afirmar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17D59AB4-1BC7-4769-A1DA-5D4A6B11714E}"/>
              </a:ext>
            </a:extLst>
          </p:cNvPr>
          <p:cNvSpPr>
            <a:spLocks noGrp="1"/>
          </p:cNvSpPr>
          <p:nvPr/>
        </p:nvSpPr>
        <p:spPr>
          <a:xfrm>
            <a:off x="428625" y="22860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D94A4A"/>
                </a:solidFill>
              </a:defRPr>
            </a:pPr>
            <a:r>
              <a:rPr sz="1350" b="1">
                <a:solidFill>
                  <a:srgbClr val="D94A4A"/>
                </a:solidFill>
              </a:rPr>
              <a:t>—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F52CC7C7-45DE-449A-9FB0-6BDBCB421573}"/>
              </a:ext>
            </a:extLst>
          </p:cNvPr>
          <p:cNvSpPr>
            <a:spLocks noGrp="1"/>
          </p:cNvSpPr>
          <p:nvPr/>
        </p:nvSpPr>
        <p:spPr>
          <a:xfrm>
            <a:off x="781050" y="224790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318"/>
                </a:solidFill>
              </a:defRPr>
            </a:pPr>
            <a:r>
              <a:rPr sz="1350" b="0">
                <a:solidFill>
                  <a:srgbClr val="111318"/>
                </a:solidFill>
              </a:rPr>
              <a:t>Sem dados reais ou validação externa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81E53E93-2AD5-4DC9-BBFF-EA5B4E2578DB}"/>
              </a:ext>
            </a:extLst>
          </p:cNvPr>
          <p:cNvSpPr>
            <a:spLocks noGrp="1"/>
          </p:cNvSpPr>
          <p:nvPr/>
        </p:nvSpPr>
        <p:spPr>
          <a:xfrm>
            <a:off x="428625" y="27432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D94A4A"/>
                </a:solidFill>
              </a:defRPr>
            </a:pPr>
            <a:r>
              <a:rPr sz="1350" b="1">
                <a:solidFill>
                  <a:srgbClr val="D94A4A"/>
                </a:solidFill>
              </a:rPr>
              <a:t>—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8DE936AC-E894-426E-AEB8-6F9C1565F299}"/>
              </a:ext>
            </a:extLst>
          </p:cNvPr>
          <p:cNvSpPr>
            <a:spLocks noGrp="1"/>
          </p:cNvSpPr>
          <p:nvPr/>
        </p:nvSpPr>
        <p:spPr>
          <a:xfrm>
            <a:off x="781050" y="270510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318"/>
                </a:solidFill>
              </a:defRPr>
            </a:pPr>
            <a:r>
              <a:rPr sz="1350" b="0">
                <a:solidFill>
                  <a:srgbClr val="111318"/>
                </a:solidFill>
              </a:rPr>
              <a:t>Sem causalidade comprovada no negócio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16E5A466-B13A-4F96-9992-0C4952439978}"/>
              </a:ext>
            </a:extLst>
          </p:cNvPr>
          <p:cNvSpPr>
            <a:spLocks noGrp="1"/>
          </p:cNvSpPr>
          <p:nvPr/>
        </p:nvSpPr>
        <p:spPr>
          <a:xfrm>
            <a:off x="428625" y="32004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D94A4A"/>
                </a:solidFill>
              </a:defRPr>
            </a:pPr>
            <a:r>
              <a:rPr sz="1350" b="1">
                <a:solidFill>
                  <a:srgbClr val="D94A4A"/>
                </a:solidFill>
              </a:rPr>
              <a:t>—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CFC45791-6080-424E-B094-CCE279309EC7}"/>
              </a:ext>
            </a:extLst>
          </p:cNvPr>
          <p:cNvSpPr>
            <a:spLocks noGrp="1"/>
          </p:cNvSpPr>
          <p:nvPr/>
        </p:nvSpPr>
        <p:spPr>
          <a:xfrm>
            <a:off x="781050" y="316230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318"/>
                </a:solidFill>
              </a:defRPr>
            </a:pPr>
            <a:r>
              <a:rPr sz="1350" b="0">
                <a:solidFill>
                  <a:srgbClr val="111318"/>
                </a:solidFill>
              </a:rPr>
              <a:t>Sem incerteza epistemológica explícita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9F78A716-E5A9-4CB6-AC3E-CBED1025818C}"/>
              </a:ext>
            </a:extLst>
          </p:cNvPr>
          <p:cNvSpPr>
            <a:spLocks noGrp="1"/>
          </p:cNvSpPr>
          <p:nvPr/>
        </p:nvSpPr>
        <p:spPr>
          <a:xfrm>
            <a:off x="428625" y="36576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D94A4A"/>
                </a:solidFill>
              </a:defRPr>
            </a:pPr>
            <a:r>
              <a:rPr sz="1350" b="1">
                <a:solidFill>
                  <a:srgbClr val="D94A4A"/>
                </a:solidFill>
              </a:rPr>
              <a:t>—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4B8D30DB-97F1-4F25-BADD-BB29D3D08D8C}"/>
              </a:ext>
            </a:extLst>
          </p:cNvPr>
          <p:cNvSpPr>
            <a:spLocks noGrp="1"/>
          </p:cNvSpPr>
          <p:nvPr/>
        </p:nvSpPr>
        <p:spPr>
          <a:xfrm>
            <a:off x="781050" y="361950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318"/>
                </a:solidFill>
              </a:defRPr>
            </a:pPr>
            <a:r>
              <a:rPr sz="1350" b="0">
                <a:solidFill>
                  <a:srgbClr val="111318"/>
                </a:solidFill>
              </a:rPr>
              <a:t>Sem sazonalidade robusta: apenas 12 meses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CAB7550B-79A2-4A7C-9D63-6368371B3EB2}"/>
              </a:ext>
            </a:extLst>
          </p:cNvPr>
          <p:cNvSpPr>
            <a:spLocks noGrp="1"/>
          </p:cNvSpPr>
          <p:nvPr/>
        </p:nvSpPr>
        <p:spPr>
          <a:xfrm>
            <a:off x="428625" y="41148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D94A4A"/>
                </a:solidFill>
              </a:defRPr>
            </a:pPr>
            <a:r>
              <a:rPr sz="1350" b="1">
                <a:solidFill>
                  <a:srgbClr val="D94A4A"/>
                </a:solidFill>
              </a:rPr>
              <a:t>—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EFEE64EE-91EA-4119-9B9D-780440D08E45}"/>
              </a:ext>
            </a:extLst>
          </p:cNvPr>
          <p:cNvSpPr>
            <a:spLocks noGrp="1"/>
          </p:cNvSpPr>
          <p:nvPr/>
        </p:nvSpPr>
        <p:spPr>
          <a:xfrm>
            <a:off x="781050" y="407670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318"/>
                </a:solidFill>
              </a:defRPr>
            </a:pPr>
            <a:r>
              <a:rPr sz="1350" b="0">
                <a:solidFill>
                  <a:srgbClr val="111318"/>
                </a:solidFill>
              </a:rPr>
              <a:t>Sem teste concluído de mudança de regime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7B42E778-D983-4DEB-B8CE-AEEA5DC70264}"/>
              </a:ext>
            </a:extLst>
          </p:cNvPr>
          <p:cNvSpPr>
            <a:spLocks noGrp="1"/>
          </p:cNvSpPr>
          <p:nvPr/>
        </p:nvSpPr>
        <p:spPr>
          <a:xfrm>
            <a:off x="428625" y="45720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D94A4A"/>
                </a:solidFill>
              </a:defRPr>
            </a:pPr>
            <a:r>
              <a:rPr sz="1350" b="1">
                <a:solidFill>
                  <a:srgbClr val="D94A4A"/>
                </a:solidFill>
              </a:rPr>
              <a:t>—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3EB6B700-EBC0-43C8-BF79-80214021D72E}"/>
              </a:ext>
            </a:extLst>
          </p:cNvPr>
          <p:cNvSpPr>
            <a:spLocks noGrp="1"/>
          </p:cNvSpPr>
          <p:nvPr/>
        </p:nvSpPr>
        <p:spPr>
          <a:xfrm>
            <a:off x="781050" y="453390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318"/>
                </a:solidFill>
              </a:defRPr>
            </a:pPr>
            <a:r>
              <a:rPr sz="1350" b="0">
                <a:solidFill>
                  <a:srgbClr val="111318"/>
                </a:solidFill>
              </a:rPr>
              <a:t>Reward sintético ≠ margem, receita ou LTV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CFDDCE52-8419-4F0F-A08B-529B5BADEB7C}"/>
              </a:ext>
            </a:extLst>
          </p:cNvPr>
          <p:cNvSpPr>
            <a:spLocks noGrp="1"/>
          </p:cNvSpPr>
          <p:nvPr/>
        </p:nvSpPr>
        <p:spPr>
          <a:xfrm>
            <a:off x="428625" y="50292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D94A4A"/>
                </a:solidFill>
              </a:defRPr>
            </a:pPr>
            <a:r>
              <a:rPr sz="1350" b="1">
                <a:solidFill>
                  <a:srgbClr val="D94A4A"/>
                </a:solidFill>
              </a:rPr>
              <a:t>—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A14689C3-7CFF-4B43-9439-971662C0FDAC}"/>
              </a:ext>
            </a:extLst>
          </p:cNvPr>
          <p:cNvSpPr>
            <a:spLocks noGrp="1"/>
          </p:cNvSpPr>
          <p:nvPr/>
        </p:nvSpPr>
        <p:spPr>
          <a:xfrm>
            <a:off x="781050" y="499110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11318"/>
                </a:solidFill>
              </a:defRPr>
            </a:pPr>
            <a:r>
              <a:rPr sz="1350" b="0">
                <a:solidFill>
                  <a:srgbClr val="111318"/>
                </a:solidFill>
              </a:rPr>
              <a:t>Trajetórias ≠ número de clientes impactados</a:t>
            </a:r>
          </a:p>
        </p:txBody>
      </p:sp>
      <p:sp>
        <p:nvSpPr>
          <p:cNvPr id="20" name="box">
            <a:extLst>
              <a:ext uri="{FF2B5EF4-FFF2-40B4-BE49-F238E27FC236}">
                <a16:creationId xmlns:a16="http://schemas.microsoft.com/office/drawing/2014/main" id="{7040F59A-FD4E-465F-873E-F9669357B37C}"/>
              </a:ext>
            </a:extLst>
          </p:cNvPr>
          <p:cNvSpPr>
            <a:spLocks noGrp="1"/>
          </p:cNvSpPr>
          <p:nvPr/>
        </p:nvSpPr>
        <p:spPr>
          <a:xfrm>
            <a:off x="6191250" y="1762125"/>
            <a:ext cx="5238750" cy="3667125"/>
          </a:xfrm>
          <a:prstGeom prst="roundRect">
            <a:avLst>
              <a:gd name="adj" fmla="val 2078"/>
            </a:avLst>
          </a:prstGeom>
          <a:solidFill>
            <a:srgbClr val="F0F2F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E55C9AFE-B5AF-458B-8B15-9F3D01AFC344}"/>
              </a:ext>
            </a:extLst>
          </p:cNvPr>
          <p:cNvSpPr>
            <a:spLocks noGrp="1"/>
          </p:cNvSpPr>
          <p:nvPr/>
        </p:nvSpPr>
        <p:spPr>
          <a:xfrm>
            <a:off x="6524625" y="2047875"/>
            <a:ext cx="457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O que já podemos afirmar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6F969B83-B697-4F4E-9246-1DA5706A007E}"/>
              </a:ext>
            </a:extLst>
          </p:cNvPr>
          <p:cNvSpPr>
            <a:spLocks noGrp="1"/>
          </p:cNvSpPr>
          <p:nvPr/>
        </p:nvSpPr>
        <p:spPr>
          <a:xfrm>
            <a:off x="6524625" y="25908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58466"/>
                </a:solidFill>
              </a:defRPr>
            </a:pPr>
            <a:r>
              <a:rPr sz="1350" b="1">
                <a:solidFill>
                  <a:srgbClr val="158466"/>
                </a:solidFill>
              </a:rPr>
              <a:t>✓</a:t>
            </a:r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DF9FECE3-85BA-4CE6-97F5-E4E10AA30E32}"/>
              </a:ext>
            </a:extLst>
          </p:cNvPr>
          <p:cNvSpPr>
            <a:spLocks noGrp="1"/>
          </p:cNvSpPr>
          <p:nvPr/>
        </p:nvSpPr>
        <p:spPr>
          <a:xfrm>
            <a:off x="6905625" y="2552700"/>
            <a:ext cx="419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11318"/>
                </a:solidFill>
              </a:defRPr>
            </a:pPr>
            <a:r>
              <a:rPr sz="1275" b="0">
                <a:solidFill>
                  <a:srgbClr val="111318"/>
                </a:solidFill>
              </a:rPr>
              <a:t>Pipeline reproduzível de ambiente → dados → treino → avaliação</a:t>
            </a: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C4AFA972-6E91-4513-9376-5E2591164E0D}"/>
              </a:ext>
            </a:extLst>
          </p:cNvPr>
          <p:cNvSpPr>
            <a:spLocks noGrp="1"/>
          </p:cNvSpPr>
          <p:nvPr/>
        </p:nvSpPr>
        <p:spPr>
          <a:xfrm>
            <a:off x="6524625" y="303847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58466"/>
                </a:solidFill>
              </a:defRPr>
            </a:pPr>
            <a:r>
              <a:rPr sz="1350" b="1">
                <a:solidFill>
                  <a:srgbClr val="158466"/>
                </a:solidFill>
              </a:rPr>
              <a:t>✓</a:t>
            </a:r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9D647D42-E67B-4207-9B69-4477B0DC85D2}"/>
              </a:ext>
            </a:extLst>
          </p:cNvPr>
          <p:cNvSpPr>
            <a:spLocks noGrp="1"/>
          </p:cNvSpPr>
          <p:nvPr/>
        </p:nvSpPr>
        <p:spPr>
          <a:xfrm>
            <a:off x="6905625" y="3000375"/>
            <a:ext cx="419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11318"/>
                </a:solidFill>
              </a:defRPr>
            </a:pPr>
            <a:r>
              <a:rPr sz="1275" b="0">
                <a:solidFill>
                  <a:srgbClr val="111318"/>
                </a:solidFill>
              </a:rPr>
              <a:t>Arquitetura explícita para estado, ação e dinâmica</a:t>
            </a:r>
          </a:p>
        </p:txBody>
      </p:sp>
      <p:sp>
        <p:nvSpPr>
          <p:cNvPr id="26" name="text">
            <a:extLst>
              <a:ext uri="{FF2B5EF4-FFF2-40B4-BE49-F238E27FC236}">
                <a16:creationId xmlns:a16="http://schemas.microsoft.com/office/drawing/2014/main" id="{F9C637AF-E282-4B64-A98D-CF54964C1546}"/>
              </a:ext>
            </a:extLst>
          </p:cNvPr>
          <p:cNvSpPr>
            <a:spLocks noGrp="1"/>
          </p:cNvSpPr>
          <p:nvPr/>
        </p:nvSpPr>
        <p:spPr>
          <a:xfrm>
            <a:off x="6524625" y="34861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58466"/>
                </a:solidFill>
              </a:defRPr>
            </a:pPr>
            <a:r>
              <a:rPr sz="1350" b="1">
                <a:solidFill>
                  <a:srgbClr val="158466"/>
                </a:solidFill>
              </a:rPr>
              <a:t>✓</a:t>
            </a:r>
          </a:p>
        </p:txBody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FC22F52B-9AC0-4C40-9B30-F2B9BEB7A7A6}"/>
              </a:ext>
            </a:extLst>
          </p:cNvPr>
          <p:cNvSpPr>
            <a:spLocks noGrp="1"/>
          </p:cNvSpPr>
          <p:nvPr/>
        </p:nvSpPr>
        <p:spPr>
          <a:xfrm>
            <a:off x="6905625" y="3448050"/>
            <a:ext cx="419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11318"/>
                </a:solidFill>
              </a:defRPr>
            </a:pPr>
            <a:r>
              <a:rPr sz="1275" b="0">
                <a:solidFill>
                  <a:srgbClr val="111318"/>
                </a:solidFill>
              </a:rPr>
              <a:t>Separação técnica entre ground truth e previsão</a:t>
            </a:r>
          </a:p>
        </p:txBody>
      </p:sp>
      <p:sp>
        <p:nvSpPr>
          <p:cNvPr id="28" name="text">
            <a:extLst>
              <a:ext uri="{FF2B5EF4-FFF2-40B4-BE49-F238E27FC236}">
                <a16:creationId xmlns:a16="http://schemas.microsoft.com/office/drawing/2014/main" id="{38D07159-6191-4BDC-93F8-975DF8F32E23}"/>
              </a:ext>
            </a:extLst>
          </p:cNvPr>
          <p:cNvSpPr>
            <a:spLocks noGrp="1"/>
          </p:cNvSpPr>
          <p:nvPr/>
        </p:nvSpPr>
        <p:spPr>
          <a:xfrm>
            <a:off x="6524625" y="393382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58466"/>
                </a:solidFill>
              </a:defRPr>
            </a:pPr>
            <a:r>
              <a:rPr sz="1350" b="1">
                <a:solidFill>
                  <a:srgbClr val="158466"/>
                </a:solidFill>
              </a:rPr>
              <a:t>✓</a:t>
            </a:r>
          </a:p>
        </p:txBody>
      </p:sp>
      <p:sp>
        <p:nvSpPr>
          <p:cNvPr id="29" name="text">
            <a:extLst>
              <a:ext uri="{FF2B5EF4-FFF2-40B4-BE49-F238E27FC236}">
                <a16:creationId xmlns:a16="http://schemas.microsoft.com/office/drawing/2014/main" id="{71AAC5B3-56D9-44F5-8F67-D5536C14A3B5}"/>
              </a:ext>
            </a:extLst>
          </p:cNvPr>
          <p:cNvSpPr>
            <a:spLocks noGrp="1"/>
          </p:cNvSpPr>
          <p:nvPr/>
        </p:nvSpPr>
        <p:spPr>
          <a:xfrm>
            <a:off x="6905625" y="3895725"/>
            <a:ext cx="419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11318"/>
                </a:solidFill>
              </a:defRPr>
            </a:pPr>
            <a:r>
              <a:rPr sz="1275" b="0">
                <a:solidFill>
                  <a:srgbClr val="111318"/>
                </a:solidFill>
              </a:rPr>
              <a:t>Métricas held-out e rastreamento de experimentos</a:t>
            </a:r>
          </a:p>
        </p:txBody>
      </p:sp>
      <p:sp>
        <p:nvSpPr>
          <p:cNvPr id="30" name="text">
            <a:extLst>
              <a:ext uri="{FF2B5EF4-FFF2-40B4-BE49-F238E27FC236}">
                <a16:creationId xmlns:a16="http://schemas.microsoft.com/office/drawing/2014/main" id="{7B6DD3CA-4F9F-4F82-BD6F-27E28EF28383}"/>
              </a:ext>
            </a:extLst>
          </p:cNvPr>
          <p:cNvSpPr>
            <a:spLocks noGrp="1"/>
          </p:cNvSpPr>
          <p:nvPr/>
        </p:nvSpPr>
        <p:spPr>
          <a:xfrm>
            <a:off x="6524625" y="43815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58466"/>
                </a:solidFill>
              </a:defRPr>
            </a:pPr>
            <a:r>
              <a:rPr sz="1350" b="1">
                <a:solidFill>
                  <a:srgbClr val="158466"/>
                </a:solidFill>
              </a:rPr>
              <a:t>✓</a:t>
            </a:r>
          </a:p>
        </p:txBody>
      </p:sp>
      <p:sp>
        <p:nvSpPr>
          <p:cNvPr id="31" name="text">
            <a:extLst>
              <a:ext uri="{FF2B5EF4-FFF2-40B4-BE49-F238E27FC236}">
                <a16:creationId xmlns:a16="http://schemas.microsoft.com/office/drawing/2014/main" id="{3B792009-FD99-436E-8C00-529DC378C48C}"/>
              </a:ext>
            </a:extLst>
          </p:cNvPr>
          <p:cNvSpPr>
            <a:spLocks noGrp="1"/>
          </p:cNvSpPr>
          <p:nvPr/>
        </p:nvSpPr>
        <p:spPr>
          <a:xfrm>
            <a:off x="6905625" y="4343400"/>
            <a:ext cx="419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11318"/>
                </a:solidFill>
              </a:defRPr>
            </a:pPr>
            <a:r>
              <a:rPr sz="1275" b="0">
                <a:solidFill>
                  <a:srgbClr val="111318"/>
                </a:solidFill>
              </a:rPr>
              <a:t>Simulação multi-step fechada com checkpoint EXP‑005</a:t>
            </a:r>
          </a:p>
        </p:txBody>
      </p:sp>
      <p:sp>
        <p:nvSpPr>
          <p:cNvPr id="32" name="text">
            <a:extLst>
              <a:ext uri="{FF2B5EF4-FFF2-40B4-BE49-F238E27FC236}">
                <a16:creationId xmlns:a16="http://schemas.microsoft.com/office/drawing/2014/main" id="{503219AD-B62B-4B7A-9730-0E6B56E404A8}"/>
              </a:ext>
            </a:extLst>
          </p:cNvPr>
          <p:cNvSpPr>
            <a:spLocks noGrp="1"/>
          </p:cNvSpPr>
          <p:nvPr/>
        </p:nvSpPr>
        <p:spPr>
          <a:xfrm>
            <a:off x="6524625" y="482917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58466"/>
                </a:solidFill>
              </a:defRPr>
            </a:pPr>
            <a:r>
              <a:rPr sz="1350" b="1">
                <a:solidFill>
                  <a:srgbClr val="158466"/>
                </a:solidFill>
              </a:rPr>
              <a:t>✓</a:t>
            </a:r>
          </a:p>
        </p:txBody>
      </p:sp>
      <p:sp>
        <p:nvSpPr>
          <p:cNvPr id="33" name="text">
            <a:extLst>
              <a:ext uri="{FF2B5EF4-FFF2-40B4-BE49-F238E27FC236}">
                <a16:creationId xmlns:a16="http://schemas.microsoft.com/office/drawing/2014/main" id="{BA3C41DC-A804-426D-B86F-40BE3D621F7D}"/>
              </a:ext>
            </a:extLst>
          </p:cNvPr>
          <p:cNvSpPr>
            <a:spLocks noGrp="1"/>
          </p:cNvSpPr>
          <p:nvPr/>
        </p:nvSpPr>
        <p:spPr>
          <a:xfrm>
            <a:off x="6905625" y="4791075"/>
            <a:ext cx="419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11318"/>
                </a:solidFill>
              </a:defRPr>
            </a:pPr>
            <a:r>
              <a:rPr sz="1275" b="0">
                <a:solidFill>
                  <a:srgbClr val="111318"/>
                </a:solidFill>
              </a:rPr>
              <a:t>Interface didática com linguagem e controles revisados</a:t>
            </a:r>
          </a:p>
        </p:txBody>
      </p:sp>
    </p:spTree>
    <p:extLst>
      <p:ext uri="{BB962C8B-B14F-4D97-AF65-F5344CB8AC3E}">
        <p14:creationId xmlns:p14="http://schemas.microsoft.com/office/powerpoint/2010/main" val="4398443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">
            <a:extLst>
              <a:ext uri="{FF2B5EF4-FFF2-40B4-BE49-F238E27FC236}">
                <a16:creationId xmlns:a16="http://schemas.microsoft.com/office/drawing/2014/main" id="{18449E07-B938-4564-A65E-A395273F90A6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606772"/>
                </a:solidFill>
              </a:defRPr>
            </a:pPr>
            <a:r>
              <a:rPr sz="1125" b="1">
                <a:solidFill>
                  <a:srgbClr val="606772"/>
                </a:solidFill>
              </a:rPr>
              <a:t>INSURANCE WORLD MODEL • P&amp;D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CF82F6C2-B460-4A87-883D-7BEA9709EAB2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049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11318"/>
                </a:solidFill>
              </a:defRPr>
            </a:pPr>
            <a:r>
              <a:rPr sz="2850" b="1">
                <a:solidFill>
                  <a:srgbClr val="111318"/>
                </a:solidFill>
              </a:rPr>
              <a:t>Próximo marco: transformar a prova técnica em evidência de generalização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B679DA1A-390F-4A1B-90DD-3B9D27CBF553}"/>
              </a:ext>
            </a:extLst>
          </p:cNvPr>
          <p:cNvSpPr>
            <a:spLocks noGrp="1"/>
          </p:cNvSpPr>
          <p:nvPr/>
        </p:nvSpPr>
        <p:spPr>
          <a:xfrm>
            <a:off x="400050" y="1438275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C23DB811-12DF-4E85-AE65-D27978B24021}"/>
              </a:ext>
            </a:extLst>
          </p:cNvPr>
          <p:cNvSpPr>
            <a:spLocks noGrp="1"/>
          </p:cNvSpPr>
          <p:nvPr/>
        </p:nvSpPr>
        <p:spPr>
          <a:xfrm>
            <a:off x="11334750" y="64008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0">
                <a:solidFill>
                  <a:srgbClr val="606772"/>
                </a:solidFill>
              </a:defRPr>
            </a:pPr>
            <a:r>
              <a:rPr sz="975" b="0">
                <a:solidFill>
                  <a:srgbClr val="606772"/>
                </a:solidFill>
              </a:rPr>
              <a:t>12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91124CF6-0D8D-41D6-AA9C-76777ED9058D}"/>
              </a:ext>
            </a:extLst>
          </p:cNvPr>
          <p:cNvSpPr>
            <a:spLocks noGrp="1"/>
          </p:cNvSpPr>
          <p:nvPr/>
        </p:nvSpPr>
        <p:spPr>
          <a:xfrm>
            <a:off x="400050" y="1714500"/>
            <a:ext cx="5238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EEC83303-B08B-4DE9-8B68-824C386CC8A7}"/>
              </a:ext>
            </a:extLst>
          </p:cNvPr>
          <p:cNvSpPr>
            <a:spLocks noGrp="1"/>
          </p:cNvSpPr>
          <p:nvPr/>
        </p:nvSpPr>
        <p:spPr>
          <a:xfrm>
            <a:off x="1095375" y="1714500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11318"/>
                </a:solidFill>
              </a:defRPr>
            </a:pPr>
            <a:r>
              <a:rPr sz="1725" b="1">
                <a:solidFill>
                  <a:srgbClr val="111318"/>
                </a:solidFill>
              </a:rPr>
              <a:t>Versionar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A44100C3-D0DF-4E7C-80F3-56A93CBAEDB1}"/>
              </a:ext>
            </a:extLst>
          </p:cNvPr>
          <p:cNvSpPr>
            <a:spLocks noGrp="1"/>
          </p:cNvSpPr>
          <p:nvPr/>
        </p:nvSpPr>
        <p:spPr>
          <a:xfrm>
            <a:off x="3429000" y="1714500"/>
            <a:ext cx="7429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606772"/>
                </a:solidFill>
              </a:defRPr>
            </a:pPr>
            <a:r>
              <a:rPr sz="1425" b="0">
                <a:solidFill>
                  <a:srgbClr val="606772"/>
                </a:solidFill>
              </a:rPr>
              <a:t>Levar o código validado ao repo do projeto, com commits por experimento.</a:t>
            </a:r>
          </a:p>
        </p:txBody>
      </p:sp>
      <p:sp>
        <p:nvSpPr>
          <p:cNvPr id="8" name="rule">
            <a:extLst>
              <a:ext uri="{FF2B5EF4-FFF2-40B4-BE49-F238E27FC236}">
                <a16:creationId xmlns:a16="http://schemas.microsoft.com/office/drawing/2014/main" id="{1696080F-F4FF-4DEB-80FF-100579EC4033}"/>
              </a:ext>
            </a:extLst>
          </p:cNvPr>
          <p:cNvSpPr>
            <a:spLocks noGrp="1"/>
          </p:cNvSpPr>
          <p:nvPr/>
        </p:nvSpPr>
        <p:spPr>
          <a:xfrm>
            <a:off x="1095375" y="2428875"/>
            <a:ext cx="9763125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B329ED53-1687-430E-A37A-9194E47A025F}"/>
              </a:ext>
            </a:extLst>
          </p:cNvPr>
          <p:cNvSpPr>
            <a:spLocks noGrp="1"/>
          </p:cNvSpPr>
          <p:nvPr/>
        </p:nvSpPr>
        <p:spPr>
          <a:xfrm>
            <a:off x="400050" y="2667000"/>
            <a:ext cx="5238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9E47C78E-3123-46E5-9121-AD9B6896123B}"/>
              </a:ext>
            </a:extLst>
          </p:cNvPr>
          <p:cNvSpPr>
            <a:spLocks noGrp="1"/>
          </p:cNvSpPr>
          <p:nvPr/>
        </p:nvSpPr>
        <p:spPr>
          <a:xfrm>
            <a:off x="1095375" y="2667000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11318"/>
                </a:solidFill>
              </a:defRPr>
            </a:pPr>
            <a:r>
              <a:rPr sz="1725" b="1">
                <a:solidFill>
                  <a:srgbClr val="111318"/>
                </a:solidFill>
              </a:rPr>
              <a:t>Stress-test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BD97B207-D4BC-4811-85A5-E2B69199E685}"/>
              </a:ext>
            </a:extLst>
          </p:cNvPr>
          <p:cNvSpPr>
            <a:spLocks noGrp="1"/>
          </p:cNvSpPr>
          <p:nvPr/>
        </p:nvSpPr>
        <p:spPr>
          <a:xfrm>
            <a:off x="3429000" y="2667000"/>
            <a:ext cx="7429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606772"/>
                </a:solidFill>
              </a:defRPr>
            </a:pPr>
            <a:r>
              <a:rPr sz="1425" b="0">
                <a:solidFill>
                  <a:srgbClr val="606772"/>
                </a:solidFill>
              </a:rPr>
              <a:t>Novas seeds, populações, preços e regras; medir degradação por horizonte.</a:t>
            </a:r>
          </a:p>
        </p:txBody>
      </p:sp>
      <p:sp>
        <p:nvSpPr>
          <p:cNvPr id="12" name="rule">
            <a:extLst>
              <a:ext uri="{FF2B5EF4-FFF2-40B4-BE49-F238E27FC236}">
                <a16:creationId xmlns:a16="http://schemas.microsoft.com/office/drawing/2014/main" id="{900436DC-2C50-4BF3-A9AC-8BD7D601C433}"/>
              </a:ext>
            </a:extLst>
          </p:cNvPr>
          <p:cNvSpPr>
            <a:spLocks noGrp="1"/>
          </p:cNvSpPr>
          <p:nvPr/>
        </p:nvSpPr>
        <p:spPr>
          <a:xfrm>
            <a:off x="1095375" y="3381375"/>
            <a:ext cx="9763125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9B4EF4C0-6C7D-4E41-B46A-8A319E8AEA83}"/>
              </a:ext>
            </a:extLst>
          </p:cNvPr>
          <p:cNvSpPr>
            <a:spLocks noGrp="1"/>
          </p:cNvSpPr>
          <p:nvPr/>
        </p:nvSpPr>
        <p:spPr>
          <a:xfrm>
            <a:off x="400050" y="3619500"/>
            <a:ext cx="5238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29D8C824-74DB-4CFD-80ED-0D9D2703E91F}"/>
              </a:ext>
            </a:extLst>
          </p:cNvPr>
          <p:cNvSpPr>
            <a:spLocks noGrp="1"/>
          </p:cNvSpPr>
          <p:nvPr/>
        </p:nvSpPr>
        <p:spPr>
          <a:xfrm>
            <a:off x="1095375" y="3619500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11318"/>
                </a:solidFill>
              </a:defRPr>
            </a:pPr>
            <a:r>
              <a:rPr sz="1725" b="1">
                <a:solidFill>
                  <a:srgbClr val="111318"/>
                </a:solidFill>
              </a:rPr>
              <a:t>Contrafactuais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DE18FC9A-D40B-4596-B357-5CAA4716F0D8}"/>
              </a:ext>
            </a:extLst>
          </p:cNvPr>
          <p:cNvSpPr>
            <a:spLocks noGrp="1"/>
          </p:cNvSpPr>
          <p:nvPr/>
        </p:nvSpPr>
        <p:spPr>
          <a:xfrm>
            <a:off x="3429000" y="3619500"/>
            <a:ext cx="7429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606772"/>
                </a:solidFill>
              </a:defRPr>
            </a:pPr>
            <a:r>
              <a:rPr sz="1425" b="0">
                <a:solidFill>
                  <a:srgbClr val="606772"/>
                </a:solidFill>
              </a:rPr>
              <a:t>Mesmo estado inicial, ações alternativas, comparação com o oracle.</a:t>
            </a:r>
          </a:p>
        </p:txBody>
      </p:sp>
      <p:sp>
        <p:nvSpPr>
          <p:cNvPr id="16" name="rule">
            <a:extLst>
              <a:ext uri="{FF2B5EF4-FFF2-40B4-BE49-F238E27FC236}">
                <a16:creationId xmlns:a16="http://schemas.microsoft.com/office/drawing/2014/main" id="{6DE4C9DF-8A5E-46E7-BBEE-95211E295093}"/>
              </a:ext>
            </a:extLst>
          </p:cNvPr>
          <p:cNvSpPr>
            <a:spLocks noGrp="1"/>
          </p:cNvSpPr>
          <p:nvPr/>
        </p:nvSpPr>
        <p:spPr>
          <a:xfrm>
            <a:off x="1095375" y="4333875"/>
            <a:ext cx="9763125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97DA69F1-9493-4FD7-82A3-6989BB56022D}"/>
              </a:ext>
            </a:extLst>
          </p:cNvPr>
          <p:cNvSpPr>
            <a:spLocks noGrp="1"/>
          </p:cNvSpPr>
          <p:nvPr/>
        </p:nvSpPr>
        <p:spPr>
          <a:xfrm>
            <a:off x="400050" y="4572000"/>
            <a:ext cx="5238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34332FA1-533E-428F-B4A0-0B3596C4CFBF}"/>
              </a:ext>
            </a:extLst>
          </p:cNvPr>
          <p:cNvSpPr>
            <a:spLocks noGrp="1"/>
          </p:cNvSpPr>
          <p:nvPr/>
        </p:nvSpPr>
        <p:spPr>
          <a:xfrm>
            <a:off x="1095375" y="4572000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11318"/>
                </a:solidFill>
              </a:defRPr>
            </a:pPr>
            <a:r>
              <a:rPr sz="1725" b="1">
                <a:solidFill>
                  <a:srgbClr val="111318"/>
                </a:solidFill>
              </a:rPr>
              <a:t>Ponte para dados reais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5294AED9-08D1-41E7-8E87-021504186105}"/>
              </a:ext>
            </a:extLst>
          </p:cNvPr>
          <p:cNvSpPr>
            <a:spLocks noGrp="1"/>
          </p:cNvSpPr>
          <p:nvPr/>
        </p:nvSpPr>
        <p:spPr>
          <a:xfrm>
            <a:off x="3429000" y="4572000"/>
            <a:ext cx="7429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606772"/>
                </a:solidFill>
              </a:defRPr>
            </a:pPr>
            <a:r>
              <a:rPr sz="1425" b="0">
                <a:solidFill>
                  <a:srgbClr val="606772"/>
                </a:solidFill>
              </a:rPr>
              <a:t>Definir schema, governança, privacidade e protocolo de validação offline.</a:t>
            </a:r>
          </a:p>
        </p:txBody>
      </p:sp>
      <p:sp>
        <p:nvSpPr>
          <p:cNvPr id="20" name="rule">
            <a:extLst>
              <a:ext uri="{FF2B5EF4-FFF2-40B4-BE49-F238E27FC236}">
                <a16:creationId xmlns:a16="http://schemas.microsoft.com/office/drawing/2014/main" id="{DD371AFF-6B81-429D-AB2F-E46492C11DF7}"/>
              </a:ext>
            </a:extLst>
          </p:cNvPr>
          <p:cNvSpPr>
            <a:spLocks noGrp="1"/>
          </p:cNvSpPr>
          <p:nvPr/>
        </p:nvSpPr>
        <p:spPr>
          <a:xfrm>
            <a:off x="1095375" y="5286375"/>
            <a:ext cx="9763125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box">
            <a:extLst>
              <a:ext uri="{FF2B5EF4-FFF2-40B4-BE49-F238E27FC236}">
                <a16:creationId xmlns:a16="http://schemas.microsoft.com/office/drawing/2014/main" id="{D815C138-1762-4758-AD15-96DF7754C414}"/>
              </a:ext>
            </a:extLst>
          </p:cNvPr>
          <p:cNvSpPr>
            <a:spLocks noGrp="1"/>
          </p:cNvSpPr>
          <p:nvPr/>
        </p:nvSpPr>
        <p:spPr>
          <a:xfrm>
            <a:off x="400050" y="5715000"/>
            <a:ext cx="11029950" cy="495300"/>
          </a:xfrm>
          <a:prstGeom prst="roundRect">
            <a:avLst>
              <a:gd name="adj" fmla="val 15385"/>
            </a:avLst>
          </a:prstGeom>
          <a:solidFill>
            <a:srgbClr val="D0ED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295D5F74-C867-423B-9392-61F6E6410199}"/>
              </a:ext>
            </a:extLst>
          </p:cNvPr>
          <p:cNvSpPr>
            <a:spLocks noGrp="1"/>
          </p:cNvSpPr>
          <p:nvPr/>
        </p:nvSpPr>
        <p:spPr>
          <a:xfrm>
            <a:off x="619125" y="5715000"/>
            <a:ext cx="1057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11318"/>
                </a:solidFill>
              </a:defRPr>
            </a:pPr>
            <a:r>
              <a:rPr sz="1650" b="1">
                <a:solidFill>
                  <a:srgbClr val="111318"/>
                </a:solidFill>
              </a:rPr>
              <a:t>Decisão solicitada: aprovar o próximo ciclo de validação — não um uso produtivo do modelo.</a:t>
            </a:r>
          </a:p>
        </p:txBody>
      </p:sp>
    </p:spTree>
    <p:extLst>
      <p:ext uri="{BB962C8B-B14F-4D97-AF65-F5344CB8AC3E}">
        <p14:creationId xmlns:p14="http://schemas.microsoft.com/office/powerpoint/2010/main" val="212454238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1984</Words>
  <Application>Microsoft Office PowerPoint</Application>
  <DocSecurity>0</DocSecurity>
  <PresentationFormat>Widescreen</PresentationFormat>
  <Paragraphs>304</Paragraphs>
  <Slides>12</Slides>
  <Notes>12</Notes>
  <HiddenSlides>1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4" baseType="lpstr">
      <vt:lpstr>Calibri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Romulo Marques</cp:lastModifiedBy>
  <cp:revision>1</cp:revision>
  <dcterms:created xsi:type="dcterms:W3CDTF">2026-09-02T13:49:54Z</dcterms:created>
  <dcterms:modified xsi:type="dcterms:W3CDTF">2026-09-02T14:31:57Z</dcterms:modified>
</cp:coreProperties>
</file>